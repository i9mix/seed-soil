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59" r:id="rId3"/>
    <p:sldId id="268" r:id="rId4"/>
    <p:sldId id="269" r:id="rId5"/>
    <p:sldId id="267" r:id="rId6"/>
    <p:sldId id="266" r:id="rId7"/>
    <p:sldId id="263" r:id="rId8"/>
    <p:sldId id="264" r:id="rId9"/>
    <p:sldId id="260" r:id="rId10"/>
    <p:sldId id="262" r:id="rId11"/>
    <p:sldId id="261" r:id="rId1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BBD0"/>
    <a:srgbClr val="FF7E79"/>
    <a:srgbClr val="D5FC79"/>
    <a:srgbClr val="76D6FF"/>
    <a:srgbClr val="FFFD78"/>
    <a:srgbClr val="FFD579"/>
    <a:srgbClr val="F8E9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98"/>
    <p:restoredTop sz="94632"/>
  </p:normalViewPr>
  <p:slideViewPr>
    <p:cSldViewPr snapToGrid="0">
      <p:cViewPr varScale="1">
        <p:scale>
          <a:sx n="111" d="100"/>
          <a:sy n="111" d="100"/>
        </p:scale>
        <p:origin x="119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99D09-D440-AC4E-9E47-4DE225581E1B}"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EBD568-37BE-C749-B7BB-FF3D8EAB9972}" type="slidenum">
              <a:rPr kumimoji="1" lang="ja-JP" altLang="en-US" smtClean="0"/>
              <a:t>‹#›</a:t>
            </a:fld>
            <a:endParaRPr kumimoji="1" lang="ja-JP" altLang="en-US"/>
          </a:p>
        </p:txBody>
      </p:sp>
    </p:spTree>
    <p:extLst>
      <p:ext uri="{BB962C8B-B14F-4D97-AF65-F5344CB8AC3E}">
        <p14:creationId xmlns:p14="http://schemas.microsoft.com/office/powerpoint/2010/main" val="40299082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5EBD568-37BE-C749-B7BB-FF3D8EAB9972}" type="slidenum">
              <a:rPr kumimoji="1" lang="ja-JP" altLang="en-US" smtClean="0"/>
              <a:t>2</a:t>
            </a:fld>
            <a:endParaRPr kumimoji="1" lang="ja-JP" altLang="en-US"/>
          </a:p>
        </p:txBody>
      </p:sp>
    </p:spTree>
    <p:extLst>
      <p:ext uri="{BB962C8B-B14F-4D97-AF65-F5344CB8AC3E}">
        <p14:creationId xmlns:p14="http://schemas.microsoft.com/office/powerpoint/2010/main" val="4059006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6DE42-4584-D6CE-5CA1-40217C64AF5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D2722C5-AFD8-0EDE-8069-50AE687AA0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00E379-F381-3D18-63E0-A1BA02EFA02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67CC826-C8C8-A788-E84F-2DA74C726531}"/>
              </a:ext>
            </a:extLst>
          </p:cNvPr>
          <p:cNvSpPr>
            <a:spLocks noGrp="1"/>
          </p:cNvSpPr>
          <p:nvPr>
            <p:ph type="sldNum" sz="quarter" idx="5"/>
          </p:nvPr>
        </p:nvSpPr>
        <p:spPr/>
        <p:txBody>
          <a:bodyPr/>
          <a:lstStyle/>
          <a:p>
            <a:fld id="{D5EBD568-37BE-C749-B7BB-FF3D8EAB9972}" type="slidenum">
              <a:rPr kumimoji="1" lang="ja-JP" altLang="en-US" smtClean="0"/>
              <a:t>3</a:t>
            </a:fld>
            <a:endParaRPr kumimoji="1" lang="ja-JP" altLang="en-US"/>
          </a:p>
        </p:txBody>
      </p:sp>
    </p:spTree>
    <p:extLst>
      <p:ext uri="{BB962C8B-B14F-4D97-AF65-F5344CB8AC3E}">
        <p14:creationId xmlns:p14="http://schemas.microsoft.com/office/powerpoint/2010/main" val="936401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0AADF-3C40-4CC2-10E7-19ED4CE5992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7D8DD4-0468-F431-C78B-86521DD2ACB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C9D908-5825-243E-DC91-401DCC9687E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D258A52-0FD0-2886-7E31-CC5C84A6B98F}"/>
              </a:ext>
            </a:extLst>
          </p:cNvPr>
          <p:cNvSpPr>
            <a:spLocks noGrp="1"/>
          </p:cNvSpPr>
          <p:nvPr>
            <p:ph type="sldNum" sz="quarter" idx="5"/>
          </p:nvPr>
        </p:nvSpPr>
        <p:spPr/>
        <p:txBody>
          <a:bodyPr/>
          <a:lstStyle/>
          <a:p>
            <a:fld id="{D5EBD568-37BE-C749-B7BB-FF3D8EAB9972}" type="slidenum">
              <a:rPr kumimoji="1" lang="ja-JP" altLang="en-US" smtClean="0"/>
              <a:t>4</a:t>
            </a:fld>
            <a:endParaRPr kumimoji="1" lang="ja-JP" altLang="en-US"/>
          </a:p>
        </p:txBody>
      </p:sp>
    </p:spTree>
    <p:extLst>
      <p:ext uri="{BB962C8B-B14F-4D97-AF65-F5344CB8AC3E}">
        <p14:creationId xmlns:p14="http://schemas.microsoft.com/office/powerpoint/2010/main" val="2097964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E9842-9CB5-7728-C227-646F2360C8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BF4F74-9485-939D-08BA-CD446E3804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C03C15-3E40-614B-3374-03C68F8E134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F2EC4B2-19FB-D019-1C08-19E9FB93C66C}"/>
              </a:ext>
            </a:extLst>
          </p:cNvPr>
          <p:cNvSpPr>
            <a:spLocks noGrp="1"/>
          </p:cNvSpPr>
          <p:nvPr>
            <p:ph type="sldNum" sz="quarter" idx="5"/>
          </p:nvPr>
        </p:nvSpPr>
        <p:spPr/>
        <p:txBody>
          <a:bodyPr/>
          <a:lstStyle/>
          <a:p>
            <a:fld id="{D5EBD568-37BE-C749-B7BB-FF3D8EAB9972}" type="slidenum">
              <a:rPr kumimoji="1" lang="ja-JP" altLang="en-US" smtClean="0"/>
              <a:t>5</a:t>
            </a:fld>
            <a:endParaRPr kumimoji="1" lang="ja-JP" altLang="en-US"/>
          </a:p>
        </p:txBody>
      </p:sp>
    </p:spTree>
    <p:extLst>
      <p:ext uri="{BB962C8B-B14F-4D97-AF65-F5344CB8AC3E}">
        <p14:creationId xmlns:p14="http://schemas.microsoft.com/office/powerpoint/2010/main" val="1331883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BA53-253E-3223-F599-15D671E0D3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5B2D9C-50D2-1A1A-2470-19725A772A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DA4566-E2A5-6948-0C17-F195C080400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8D29C7F-4D3F-2721-AFA2-E6730E034896}"/>
              </a:ext>
            </a:extLst>
          </p:cNvPr>
          <p:cNvSpPr>
            <a:spLocks noGrp="1"/>
          </p:cNvSpPr>
          <p:nvPr>
            <p:ph type="sldNum" sz="quarter" idx="5"/>
          </p:nvPr>
        </p:nvSpPr>
        <p:spPr/>
        <p:txBody>
          <a:bodyPr/>
          <a:lstStyle/>
          <a:p>
            <a:fld id="{D5EBD568-37BE-C749-B7BB-FF3D8EAB9972}" type="slidenum">
              <a:rPr kumimoji="1" lang="ja-JP" altLang="en-US" smtClean="0"/>
              <a:t>6</a:t>
            </a:fld>
            <a:endParaRPr kumimoji="1" lang="ja-JP" altLang="en-US"/>
          </a:p>
        </p:txBody>
      </p:sp>
    </p:spTree>
    <p:extLst>
      <p:ext uri="{BB962C8B-B14F-4D97-AF65-F5344CB8AC3E}">
        <p14:creationId xmlns:p14="http://schemas.microsoft.com/office/powerpoint/2010/main" val="2986625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3977706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2698452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153336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1077328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6"/>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519949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3959859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4000264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1772599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6"/>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1331828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1111861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2878625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947A7E-0B0C-6B46-BF17-2F65FA04F8C7}" type="datetimeFigureOut">
              <a:rPr kumimoji="1" lang="ja-JP" altLang="en-US" smtClean="0"/>
              <a:t>2026/7/3</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BA324A-AE29-DA48-A2C9-F4F961E24C47}" type="slidenum">
              <a:rPr kumimoji="1" lang="ja-JP" altLang="en-US" smtClean="0"/>
              <a:t>‹#›</a:t>
            </a:fld>
            <a:endParaRPr kumimoji="1" lang="ja-JP" altLang="en-US"/>
          </a:p>
        </p:txBody>
      </p:sp>
    </p:spTree>
    <p:extLst>
      <p:ext uri="{BB962C8B-B14F-4D97-AF65-F5344CB8AC3E}">
        <p14:creationId xmlns:p14="http://schemas.microsoft.com/office/powerpoint/2010/main" val="3057165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円/楕円 18">
            <a:extLst>
              <a:ext uri="{FF2B5EF4-FFF2-40B4-BE49-F238E27FC236}">
                <a16:creationId xmlns:a16="http://schemas.microsoft.com/office/drawing/2014/main" id="{747DA1AE-FC2B-94D9-0357-873032BB96C0}"/>
              </a:ext>
            </a:extLst>
          </p:cNvPr>
          <p:cNvSpPr/>
          <p:nvPr/>
        </p:nvSpPr>
        <p:spPr>
          <a:xfrm>
            <a:off x="477797" y="1432761"/>
            <a:ext cx="5457682" cy="3968642"/>
          </a:xfrm>
          <a:prstGeom prst="ellipse">
            <a:avLst/>
          </a:prstGeom>
          <a:solidFill>
            <a:schemeClr val="accent6">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D53B8522-69BF-4DEF-55E5-765DBCA457B6}"/>
              </a:ext>
            </a:extLst>
          </p:cNvPr>
          <p:cNvSpPr/>
          <p:nvPr/>
        </p:nvSpPr>
        <p:spPr>
          <a:xfrm>
            <a:off x="4498149" y="1432761"/>
            <a:ext cx="4930055" cy="3293585"/>
          </a:xfrm>
          <a:prstGeom prst="ellipse">
            <a:avLst/>
          </a:prstGeom>
          <a:solidFill>
            <a:srgbClr val="F8BBD0">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a:extLst>
              <a:ext uri="{FF2B5EF4-FFF2-40B4-BE49-F238E27FC236}">
                <a16:creationId xmlns:a16="http://schemas.microsoft.com/office/drawing/2014/main" id="{7662DF1F-2C98-FD54-D785-482B5971F9F9}"/>
              </a:ext>
            </a:extLst>
          </p:cNvPr>
          <p:cNvSpPr/>
          <p:nvPr/>
        </p:nvSpPr>
        <p:spPr>
          <a:xfrm>
            <a:off x="961496" y="3610787"/>
            <a:ext cx="4821154" cy="2294200"/>
          </a:xfrm>
          <a:prstGeom prst="ellipse">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E5607998-47E8-6C1E-727F-161EA45774B6}"/>
              </a:ext>
            </a:extLst>
          </p:cNvPr>
          <p:cNvSpPr/>
          <p:nvPr/>
        </p:nvSpPr>
        <p:spPr>
          <a:xfrm>
            <a:off x="4794420" y="3666325"/>
            <a:ext cx="4054725" cy="2238662"/>
          </a:xfrm>
          <a:prstGeom prst="ellipse">
            <a:avLst/>
          </a:prstGeom>
          <a:solidFill>
            <a:srgbClr val="F8E982">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B4049B6D-80B0-B8DB-10F8-CD67D649F58B}"/>
              </a:ext>
            </a:extLst>
          </p:cNvPr>
          <p:cNvSpPr txBox="1"/>
          <p:nvPr/>
        </p:nvSpPr>
        <p:spPr>
          <a:xfrm>
            <a:off x="367900" y="334240"/>
            <a:ext cx="4546437" cy="369332"/>
          </a:xfrm>
          <a:prstGeom prst="rect">
            <a:avLst/>
          </a:prstGeom>
          <a:noFill/>
        </p:spPr>
        <p:txBody>
          <a:bodyPr wrap="none" rtlCol="0">
            <a:spAutoFit/>
          </a:bodyPr>
          <a:lstStyle/>
          <a:p>
            <a:r>
              <a:rPr kumimoji="1" lang="en-US" altLang="ja-JP" b="1" dirty="0">
                <a:latin typeface="Hiragino Sans W6" panose="020B0400000000000000" pitchFamily="34" charset="-128"/>
                <a:ea typeface="Hiragino Sans W6" panose="020B0400000000000000" pitchFamily="34" charset="-128"/>
              </a:rPr>
              <a:t>SEED</a:t>
            </a:r>
            <a:r>
              <a:rPr kumimoji="1" lang="ja-JP" altLang="en-US" b="1">
                <a:latin typeface="Hiragino Sans W6" panose="020B0400000000000000" pitchFamily="34" charset="-128"/>
                <a:ea typeface="Hiragino Sans W6" panose="020B0400000000000000" pitchFamily="34" charset="-128"/>
              </a:rPr>
              <a:t>で目指すプロデューサーの人材要件</a:t>
            </a:r>
          </a:p>
        </p:txBody>
      </p:sp>
      <p:sp>
        <p:nvSpPr>
          <p:cNvPr id="5" name="テキスト ボックス 4">
            <a:extLst>
              <a:ext uri="{FF2B5EF4-FFF2-40B4-BE49-F238E27FC236}">
                <a16:creationId xmlns:a16="http://schemas.microsoft.com/office/drawing/2014/main" id="{3108CEFE-CF79-EC65-1864-E6A37C0FE529}"/>
              </a:ext>
            </a:extLst>
          </p:cNvPr>
          <p:cNvSpPr txBox="1"/>
          <p:nvPr/>
        </p:nvSpPr>
        <p:spPr>
          <a:xfrm>
            <a:off x="1394416" y="4582507"/>
            <a:ext cx="3728210" cy="954107"/>
          </a:xfrm>
          <a:prstGeom prst="rect">
            <a:avLst/>
          </a:prstGeom>
          <a:noFill/>
        </p:spPr>
        <p:txBody>
          <a:bodyPr wrap="square" rtlCol="0">
            <a:spAutoFit/>
          </a:bodyPr>
          <a:lstStyle/>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海外展開可能なコンテンツを育む力</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国内既存作品のローカライズができる力</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クリエイターとコラボレートし作品の価値を最大化できる力</a:t>
            </a:r>
            <a:endParaRPr kumimoji="1" lang="en-US" altLang="ja-JP" sz="1400" dirty="0">
              <a:latin typeface="Hiragino Sans W5" panose="020B0400000000000000" pitchFamily="34" charset="-128"/>
              <a:ea typeface="Hiragino Sans W5" panose="020B0400000000000000" pitchFamily="34" charset="-128"/>
            </a:endParaRPr>
          </a:p>
        </p:txBody>
      </p:sp>
      <p:sp>
        <p:nvSpPr>
          <p:cNvPr id="13" name="角丸四角形 12">
            <a:extLst>
              <a:ext uri="{FF2B5EF4-FFF2-40B4-BE49-F238E27FC236}">
                <a16:creationId xmlns:a16="http://schemas.microsoft.com/office/drawing/2014/main" id="{7BF77888-BE67-2700-A4CC-9C60C07835EB}"/>
              </a:ext>
            </a:extLst>
          </p:cNvPr>
          <p:cNvSpPr/>
          <p:nvPr/>
        </p:nvSpPr>
        <p:spPr>
          <a:xfrm>
            <a:off x="5307981" y="8186777"/>
            <a:ext cx="4253782" cy="568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戦略的なネットワーキングと共創力</a:t>
            </a:r>
          </a:p>
        </p:txBody>
      </p:sp>
      <p:sp>
        <p:nvSpPr>
          <p:cNvPr id="23" name="テキスト ボックス 22">
            <a:extLst>
              <a:ext uri="{FF2B5EF4-FFF2-40B4-BE49-F238E27FC236}">
                <a16:creationId xmlns:a16="http://schemas.microsoft.com/office/drawing/2014/main" id="{4F46EB22-BF93-B181-EDDD-28595D78784F}"/>
              </a:ext>
            </a:extLst>
          </p:cNvPr>
          <p:cNvSpPr txBox="1"/>
          <p:nvPr/>
        </p:nvSpPr>
        <p:spPr>
          <a:xfrm>
            <a:off x="673399" y="6014475"/>
            <a:ext cx="8621981" cy="615553"/>
          </a:xfrm>
          <a:prstGeom prst="rect">
            <a:avLst/>
          </a:prstGeom>
          <a:noFill/>
        </p:spPr>
        <p:txBody>
          <a:bodyPr wrap="square" rtlCol="0">
            <a:spAutoFit/>
          </a:bodyPr>
          <a:lstStyle/>
          <a:p>
            <a:pPr algn="ctr"/>
            <a:r>
              <a:rPr kumimoji="1" lang="ja-JP" altLang="en-US" sz="1700" b="1">
                <a:solidFill>
                  <a:srgbClr val="C00000"/>
                </a:solidFill>
                <a:latin typeface="Hiragino Sans W6" panose="020B0400000000000000" pitchFamily="34" charset="-128"/>
                <a:ea typeface="Hiragino Sans W6" panose="020B0400000000000000" pitchFamily="34" charset="-128"/>
              </a:rPr>
              <a:t>エコシステムを育てる「利他的」な視点を持ち、自分（自団体）の成功だけでなく、日本の舞台芸術界全体のプレゼンスを高める自律したプロデューサー像</a:t>
            </a:r>
          </a:p>
        </p:txBody>
      </p:sp>
      <p:sp>
        <p:nvSpPr>
          <p:cNvPr id="26" name="テキスト ボックス 25">
            <a:extLst>
              <a:ext uri="{FF2B5EF4-FFF2-40B4-BE49-F238E27FC236}">
                <a16:creationId xmlns:a16="http://schemas.microsoft.com/office/drawing/2014/main" id="{3EBBAD78-9137-DE2F-70FA-DB932D3EB0B4}"/>
              </a:ext>
            </a:extLst>
          </p:cNvPr>
          <p:cNvSpPr txBox="1"/>
          <p:nvPr/>
        </p:nvSpPr>
        <p:spPr>
          <a:xfrm>
            <a:off x="5222953" y="4450072"/>
            <a:ext cx="3420785" cy="1169551"/>
          </a:xfrm>
          <a:prstGeom prst="rect">
            <a:avLst/>
          </a:prstGeom>
          <a:noFill/>
        </p:spPr>
        <p:txBody>
          <a:bodyPr wrap="square" rtlCol="0">
            <a:spAutoFit/>
          </a:bodyPr>
          <a:lstStyle/>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現地のニーズを汲み取り、舞台作品の社会的価値を設計する力</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的確にプレゼンテーションできる力</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ステークホルダーと対話し利益を最大化できる力</a:t>
            </a:r>
            <a:endParaRPr kumimoji="1" lang="en-US" altLang="ja-JP" sz="1400" dirty="0">
              <a:latin typeface="Hiragino Sans W5" panose="020B0400000000000000" pitchFamily="34" charset="-128"/>
              <a:ea typeface="Hiragino Sans W5" panose="020B0400000000000000" pitchFamily="34" charset="-128"/>
            </a:endParaRPr>
          </a:p>
        </p:txBody>
      </p:sp>
      <p:sp>
        <p:nvSpPr>
          <p:cNvPr id="27" name="テキスト ボックス 26">
            <a:extLst>
              <a:ext uri="{FF2B5EF4-FFF2-40B4-BE49-F238E27FC236}">
                <a16:creationId xmlns:a16="http://schemas.microsoft.com/office/drawing/2014/main" id="{5C955699-3D20-EA46-4722-D3E989DE1674}"/>
              </a:ext>
            </a:extLst>
          </p:cNvPr>
          <p:cNvSpPr txBox="1"/>
          <p:nvPr/>
        </p:nvSpPr>
        <p:spPr>
          <a:xfrm>
            <a:off x="5183231" y="2415287"/>
            <a:ext cx="4105860" cy="1169551"/>
          </a:xfrm>
          <a:prstGeom prst="rect">
            <a:avLst/>
          </a:prstGeom>
          <a:noFill/>
        </p:spPr>
        <p:txBody>
          <a:bodyPr wrap="square" rtlCol="0">
            <a:spAutoFit/>
          </a:bodyPr>
          <a:lstStyle/>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対等なパートナーシップを築けるマインド</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商習慣や文化の違いを受け入れられる柔軟性</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自身が獲得したノウハウを、若手育成や業界のために還元し、日本全体のプレゼンスを底上げしようとする公共的な志</a:t>
            </a:r>
            <a:endParaRPr kumimoji="1" lang="en-US" altLang="ja-JP" sz="1400" dirty="0">
              <a:latin typeface="Hiragino Sans W5" panose="020B0400000000000000" pitchFamily="34" charset="-128"/>
              <a:ea typeface="Hiragino Sans W5" panose="020B0400000000000000" pitchFamily="34" charset="-128"/>
            </a:endParaRPr>
          </a:p>
        </p:txBody>
      </p:sp>
      <p:sp>
        <p:nvSpPr>
          <p:cNvPr id="28" name="テキスト ボックス 27">
            <a:extLst>
              <a:ext uri="{FF2B5EF4-FFF2-40B4-BE49-F238E27FC236}">
                <a16:creationId xmlns:a16="http://schemas.microsoft.com/office/drawing/2014/main" id="{B606C6DF-C018-C39C-3F24-A4CBC779D5FC}"/>
              </a:ext>
            </a:extLst>
          </p:cNvPr>
          <p:cNvSpPr txBox="1"/>
          <p:nvPr/>
        </p:nvSpPr>
        <p:spPr>
          <a:xfrm>
            <a:off x="961495" y="2305431"/>
            <a:ext cx="4132051" cy="1384995"/>
          </a:xfrm>
          <a:prstGeom prst="rect">
            <a:avLst/>
          </a:prstGeom>
          <a:noFill/>
        </p:spPr>
        <p:txBody>
          <a:bodyPr wrap="square" rtlCol="0">
            <a:spAutoFit/>
          </a:bodyPr>
          <a:lstStyle/>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国際的な法務・契約・税務知識</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知的財産の知識</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各国の助成・投資メカニズムの理解</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言語の壁を越えるテクノロジー理解</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社会情勢</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各国の文化と日本の独自性の理解</a:t>
            </a:r>
            <a:endParaRPr kumimoji="1" lang="en-US" altLang="ja-JP" sz="1400" dirty="0">
              <a:latin typeface="Hiragino Sans W5" panose="020B0400000000000000" pitchFamily="34" charset="-128"/>
              <a:ea typeface="Hiragino Sans W5" panose="020B0400000000000000" pitchFamily="34" charset="-128"/>
            </a:endParaRPr>
          </a:p>
        </p:txBody>
      </p:sp>
      <p:sp>
        <p:nvSpPr>
          <p:cNvPr id="29" name="角丸四角形 28">
            <a:extLst>
              <a:ext uri="{FF2B5EF4-FFF2-40B4-BE49-F238E27FC236}">
                <a16:creationId xmlns:a16="http://schemas.microsoft.com/office/drawing/2014/main" id="{9C580019-14F3-64F0-DBA7-A16D47EBFD7D}"/>
              </a:ext>
            </a:extLst>
          </p:cNvPr>
          <p:cNvSpPr/>
          <p:nvPr/>
        </p:nvSpPr>
        <p:spPr>
          <a:xfrm>
            <a:off x="1902662" y="1784242"/>
            <a:ext cx="2367574" cy="46295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ysClr val="windowText" lastClr="000000"/>
                </a:solidFill>
                <a:latin typeface="Hiragino Sans W6" panose="020B0400000000000000" pitchFamily="34" charset="-128"/>
                <a:ea typeface="Hiragino Sans W6" panose="020B0400000000000000" pitchFamily="34" charset="-128"/>
              </a:rPr>
              <a:t>知識・教養</a:t>
            </a:r>
          </a:p>
        </p:txBody>
      </p:sp>
      <p:sp>
        <p:nvSpPr>
          <p:cNvPr id="30" name="角丸四角形 29">
            <a:extLst>
              <a:ext uri="{FF2B5EF4-FFF2-40B4-BE49-F238E27FC236}">
                <a16:creationId xmlns:a16="http://schemas.microsoft.com/office/drawing/2014/main" id="{98122D8C-6B88-3A7B-5C87-DAB3C77F9E4B}"/>
              </a:ext>
            </a:extLst>
          </p:cNvPr>
          <p:cNvSpPr/>
          <p:nvPr/>
        </p:nvSpPr>
        <p:spPr>
          <a:xfrm>
            <a:off x="5960010" y="1802473"/>
            <a:ext cx="1852271" cy="46295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ysClr val="windowText" lastClr="000000"/>
                </a:solidFill>
                <a:latin typeface="Hiragino Sans W6" panose="020B0400000000000000" pitchFamily="34" charset="-128"/>
                <a:ea typeface="Hiragino Sans W6" panose="020B0400000000000000" pitchFamily="34" charset="-128"/>
              </a:rPr>
              <a:t>マインド</a:t>
            </a:r>
          </a:p>
        </p:txBody>
      </p:sp>
      <p:sp>
        <p:nvSpPr>
          <p:cNvPr id="32" name="角丸四角形 31">
            <a:extLst>
              <a:ext uri="{FF2B5EF4-FFF2-40B4-BE49-F238E27FC236}">
                <a16:creationId xmlns:a16="http://schemas.microsoft.com/office/drawing/2014/main" id="{BAF73E9B-138F-0A03-F8DD-1E5FD427D789}"/>
              </a:ext>
            </a:extLst>
          </p:cNvPr>
          <p:cNvSpPr/>
          <p:nvPr/>
        </p:nvSpPr>
        <p:spPr>
          <a:xfrm>
            <a:off x="2429899" y="3949685"/>
            <a:ext cx="1671176" cy="46295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ysClr val="windowText" lastClr="000000"/>
                </a:solidFill>
                <a:latin typeface="Hiragino Sans W6" panose="020B0400000000000000" pitchFamily="34" charset="-128"/>
                <a:ea typeface="Hiragino Sans W6" panose="020B0400000000000000" pitchFamily="34" charset="-128"/>
              </a:rPr>
              <a:t>創造力</a:t>
            </a:r>
          </a:p>
        </p:txBody>
      </p:sp>
      <p:sp>
        <p:nvSpPr>
          <p:cNvPr id="33" name="角丸四角形 32">
            <a:extLst>
              <a:ext uri="{FF2B5EF4-FFF2-40B4-BE49-F238E27FC236}">
                <a16:creationId xmlns:a16="http://schemas.microsoft.com/office/drawing/2014/main" id="{64C601CF-CF9D-7627-15B2-5D2DBA178BB1}"/>
              </a:ext>
            </a:extLst>
          </p:cNvPr>
          <p:cNvSpPr/>
          <p:nvPr/>
        </p:nvSpPr>
        <p:spPr>
          <a:xfrm>
            <a:off x="6038200" y="3945210"/>
            <a:ext cx="1671176" cy="46295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ysClr val="windowText" lastClr="000000"/>
                </a:solidFill>
                <a:latin typeface="Hiragino Sans W6" panose="020B0400000000000000" pitchFamily="34" charset="-128"/>
                <a:ea typeface="Hiragino Sans W6" panose="020B0400000000000000" pitchFamily="34" charset="-128"/>
              </a:rPr>
              <a:t>共創力</a:t>
            </a:r>
          </a:p>
        </p:txBody>
      </p:sp>
      <p:sp>
        <p:nvSpPr>
          <p:cNvPr id="35" name="テキスト ボックス 34">
            <a:extLst>
              <a:ext uri="{FF2B5EF4-FFF2-40B4-BE49-F238E27FC236}">
                <a16:creationId xmlns:a16="http://schemas.microsoft.com/office/drawing/2014/main" id="{14A03D36-0264-F4F8-79CC-29C7726F2374}"/>
              </a:ext>
            </a:extLst>
          </p:cNvPr>
          <p:cNvSpPr txBox="1"/>
          <p:nvPr/>
        </p:nvSpPr>
        <p:spPr>
          <a:xfrm>
            <a:off x="367900" y="727546"/>
            <a:ext cx="9212778" cy="584775"/>
          </a:xfrm>
          <a:prstGeom prst="rect">
            <a:avLst/>
          </a:prstGeom>
          <a:noFill/>
        </p:spPr>
        <p:txBody>
          <a:bodyPr wrap="none" rtlCol="0">
            <a:spAutoFit/>
          </a:bodyPr>
          <a:lstStyle/>
          <a:p>
            <a:r>
              <a:rPr lang="ja-JP" altLang="en-US" sz="1600">
                <a:latin typeface="Hiragino Sans W3" panose="020B0400000000000000" pitchFamily="34" charset="-128"/>
                <a:ea typeface="Hiragino Sans W3" panose="020B0400000000000000" pitchFamily="34" charset="-128"/>
              </a:rPr>
              <a:t>知識とマインドに裏付けされた、創造力・共創力のスキルを兼ね備えたプロデューサーを目指して</a:t>
            </a:r>
            <a:endParaRPr lang="en-US" altLang="ja-JP" sz="1600" dirty="0">
              <a:latin typeface="Hiragino Sans W3" panose="020B0400000000000000" pitchFamily="34" charset="-128"/>
              <a:ea typeface="Hiragino Sans W3" panose="020B0400000000000000" pitchFamily="34" charset="-128"/>
            </a:endParaRPr>
          </a:p>
          <a:p>
            <a:r>
              <a:rPr kumimoji="1" lang="ja-JP" altLang="en-US" sz="1600" b="1">
                <a:latin typeface="Hiragino Sans W6" panose="020B0400000000000000" pitchFamily="34" charset="-128"/>
                <a:ea typeface="Hiragino Sans W6" panose="020B0400000000000000" pitchFamily="34" charset="-128"/>
              </a:rPr>
              <a:t>テーマ：</a:t>
            </a:r>
            <a:r>
              <a:rPr kumimoji="1" lang="en-US" altLang="ja-JP" sz="1600" b="1" dirty="0">
                <a:latin typeface="Hiragino Sans W6" panose="020B0400000000000000" pitchFamily="34" charset="-128"/>
                <a:ea typeface="Hiragino Sans W6" panose="020B0400000000000000" pitchFamily="34" charset="-128"/>
              </a:rPr>
              <a:t>『</a:t>
            </a:r>
            <a:r>
              <a:rPr kumimoji="1" lang="ja-JP" altLang="en-US" sz="1600" b="1">
                <a:solidFill>
                  <a:srgbClr val="C00000"/>
                </a:solidFill>
                <a:latin typeface="Hiragino Sans W6" panose="020B0400000000000000" pitchFamily="34" charset="-128"/>
                <a:ea typeface="Hiragino Sans W6" panose="020B0400000000000000" pitchFamily="34" charset="-128"/>
              </a:rPr>
              <a:t>あなたと興行がしたい／あなたが手がけた作品を観たい</a:t>
            </a:r>
            <a:r>
              <a:rPr kumimoji="1" lang="en-US" altLang="ja-JP" sz="1600" b="1" dirty="0">
                <a:latin typeface="Hiragino Sans W6" panose="020B0400000000000000" pitchFamily="34" charset="-128"/>
                <a:ea typeface="Hiragino Sans W6" panose="020B0400000000000000" pitchFamily="34" charset="-128"/>
              </a:rPr>
              <a:t>』</a:t>
            </a:r>
            <a:endParaRPr kumimoji="1" lang="ja-JP" altLang="en-US" sz="1600" b="1">
              <a:latin typeface="Hiragino Sans W6" panose="020B0400000000000000" pitchFamily="34" charset="-128"/>
              <a:ea typeface="Hiragino Sans W6" panose="020B0400000000000000" pitchFamily="34" charset="-128"/>
            </a:endParaRPr>
          </a:p>
        </p:txBody>
      </p:sp>
      <p:cxnSp>
        <p:nvCxnSpPr>
          <p:cNvPr id="37" name="直線コネクタ 36">
            <a:extLst>
              <a:ext uri="{FF2B5EF4-FFF2-40B4-BE49-F238E27FC236}">
                <a16:creationId xmlns:a16="http://schemas.microsoft.com/office/drawing/2014/main" id="{48ED72D9-B5C9-459B-F767-2997DFB07ADA}"/>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pic>
        <p:nvPicPr>
          <p:cNvPr id="40" name="図 39">
            <a:extLst>
              <a:ext uri="{FF2B5EF4-FFF2-40B4-BE49-F238E27FC236}">
                <a16:creationId xmlns:a16="http://schemas.microsoft.com/office/drawing/2014/main" id="{2A54CAFD-55E4-47C8-F4AC-81A55598C014}"/>
              </a:ext>
            </a:extLst>
          </p:cNvPr>
          <p:cNvPicPr>
            <a:picLocks noChangeAspect="1"/>
          </p:cNvPicPr>
          <p:nvPr/>
        </p:nvPicPr>
        <p:blipFill>
          <a:blip r:embed="rId2"/>
          <a:stretch>
            <a:fillRect/>
          </a:stretch>
        </p:blipFill>
        <p:spPr>
          <a:xfrm>
            <a:off x="4360571" y="2842551"/>
            <a:ext cx="951921" cy="1770017"/>
          </a:xfrm>
          <a:prstGeom prst="rect">
            <a:avLst/>
          </a:prstGeom>
        </p:spPr>
      </p:pic>
    </p:spTree>
    <p:extLst>
      <p:ext uri="{BB962C8B-B14F-4D97-AF65-F5344CB8AC3E}">
        <p14:creationId xmlns:p14="http://schemas.microsoft.com/office/powerpoint/2010/main" val="1031299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00F58-4996-6F1E-BC6C-07C62BDC175A}"/>
            </a:ext>
          </a:extLst>
        </p:cNvPr>
        <p:cNvGrpSpPr/>
        <p:nvPr/>
      </p:nvGrpSpPr>
      <p:grpSpPr>
        <a:xfrm>
          <a:off x="0" y="0"/>
          <a:ext cx="0" cy="0"/>
          <a:chOff x="0" y="0"/>
          <a:chExt cx="0" cy="0"/>
        </a:xfrm>
      </p:grpSpPr>
      <p:sp>
        <p:nvSpPr>
          <p:cNvPr id="8" name="角丸四角形 7">
            <a:extLst>
              <a:ext uri="{FF2B5EF4-FFF2-40B4-BE49-F238E27FC236}">
                <a16:creationId xmlns:a16="http://schemas.microsoft.com/office/drawing/2014/main" id="{970A589C-44E8-F9EA-1232-18B98407A67F}"/>
              </a:ext>
            </a:extLst>
          </p:cNvPr>
          <p:cNvSpPr/>
          <p:nvPr/>
        </p:nvSpPr>
        <p:spPr>
          <a:xfrm>
            <a:off x="652489" y="1259593"/>
            <a:ext cx="8615692" cy="509648"/>
          </a:xfrm>
          <a:prstGeom prst="roundRect">
            <a:avLst>
              <a:gd name="adj" fmla="val 20648"/>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EE1C9FBF-82AE-697E-A3C4-A66ED80D07EF}"/>
              </a:ext>
            </a:extLst>
          </p:cNvPr>
          <p:cNvSpPr/>
          <p:nvPr/>
        </p:nvSpPr>
        <p:spPr>
          <a:xfrm>
            <a:off x="652488" y="1988504"/>
            <a:ext cx="8580975" cy="1360573"/>
          </a:xfrm>
          <a:prstGeom prst="roundRect">
            <a:avLst>
              <a:gd name="adj" fmla="val 22886"/>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E9855521-5C02-6F8E-A904-6902E76E6CEF}"/>
              </a:ext>
            </a:extLst>
          </p:cNvPr>
          <p:cNvSpPr txBox="1"/>
          <p:nvPr/>
        </p:nvSpPr>
        <p:spPr>
          <a:xfrm>
            <a:off x="367900" y="334240"/>
            <a:ext cx="1569660"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a:t>
            </a:r>
          </a:p>
        </p:txBody>
      </p:sp>
      <p:cxnSp>
        <p:nvCxnSpPr>
          <p:cNvPr id="37" name="直線コネクタ 36">
            <a:extLst>
              <a:ext uri="{FF2B5EF4-FFF2-40B4-BE49-F238E27FC236}">
                <a16:creationId xmlns:a16="http://schemas.microsoft.com/office/drawing/2014/main" id="{7CB084D9-28D9-FB21-DFD8-42B11F3786D9}"/>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テキスト ボックス 1">
            <a:extLst>
              <a:ext uri="{FF2B5EF4-FFF2-40B4-BE49-F238E27FC236}">
                <a16:creationId xmlns:a16="http://schemas.microsoft.com/office/drawing/2014/main" id="{1055355E-264F-B997-B615-3B709ACBA28A}"/>
              </a:ext>
            </a:extLst>
          </p:cNvPr>
          <p:cNvSpPr txBox="1"/>
          <p:nvPr/>
        </p:nvSpPr>
        <p:spPr>
          <a:xfrm>
            <a:off x="778269" y="1329961"/>
            <a:ext cx="4022255" cy="369332"/>
          </a:xfrm>
          <a:prstGeom prst="rect">
            <a:avLst/>
          </a:prstGeom>
          <a:noFill/>
        </p:spPr>
        <p:txBody>
          <a:bodyPr wrap="none" rtlCol="0">
            <a:spAutoFit/>
          </a:bodyPr>
          <a:lstStyle/>
          <a:p>
            <a:r>
              <a:rPr kumimoji="1" lang="en-US" altLang="ja-JP" b="1" dirty="0">
                <a:latin typeface="Hiragino Sans W6" panose="020B0400000000000000" pitchFamily="34" charset="-128"/>
                <a:ea typeface="Hiragino Sans W6" panose="020B0400000000000000" pitchFamily="34" charset="-128"/>
              </a:rPr>
              <a:t>【phase1】</a:t>
            </a:r>
            <a:r>
              <a:rPr kumimoji="1" lang="ja-JP" altLang="en-US" b="1">
                <a:latin typeface="Hiragino Sans W6" panose="020B0400000000000000" pitchFamily="34" charset="-128"/>
                <a:ea typeface="Hiragino Sans W6" panose="020B0400000000000000" pitchFamily="34" charset="-128"/>
              </a:rPr>
              <a:t>基礎・座学　</a:t>
            </a:r>
            <a:r>
              <a:rPr kumimoji="1" lang="ja-JP" altLang="en-US" sz="1200" b="1">
                <a:latin typeface="Hiragino Sans W6" panose="020B0400000000000000" pitchFamily="34" charset="-128"/>
                <a:ea typeface="Hiragino Sans W6" panose="020B0400000000000000" pitchFamily="34" charset="-128"/>
              </a:rPr>
              <a:t>＜知識の獲得）</a:t>
            </a:r>
          </a:p>
        </p:txBody>
      </p:sp>
      <p:sp>
        <p:nvSpPr>
          <p:cNvPr id="3" name="テキスト ボックス 2">
            <a:extLst>
              <a:ext uri="{FF2B5EF4-FFF2-40B4-BE49-F238E27FC236}">
                <a16:creationId xmlns:a16="http://schemas.microsoft.com/office/drawing/2014/main" id="{D345A343-BAA9-CD19-0F92-AD563A6229DE}"/>
              </a:ext>
            </a:extLst>
          </p:cNvPr>
          <p:cNvSpPr txBox="1"/>
          <p:nvPr/>
        </p:nvSpPr>
        <p:spPr>
          <a:xfrm>
            <a:off x="367900" y="727546"/>
            <a:ext cx="5519460" cy="338554"/>
          </a:xfrm>
          <a:prstGeom prst="rect">
            <a:avLst/>
          </a:prstGeom>
          <a:noFill/>
        </p:spPr>
        <p:txBody>
          <a:bodyPr wrap="none" rtlCol="0">
            <a:spAutoFit/>
          </a:bodyPr>
          <a:lstStyle/>
          <a:p>
            <a:r>
              <a:rPr kumimoji="1" lang="ja-JP" altLang="en-US" sz="1600">
                <a:latin typeface="Hiragino Sans W3" panose="020B0400000000000000" pitchFamily="34" charset="-128"/>
                <a:ea typeface="Hiragino Sans W3" panose="020B0400000000000000" pitchFamily="34" charset="-128"/>
              </a:rPr>
              <a:t>基礎、実践、応用の３フェーズで育成プログラムを展開</a:t>
            </a:r>
          </a:p>
        </p:txBody>
      </p:sp>
      <p:sp>
        <p:nvSpPr>
          <p:cNvPr id="6" name="テキスト ボックス 5">
            <a:extLst>
              <a:ext uri="{FF2B5EF4-FFF2-40B4-BE49-F238E27FC236}">
                <a16:creationId xmlns:a16="http://schemas.microsoft.com/office/drawing/2014/main" id="{166DEB9A-7D01-04D2-7A35-6F1810BA696C}"/>
              </a:ext>
            </a:extLst>
          </p:cNvPr>
          <p:cNvSpPr txBox="1"/>
          <p:nvPr/>
        </p:nvSpPr>
        <p:spPr>
          <a:xfrm>
            <a:off x="772444" y="2083090"/>
            <a:ext cx="5493812" cy="369332"/>
          </a:xfrm>
          <a:prstGeom prst="rect">
            <a:avLst/>
          </a:prstGeom>
          <a:noFill/>
        </p:spPr>
        <p:txBody>
          <a:bodyPr wrap="none" rtlCol="0">
            <a:spAutoFit/>
          </a:bodyPr>
          <a:lstStyle/>
          <a:p>
            <a:r>
              <a:rPr kumimoji="1" lang="en-US" altLang="ja-JP" b="1" dirty="0">
                <a:latin typeface="Hiragino Sans W6" panose="020B0400000000000000" pitchFamily="34" charset="-128"/>
                <a:ea typeface="Hiragino Sans W6" panose="020B0400000000000000" pitchFamily="34" charset="-128"/>
              </a:rPr>
              <a:t>【phase2】</a:t>
            </a:r>
            <a:r>
              <a:rPr kumimoji="1" lang="ja-JP" altLang="en-US" b="1">
                <a:latin typeface="Hiragino Sans W6" panose="020B0400000000000000" pitchFamily="34" charset="-128"/>
                <a:ea typeface="Hiragino Sans W6" panose="020B0400000000000000" pitchFamily="34" charset="-128"/>
              </a:rPr>
              <a:t>実践・ゼミ</a:t>
            </a:r>
            <a:r>
              <a:rPr kumimoji="1" lang="ja-JP" altLang="en-US" sz="1200" b="1">
                <a:latin typeface="Hiragino Sans W6" panose="020B0400000000000000" pitchFamily="34" charset="-128"/>
                <a:ea typeface="Hiragino Sans W6" panose="020B0400000000000000" pitchFamily="34" charset="-128"/>
              </a:rPr>
              <a:t>　＜企画の立ち上げとマインドセット）</a:t>
            </a:r>
          </a:p>
        </p:txBody>
      </p:sp>
      <p:sp>
        <p:nvSpPr>
          <p:cNvPr id="18" name="ホームベース 17">
            <a:extLst>
              <a:ext uri="{FF2B5EF4-FFF2-40B4-BE49-F238E27FC236}">
                <a16:creationId xmlns:a16="http://schemas.microsoft.com/office/drawing/2014/main" id="{FCB78D20-4495-D4B7-8330-4C24D4C057F9}"/>
              </a:ext>
            </a:extLst>
          </p:cNvPr>
          <p:cNvSpPr/>
          <p:nvPr/>
        </p:nvSpPr>
        <p:spPr>
          <a:xfrm rot="10800000">
            <a:off x="6989735" y="1184975"/>
            <a:ext cx="2438466" cy="509646"/>
          </a:xfrm>
          <a:prstGeom prst="homePlat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B8954FF-AFF5-0B7B-5CD8-C9BF26FB5CF1}"/>
              </a:ext>
            </a:extLst>
          </p:cNvPr>
          <p:cNvSpPr txBox="1"/>
          <p:nvPr/>
        </p:nvSpPr>
        <p:spPr>
          <a:xfrm>
            <a:off x="7484583" y="1259250"/>
            <a:ext cx="1569660" cy="369332"/>
          </a:xfrm>
          <a:prstGeom prst="rect">
            <a:avLst/>
          </a:prstGeom>
          <a:noFill/>
        </p:spPr>
        <p:txBody>
          <a:bodyPr wrap="none" rtlCol="0">
            <a:spAutoFit/>
          </a:bodyPr>
          <a:lstStyle/>
          <a:p>
            <a:r>
              <a:rPr kumimoji="1" lang="ja-JP" altLang="en-US" b="1">
                <a:solidFill>
                  <a:schemeClr val="bg1"/>
                </a:solidFill>
                <a:latin typeface="Hiragino Sans W6" panose="020B0400000000000000" pitchFamily="34" charset="-128"/>
                <a:ea typeface="Hiragino Sans W6" panose="020B0400000000000000" pitchFamily="34" charset="-128"/>
              </a:rPr>
              <a:t>一般教養講座</a:t>
            </a:r>
          </a:p>
        </p:txBody>
      </p:sp>
      <p:sp>
        <p:nvSpPr>
          <p:cNvPr id="38" name="テキスト ボックス 37">
            <a:extLst>
              <a:ext uri="{FF2B5EF4-FFF2-40B4-BE49-F238E27FC236}">
                <a16:creationId xmlns:a16="http://schemas.microsoft.com/office/drawing/2014/main" id="{6736DEE1-07C6-DB69-A42D-7143AF730A16}"/>
              </a:ext>
            </a:extLst>
          </p:cNvPr>
          <p:cNvSpPr txBox="1"/>
          <p:nvPr/>
        </p:nvSpPr>
        <p:spPr>
          <a:xfrm>
            <a:off x="1383559" y="2545239"/>
            <a:ext cx="7446693" cy="738664"/>
          </a:xfrm>
          <a:prstGeom prst="rect">
            <a:avLst/>
          </a:prstGeom>
          <a:noFill/>
        </p:spPr>
        <p:txBody>
          <a:bodyPr wrap="square" rtlCol="0">
            <a:spAutoFit/>
          </a:bodyPr>
          <a:lstStyle/>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リサーチャーを中心に、ゼミ（研究室）室長を依頼（</a:t>
            </a:r>
            <a:r>
              <a:rPr kumimoji="1" lang="en-US" altLang="ja-JP" sz="1400" dirty="0">
                <a:latin typeface="Hiragino Sans W5" panose="020B0400000000000000" pitchFamily="34" charset="-128"/>
                <a:ea typeface="Hiragino Sans W5" panose="020B0400000000000000" pitchFamily="34" charset="-128"/>
              </a:rPr>
              <a:t>3</a:t>
            </a:r>
            <a:r>
              <a:rPr kumimoji="1" lang="ja-JP" altLang="en-US" sz="1400">
                <a:latin typeface="Hiragino Sans W5" panose="020B0400000000000000" pitchFamily="34" charset="-128"/>
                <a:ea typeface="Hiragino Sans W5" panose="020B0400000000000000" pitchFamily="34" charset="-128"/>
              </a:rPr>
              <a:t>名程度）→研究テーマを設定</a:t>
            </a:r>
            <a:endParaRPr kumimoji="1" lang="en-US" altLang="ja-JP" sz="14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１ゼミあたり</a:t>
            </a:r>
            <a:r>
              <a:rPr kumimoji="1" lang="en-US" altLang="ja-JP" sz="1400" dirty="0">
                <a:latin typeface="Hiragino Sans W5" panose="020B0400000000000000" pitchFamily="34" charset="-128"/>
                <a:ea typeface="Hiragino Sans W5" panose="020B0400000000000000" pitchFamily="34" charset="-128"/>
              </a:rPr>
              <a:t>4〜5</a:t>
            </a:r>
            <a:r>
              <a:rPr kumimoji="1" lang="ja-JP" altLang="en-US" sz="1400">
                <a:latin typeface="Hiragino Sans W5" panose="020B0400000000000000" pitchFamily="34" charset="-128"/>
                <a:ea typeface="Hiragino Sans W5" panose="020B0400000000000000" pitchFamily="34" charset="-128"/>
              </a:rPr>
              <a:t>名メンバー（学生）と共に、テーマについて研究</a:t>
            </a:r>
            <a:r>
              <a:rPr kumimoji="1" lang="ja-JP" altLang="en-US" sz="900">
                <a:latin typeface="Hiragino Sans W5" panose="020B0400000000000000" pitchFamily="34" charset="-128"/>
                <a:ea typeface="Hiragino Sans W5" panose="020B0400000000000000" pitchFamily="34" charset="-128"/>
              </a:rPr>
              <a:t>（</a:t>
            </a:r>
            <a:r>
              <a:rPr kumimoji="1" lang="en-US" altLang="ja-JP" sz="900" dirty="0">
                <a:latin typeface="Hiragino Sans W5" panose="020B0400000000000000" pitchFamily="34" charset="-128"/>
                <a:ea typeface="Hiragino Sans W5" panose="020B0400000000000000" pitchFamily="34" charset="-128"/>
              </a:rPr>
              <a:t>1</a:t>
            </a:r>
            <a:r>
              <a:rPr kumimoji="1" lang="ja-JP" altLang="en-US" sz="900">
                <a:latin typeface="Hiragino Sans W5" panose="020B0400000000000000" pitchFamily="34" charset="-128"/>
                <a:ea typeface="Hiragino Sans W5" panose="020B0400000000000000" pitchFamily="34" charset="-128"/>
              </a:rPr>
              <a:t>月</a:t>
            </a:r>
            <a:r>
              <a:rPr kumimoji="1" lang="en-US" altLang="ja-JP" sz="900" dirty="0">
                <a:latin typeface="Hiragino Sans W5" panose="020B0400000000000000" pitchFamily="34" charset="-128"/>
                <a:ea typeface="Hiragino Sans W5" panose="020B0400000000000000" pitchFamily="34" charset="-128"/>
              </a:rPr>
              <a:t>〜3</a:t>
            </a:r>
            <a:r>
              <a:rPr kumimoji="1" lang="ja-JP" altLang="en-US" sz="900">
                <a:latin typeface="Hiragino Sans W5" panose="020B0400000000000000" pitchFamily="34" charset="-128"/>
                <a:ea typeface="Hiragino Sans W5" panose="020B0400000000000000" pitchFamily="34" charset="-128"/>
              </a:rPr>
              <a:t>月／月</a:t>
            </a:r>
            <a:r>
              <a:rPr kumimoji="1" lang="en-US" altLang="ja-JP" sz="900" dirty="0">
                <a:latin typeface="Hiragino Sans W5" panose="020B0400000000000000" pitchFamily="34" charset="-128"/>
                <a:ea typeface="Hiragino Sans W5" panose="020B0400000000000000" pitchFamily="34" charset="-128"/>
              </a:rPr>
              <a:t>2</a:t>
            </a:r>
            <a:r>
              <a:rPr kumimoji="1" lang="ja-JP" altLang="en-US" sz="900">
                <a:latin typeface="Hiragino Sans W5" panose="020B0400000000000000" pitchFamily="34" charset="-128"/>
                <a:ea typeface="Hiragino Sans W5" panose="020B0400000000000000" pitchFamily="34" charset="-128"/>
              </a:rPr>
              <a:t>回程度）</a:t>
            </a:r>
            <a:endParaRPr kumimoji="1" lang="en-US" altLang="ja-JP" sz="900" dirty="0">
              <a:latin typeface="Hiragino Sans W5" panose="020B0400000000000000" pitchFamily="34" charset="-128"/>
              <a:ea typeface="Hiragino Sans W5" panose="020B0400000000000000" pitchFamily="34" charset="-128"/>
            </a:endParaRPr>
          </a:p>
          <a:p>
            <a:pPr marL="285750" indent="-285750">
              <a:buClr>
                <a:schemeClr val="bg1"/>
              </a:buClr>
              <a:buFont typeface="Wingdings" pitchFamily="2" charset="2"/>
              <a:buChar char="l"/>
            </a:pPr>
            <a:r>
              <a:rPr kumimoji="1" lang="ja-JP" altLang="en-US" sz="1400">
                <a:latin typeface="Hiragino Sans W5" panose="020B0400000000000000" pitchFamily="34" charset="-128"/>
                <a:ea typeface="Hiragino Sans W5" panose="020B0400000000000000" pitchFamily="34" charset="-128"/>
              </a:rPr>
              <a:t>合同でのゼミ発表会を実施</a:t>
            </a:r>
            <a:endParaRPr kumimoji="1" lang="en-US" altLang="ja-JP" sz="1400" dirty="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5AEF9700-50AB-3727-D0B2-4ED4E91CA595}"/>
              </a:ext>
            </a:extLst>
          </p:cNvPr>
          <p:cNvSpPr txBox="1"/>
          <p:nvPr/>
        </p:nvSpPr>
        <p:spPr>
          <a:xfrm>
            <a:off x="6859590" y="5639791"/>
            <a:ext cx="2582758" cy="261610"/>
          </a:xfrm>
          <a:prstGeom prst="rect">
            <a:avLst/>
          </a:prstGeom>
          <a:noFill/>
        </p:spPr>
        <p:txBody>
          <a:bodyPr wrap="none" rtlCol="0">
            <a:spAutoFit/>
          </a:bodyPr>
          <a:lstStyle/>
          <a:p>
            <a:r>
              <a:rPr kumimoji="1" lang="ja-JP" altLang="en-US" sz="1100" b="1">
                <a:solidFill>
                  <a:schemeClr val="bg1"/>
                </a:solidFill>
                <a:latin typeface="Hiragino Sans W6" panose="020B0400000000000000" pitchFamily="34" charset="-128"/>
                <a:ea typeface="Hiragino Sans W6" panose="020B0400000000000000" pitchFamily="34" charset="-128"/>
              </a:rPr>
              <a:t>プロの俳優・スタッフの関わりも検討</a:t>
            </a:r>
          </a:p>
        </p:txBody>
      </p:sp>
      <p:sp>
        <p:nvSpPr>
          <p:cNvPr id="5" name="ホームベース 4">
            <a:extLst>
              <a:ext uri="{FF2B5EF4-FFF2-40B4-BE49-F238E27FC236}">
                <a16:creationId xmlns:a16="http://schemas.microsoft.com/office/drawing/2014/main" id="{A2FB148F-E63E-25EA-199C-E67975D6DC69}"/>
              </a:ext>
            </a:extLst>
          </p:cNvPr>
          <p:cNvSpPr/>
          <p:nvPr/>
        </p:nvSpPr>
        <p:spPr>
          <a:xfrm>
            <a:off x="6399167" y="6283380"/>
            <a:ext cx="1828095" cy="163680"/>
          </a:xfrm>
          <a:prstGeom prst="homePlate">
            <a:avLst/>
          </a:prstGeom>
          <a:solidFill>
            <a:srgbClr val="FFD57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事業再設計</a:t>
            </a:r>
          </a:p>
        </p:txBody>
      </p:sp>
      <p:sp>
        <p:nvSpPr>
          <p:cNvPr id="13" name="テキスト ボックス 12">
            <a:extLst>
              <a:ext uri="{FF2B5EF4-FFF2-40B4-BE49-F238E27FC236}">
                <a16:creationId xmlns:a16="http://schemas.microsoft.com/office/drawing/2014/main" id="{EB9B5B33-1E5D-D1EB-37DB-9A14E43F11D3}"/>
              </a:ext>
            </a:extLst>
          </p:cNvPr>
          <p:cNvSpPr txBox="1"/>
          <p:nvPr/>
        </p:nvSpPr>
        <p:spPr>
          <a:xfrm>
            <a:off x="1080733" y="5185812"/>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14" name="テキスト ボックス 13">
            <a:extLst>
              <a:ext uri="{FF2B5EF4-FFF2-40B4-BE49-F238E27FC236}">
                <a16:creationId xmlns:a16="http://schemas.microsoft.com/office/drawing/2014/main" id="{93EB2156-3683-9669-3999-EBFC8805DBDC}"/>
              </a:ext>
            </a:extLst>
          </p:cNvPr>
          <p:cNvSpPr txBox="1"/>
          <p:nvPr/>
        </p:nvSpPr>
        <p:spPr>
          <a:xfrm>
            <a:off x="1371211" y="518581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15" name="テキスト ボックス 14">
            <a:extLst>
              <a:ext uri="{FF2B5EF4-FFF2-40B4-BE49-F238E27FC236}">
                <a16:creationId xmlns:a16="http://schemas.microsoft.com/office/drawing/2014/main" id="{29FCA934-4BA9-D809-B9EC-513F38A20A80}"/>
              </a:ext>
            </a:extLst>
          </p:cNvPr>
          <p:cNvSpPr txBox="1"/>
          <p:nvPr/>
        </p:nvSpPr>
        <p:spPr>
          <a:xfrm>
            <a:off x="512558" y="4977710"/>
            <a:ext cx="3678935" cy="184626"/>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 </a:t>
            </a:r>
            <a:r>
              <a:rPr kumimoji="1" lang="en-US" altLang="ja-JP" sz="1200" b="1" dirty="0"/>
              <a:t>2026</a:t>
            </a:r>
            <a:r>
              <a:rPr kumimoji="1" lang="ja-JP" altLang="en-US" sz="1200" b="1"/>
              <a:t>年</a:t>
            </a:r>
          </a:p>
        </p:txBody>
      </p:sp>
      <p:sp>
        <p:nvSpPr>
          <p:cNvPr id="19" name="テキスト ボックス 18">
            <a:extLst>
              <a:ext uri="{FF2B5EF4-FFF2-40B4-BE49-F238E27FC236}">
                <a16:creationId xmlns:a16="http://schemas.microsoft.com/office/drawing/2014/main" id="{5E67FD85-C05D-0A37-C4F2-06D9883830FA}"/>
              </a:ext>
            </a:extLst>
          </p:cNvPr>
          <p:cNvSpPr txBox="1"/>
          <p:nvPr/>
        </p:nvSpPr>
        <p:spPr>
          <a:xfrm>
            <a:off x="512559" y="5192274"/>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21" name="テキスト ボックス 20">
            <a:extLst>
              <a:ext uri="{FF2B5EF4-FFF2-40B4-BE49-F238E27FC236}">
                <a16:creationId xmlns:a16="http://schemas.microsoft.com/office/drawing/2014/main" id="{FEB4CDEC-236B-2D0A-ED0D-24705FB6CD5B}"/>
              </a:ext>
            </a:extLst>
          </p:cNvPr>
          <p:cNvSpPr txBox="1"/>
          <p:nvPr/>
        </p:nvSpPr>
        <p:spPr>
          <a:xfrm>
            <a:off x="796646" y="5192274"/>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sp>
        <p:nvSpPr>
          <p:cNvPr id="22" name="テキスト ボックス 21">
            <a:extLst>
              <a:ext uri="{FF2B5EF4-FFF2-40B4-BE49-F238E27FC236}">
                <a16:creationId xmlns:a16="http://schemas.microsoft.com/office/drawing/2014/main" id="{1503E9CA-EBD0-2800-F32C-84FE95D3C42F}"/>
              </a:ext>
            </a:extLst>
          </p:cNvPr>
          <p:cNvSpPr txBox="1"/>
          <p:nvPr/>
        </p:nvSpPr>
        <p:spPr>
          <a:xfrm>
            <a:off x="1690674" y="518758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7</a:t>
            </a:r>
            <a:endParaRPr kumimoji="1" lang="ja-JP" altLang="en-US" sz="1200" b="1"/>
          </a:p>
        </p:txBody>
      </p:sp>
      <p:sp>
        <p:nvSpPr>
          <p:cNvPr id="23" name="テキスト ボックス 22">
            <a:extLst>
              <a:ext uri="{FF2B5EF4-FFF2-40B4-BE49-F238E27FC236}">
                <a16:creationId xmlns:a16="http://schemas.microsoft.com/office/drawing/2014/main" id="{AD1FB204-23AF-7CF1-3E3B-DD884D04AFD7}"/>
              </a:ext>
            </a:extLst>
          </p:cNvPr>
          <p:cNvSpPr txBox="1"/>
          <p:nvPr/>
        </p:nvSpPr>
        <p:spPr>
          <a:xfrm>
            <a:off x="2005577" y="518758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8</a:t>
            </a:r>
            <a:endParaRPr kumimoji="1" lang="ja-JP" altLang="en-US" sz="1200" b="1"/>
          </a:p>
        </p:txBody>
      </p:sp>
      <p:sp>
        <p:nvSpPr>
          <p:cNvPr id="24" name="テキスト ボックス 23">
            <a:extLst>
              <a:ext uri="{FF2B5EF4-FFF2-40B4-BE49-F238E27FC236}">
                <a16:creationId xmlns:a16="http://schemas.microsoft.com/office/drawing/2014/main" id="{F59D62CB-D638-EA7D-88C5-2E7C1E9B1819}"/>
              </a:ext>
            </a:extLst>
          </p:cNvPr>
          <p:cNvSpPr txBox="1"/>
          <p:nvPr/>
        </p:nvSpPr>
        <p:spPr>
          <a:xfrm>
            <a:off x="2315763" y="5187582"/>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9</a:t>
            </a:r>
            <a:endParaRPr kumimoji="1" lang="ja-JP" altLang="en-US" sz="1200" b="1"/>
          </a:p>
        </p:txBody>
      </p:sp>
      <p:sp>
        <p:nvSpPr>
          <p:cNvPr id="26" name="テキスト ボックス 25">
            <a:extLst>
              <a:ext uri="{FF2B5EF4-FFF2-40B4-BE49-F238E27FC236}">
                <a16:creationId xmlns:a16="http://schemas.microsoft.com/office/drawing/2014/main" id="{284D7E65-E509-281A-3A41-C11C1355B75C}"/>
              </a:ext>
            </a:extLst>
          </p:cNvPr>
          <p:cNvSpPr txBox="1"/>
          <p:nvPr/>
        </p:nvSpPr>
        <p:spPr>
          <a:xfrm>
            <a:off x="2634382" y="5187582"/>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10</a:t>
            </a:r>
            <a:endParaRPr kumimoji="1" lang="ja-JP" altLang="en-US" sz="1200" b="1"/>
          </a:p>
        </p:txBody>
      </p:sp>
      <p:sp>
        <p:nvSpPr>
          <p:cNvPr id="27" name="テキスト ボックス 26">
            <a:extLst>
              <a:ext uri="{FF2B5EF4-FFF2-40B4-BE49-F238E27FC236}">
                <a16:creationId xmlns:a16="http://schemas.microsoft.com/office/drawing/2014/main" id="{B241B443-B117-84C6-4A91-83A467D81EF3}"/>
              </a:ext>
            </a:extLst>
          </p:cNvPr>
          <p:cNvSpPr txBox="1"/>
          <p:nvPr/>
        </p:nvSpPr>
        <p:spPr>
          <a:xfrm>
            <a:off x="2953001" y="5186018"/>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11</a:t>
            </a:r>
            <a:endParaRPr kumimoji="1" lang="ja-JP" altLang="en-US" sz="1200" b="1"/>
          </a:p>
        </p:txBody>
      </p:sp>
      <p:sp>
        <p:nvSpPr>
          <p:cNvPr id="28" name="テキスト ボックス 27">
            <a:extLst>
              <a:ext uri="{FF2B5EF4-FFF2-40B4-BE49-F238E27FC236}">
                <a16:creationId xmlns:a16="http://schemas.microsoft.com/office/drawing/2014/main" id="{F2E7C78A-4FAD-3CC8-26A9-E35ABE260929}"/>
              </a:ext>
            </a:extLst>
          </p:cNvPr>
          <p:cNvSpPr txBox="1"/>
          <p:nvPr/>
        </p:nvSpPr>
        <p:spPr>
          <a:xfrm>
            <a:off x="3271620"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12</a:t>
            </a:r>
            <a:endParaRPr kumimoji="1" lang="ja-JP" altLang="en-US" sz="1200" b="1"/>
          </a:p>
        </p:txBody>
      </p:sp>
      <p:sp>
        <p:nvSpPr>
          <p:cNvPr id="29" name="テキスト ボックス 28">
            <a:extLst>
              <a:ext uri="{FF2B5EF4-FFF2-40B4-BE49-F238E27FC236}">
                <a16:creationId xmlns:a16="http://schemas.microsoft.com/office/drawing/2014/main" id="{8AF12849-524C-041C-16DD-D7C73F94611A}"/>
              </a:ext>
            </a:extLst>
          </p:cNvPr>
          <p:cNvSpPr txBox="1"/>
          <p:nvPr/>
        </p:nvSpPr>
        <p:spPr>
          <a:xfrm>
            <a:off x="3592660"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a:t>
            </a:r>
            <a:endParaRPr kumimoji="1" lang="ja-JP" altLang="en-US" sz="1200" b="1"/>
          </a:p>
        </p:txBody>
      </p:sp>
      <p:sp>
        <p:nvSpPr>
          <p:cNvPr id="30" name="テキスト ボックス 29">
            <a:extLst>
              <a:ext uri="{FF2B5EF4-FFF2-40B4-BE49-F238E27FC236}">
                <a16:creationId xmlns:a16="http://schemas.microsoft.com/office/drawing/2014/main" id="{5345C371-00EF-7049-EBCE-1D56C058C2FB}"/>
              </a:ext>
            </a:extLst>
          </p:cNvPr>
          <p:cNvSpPr txBox="1"/>
          <p:nvPr/>
        </p:nvSpPr>
        <p:spPr>
          <a:xfrm>
            <a:off x="3902846"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2</a:t>
            </a:r>
            <a:endParaRPr kumimoji="1" lang="ja-JP" altLang="en-US" sz="1200" b="1"/>
          </a:p>
        </p:txBody>
      </p:sp>
      <p:sp>
        <p:nvSpPr>
          <p:cNvPr id="31" name="テキスト ボックス 30">
            <a:extLst>
              <a:ext uri="{FF2B5EF4-FFF2-40B4-BE49-F238E27FC236}">
                <a16:creationId xmlns:a16="http://schemas.microsoft.com/office/drawing/2014/main" id="{BAE571B9-190A-1894-53D2-3EC1343D5851}"/>
              </a:ext>
            </a:extLst>
          </p:cNvPr>
          <p:cNvSpPr txBox="1"/>
          <p:nvPr/>
        </p:nvSpPr>
        <p:spPr>
          <a:xfrm>
            <a:off x="4851425" y="5185812"/>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32" name="テキスト ボックス 31">
            <a:extLst>
              <a:ext uri="{FF2B5EF4-FFF2-40B4-BE49-F238E27FC236}">
                <a16:creationId xmlns:a16="http://schemas.microsoft.com/office/drawing/2014/main" id="{F2ACEFCA-8F34-5939-2E71-BBA657EA0EB0}"/>
              </a:ext>
            </a:extLst>
          </p:cNvPr>
          <p:cNvSpPr txBox="1"/>
          <p:nvPr/>
        </p:nvSpPr>
        <p:spPr>
          <a:xfrm>
            <a:off x="5141903" y="518581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33" name="テキスト ボックス 32">
            <a:extLst>
              <a:ext uri="{FF2B5EF4-FFF2-40B4-BE49-F238E27FC236}">
                <a16:creationId xmlns:a16="http://schemas.microsoft.com/office/drawing/2014/main" id="{DCC0ED8F-2320-172F-E9F7-4970DC88318B}"/>
              </a:ext>
            </a:extLst>
          </p:cNvPr>
          <p:cNvSpPr txBox="1"/>
          <p:nvPr/>
        </p:nvSpPr>
        <p:spPr>
          <a:xfrm>
            <a:off x="4283250" y="4977710"/>
            <a:ext cx="3678935" cy="184626"/>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a:t>
            </a:r>
            <a:r>
              <a:rPr kumimoji="1" lang="en-US" altLang="ja-JP" sz="1200" b="1" dirty="0"/>
              <a:t> 2027</a:t>
            </a:r>
            <a:r>
              <a:rPr kumimoji="1" lang="ja-JP" altLang="en-US" sz="1200" b="1"/>
              <a:t>年</a:t>
            </a:r>
          </a:p>
        </p:txBody>
      </p:sp>
      <p:sp>
        <p:nvSpPr>
          <p:cNvPr id="35" name="テキスト ボックス 34">
            <a:extLst>
              <a:ext uri="{FF2B5EF4-FFF2-40B4-BE49-F238E27FC236}">
                <a16:creationId xmlns:a16="http://schemas.microsoft.com/office/drawing/2014/main" id="{1B358DA7-FB6A-2EB5-E640-75976751DC23}"/>
              </a:ext>
            </a:extLst>
          </p:cNvPr>
          <p:cNvSpPr txBox="1"/>
          <p:nvPr/>
        </p:nvSpPr>
        <p:spPr>
          <a:xfrm>
            <a:off x="4283251" y="5192274"/>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36" name="テキスト ボックス 35">
            <a:extLst>
              <a:ext uri="{FF2B5EF4-FFF2-40B4-BE49-F238E27FC236}">
                <a16:creationId xmlns:a16="http://schemas.microsoft.com/office/drawing/2014/main" id="{09EC44C2-501D-7CEA-661B-F3C58A2AAAF7}"/>
              </a:ext>
            </a:extLst>
          </p:cNvPr>
          <p:cNvSpPr txBox="1"/>
          <p:nvPr/>
        </p:nvSpPr>
        <p:spPr>
          <a:xfrm>
            <a:off x="4567338" y="5192274"/>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sp>
        <p:nvSpPr>
          <p:cNvPr id="40" name="テキスト ボックス 39">
            <a:extLst>
              <a:ext uri="{FF2B5EF4-FFF2-40B4-BE49-F238E27FC236}">
                <a16:creationId xmlns:a16="http://schemas.microsoft.com/office/drawing/2014/main" id="{F8DFC2AD-D4BB-8B3D-6650-0FBE33791E9D}"/>
              </a:ext>
            </a:extLst>
          </p:cNvPr>
          <p:cNvSpPr txBox="1"/>
          <p:nvPr/>
        </p:nvSpPr>
        <p:spPr>
          <a:xfrm>
            <a:off x="5461366" y="518758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7</a:t>
            </a:r>
            <a:endParaRPr kumimoji="1" lang="ja-JP" altLang="en-US" sz="1200" b="1"/>
          </a:p>
        </p:txBody>
      </p:sp>
      <p:sp>
        <p:nvSpPr>
          <p:cNvPr id="42" name="テキスト ボックス 41">
            <a:extLst>
              <a:ext uri="{FF2B5EF4-FFF2-40B4-BE49-F238E27FC236}">
                <a16:creationId xmlns:a16="http://schemas.microsoft.com/office/drawing/2014/main" id="{CF90513B-F4C4-8BE0-1AB7-FB0EE81FEE45}"/>
              </a:ext>
            </a:extLst>
          </p:cNvPr>
          <p:cNvSpPr txBox="1"/>
          <p:nvPr/>
        </p:nvSpPr>
        <p:spPr>
          <a:xfrm>
            <a:off x="5776269" y="5187582"/>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8</a:t>
            </a:r>
            <a:endParaRPr kumimoji="1" lang="ja-JP" altLang="en-US" sz="1200" b="1"/>
          </a:p>
        </p:txBody>
      </p:sp>
      <p:sp>
        <p:nvSpPr>
          <p:cNvPr id="45" name="テキスト ボックス 44">
            <a:extLst>
              <a:ext uri="{FF2B5EF4-FFF2-40B4-BE49-F238E27FC236}">
                <a16:creationId xmlns:a16="http://schemas.microsoft.com/office/drawing/2014/main" id="{D7B89114-D087-B632-CB60-D29FEEDFCA2D}"/>
              </a:ext>
            </a:extLst>
          </p:cNvPr>
          <p:cNvSpPr txBox="1"/>
          <p:nvPr/>
        </p:nvSpPr>
        <p:spPr>
          <a:xfrm>
            <a:off x="6086455" y="5187582"/>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9</a:t>
            </a:r>
            <a:endParaRPr kumimoji="1" lang="ja-JP" altLang="en-US" sz="1200" b="1"/>
          </a:p>
        </p:txBody>
      </p:sp>
      <p:sp>
        <p:nvSpPr>
          <p:cNvPr id="46" name="テキスト ボックス 45">
            <a:extLst>
              <a:ext uri="{FF2B5EF4-FFF2-40B4-BE49-F238E27FC236}">
                <a16:creationId xmlns:a16="http://schemas.microsoft.com/office/drawing/2014/main" id="{FAEA1D70-71D6-E54E-D347-D2024F2A9B57}"/>
              </a:ext>
            </a:extLst>
          </p:cNvPr>
          <p:cNvSpPr txBox="1"/>
          <p:nvPr/>
        </p:nvSpPr>
        <p:spPr>
          <a:xfrm>
            <a:off x="6405074" y="5187582"/>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10</a:t>
            </a:r>
            <a:endParaRPr kumimoji="1" lang="ja-JP" altLang="en-US" sz="1200" b="1"/>
          </a:p>
        </p:txBody>
      </p:sp>
      <p:sp>
        <p:nvSpPr>
          <p:cNvPr id="47" name="テキスト ボックス 46">
            <a:extLst>
              <a:ext uri="{FF2B5EF4-FFF2-40B4-BE49-F238E27FC236}">
                <a16:creationId xmlns:a16="http://schemas.microsoft.com/office/drawing/2014/main" id="{656B3736-16F2-7B91-40A8-F9D99D603536}"/>
              </a:ext>
            </a:extLst>
          </p:cNvPr>
          <p:cNvSpPr txBox="1"/>
          <p:nvPr/>
        </p:nvSpPr>
        <p:spPr>
          <a:xfrm>
            <a:off x="6723693" y="5186018"/>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11</a:t>
            </a:r>
            <a:endParaRPr kumimoji="1" lang="ja-JP" altLang="en-US" sz="1200" b="1"/>
          </a:p>
        </p:txBody>
      </p:sp>
      <p:sp>
        <p:nvSpPr>
          <p:cNvPr id="48" name="テキスト ボックス 47">
            <a:extLst>
              <a:ext uri="{FF2B5EF4-FFF2-40B4-BE49-F238E27FC236}">
                <a16:creationId xmlns:a16="http://schemas.microsoft.com/office/drawing/2014/main" id="{E80DF878-CCE4-07A7-7315-50678419E80E}"/>
              </a:ext>
            </a:extLst>
          </p:cNvPr>
          <p:cNvSpPr txBox="1"/>
          <p:nvPr/>
        </p:nvSpPr>
        <p:spPr>
          <a:xfrm>
            <a:off x="7042312"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12</a:t>
            </a:r>
            <a:endParaRPr kumimoji="1" lang="ja-JP" altLang="en-US" sz="1200" b="1"/>
          </a:p>
        </p:txBody>
      </p:sp>
      <p:sp>
        <p:nvSpPr>
          <p:cNvPr id="49" name="テキスト ボックス 48">
            <a:extLst>
              <a:ext uri="{FF2B5EF4-FFF2-40B4-BE49-F238E27FC236}">
                <a16:creationId xmlns:a16="http://schemas.microsoft.com/office/drawing/2014/main" id="{099B2DE1-BA86-EF40-79A6-1D9A2C0CB04D}"/>
              </a:ext>
            </a:extLst>
          </p:cNvPr>
          <p:cNvSpPr txBox="1"/>
          <p:nvPr/>
        </p:nvSpPr>
        <p:spPr>
          <a:xfrm>
            <a:off x="7363352"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a:t>
            </a:r>
            <a:endParaRPr kumimoji="1" lang="ja-JP" altLang="en-US" sz="1200" b="1"/>
          </a:p>
        </p:txBody>
      </p:sp>
      <p:sp>
        <p:nvSpPr>
          <p:cNvPr id="50" name="テキスト ボックス 49">
            <a:extLst>
              <a:ext uri="{FF2B5EF4-FFF2-40B4-BE49-F238E27FC236}">
                <a16:creationId xmlns:a16="http://schemas.microsoft.com/office/drawing/2014/main" id="{80995015-C718-F0EE-25A4-58521914C2FE}"/>
              </a:ext>
            </a:extLst>
          </p:cNvPr>
          <p:cNvSpPr txBox="1"/>
          <p:nvPr/>
        </p:nvSpPr>
        <p:spPr>
          <a:xfrm>
            <a:off x="7673538" y="5182736"/>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2</a:t>
            </a:r>
            <a:endParaRPr kumimoji="1" lang="ja-JP" altLang="en-US" sz="1200" b="1"/>
          </a:p>
        </p:txBody>
      </p:sp>
      <p:sp>
        <p:nvSpPr>
          <p:cNvPr id="51" name="テキスト ボックス 50">
            <a:extLst>
              <a:ext uri="{FF2B5EF4-FFF2-40B4-BE49-F238E27FC236}">
                <a16:creationId xmlns:a16="http://schemas.microsoft.com/office/drawing/2014/main" id="{78C55A32-CE2D-2B46-4D50-A07F7E97A943}"/>
              </a:ext>
            </a:extLst>
          </p:cNvPr>
          <p:cNvSpPr txBox="1"/>
          <p:nvPr/>
        </p:nvSpPr>
        <p:spPr>
          <a:xfrm>
            <a:off x="8242869" y="4977724"/>
            <a:ext cx="1173843" cy="184611"/>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a:t>
            </a:r>
            <a:r>
              <a:rPr kumimoji="1" lang="en-US" altLang="ja-JP" sz="1200" b="1" dirty="0"/>
              <a:t> 2028</a:t>
            </a:r>
            <a:r>
              <a:rPr kumimoji="1" lang="ja-JP" altLang="en-US" sz="1200" b="1"/>
              <a:t>年</a:t>
            </a:r>
          </a:p>
        </p:txBody>
      </p:sp>
      <p:sp>
        <p:nvSpPr>
          <p:cNvPr id="52" name="テキスト ボックス 51">
            <a:extLst>
              <a:ext uri="{FF2B5EF4-FFF2-40B4-BE49-F238E27FC236}">
                <a16:creationId xmlns:a16="http://schemas.microsoft.com/office/drawing/2014/main" id="{8C855265-D414-9471-1FD7-597E6E268C10}"/>
              </a:ext>
            </a:extLst>
          </p:cNvPr>
          <p:cNvSpPr txBox="1"/>
          <p:nvPr/>
        </p:nvSpPr>
        <p:spPr>
          <a:xfrm>
            <a:off x="8837587" y="5192289"/>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53" name="テキスト ボックス 52">
            <a:extLst>
              <a:ext uri="{FF2B5EF4-FFF2-40B4-BE49-F238E27FC236}">
                <a16:creationId xmlns:a16="http://schemas.microsoft.com/office/drawing/2014/main" id="{970CCC96-133D-7B5D-78C1-896F0DFE5959}"/>
              </a:ext>
            </a:extLst>
          </p:cNvPr>
          <p:cNvSpPr txBox="1"/>
          <p:nvPr/>
        </p:nvSpPr>
        <p:spPr>
          <a:xfrm>
            <a:off x="9128065" y="5192289"/>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54" name="テキスト ボックス 53">
            <a:extLst>
              <a:ext uri="{FF2B5EF4-FFF2-40B4-BE49-F238E27FC236}">
                <a16:creationId xmlns:a16="http://schemas.microsoft.com/office/drawing/2014/main" id="{0DD49C82-8854-7834-8642-8DA208E41A4A}"/>
              </a:ext>
            </a:extLst>
          </p:cNvPr>
          <p:cNvSpPr txBox="1"/>
          <p:nvPr/>
        </p:nvSpPr>
        <p:spPr>
          <a:xfrm>
            <a:off x="8269413" y="5198751"/>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55" name="テキスト ボックス 54">
            <a:extLst>
              <a:ext uri="{FF2B5EF4-FFF2-40B4-BE49-F238E27FC236}">
                <a16:creationId xmlns:a16="http://schemas.microsoft.com/office/drawing/2014/main" id="{9F527CBA-56E0-BCF7-78EC-1114F7B870F5}"/>
              </a:ext>
            </a:extLst>
          </p:cNvPr>
          <p:cNvSpPr txBox="1"/>
          <p:nvPr/>
        </p:nvSpPr>
        <p:spPr>
          <a:xfrm>
            <a:off x="8553500" y="5198751"/>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cxnSp>
        <p:nvCxnSpPr>
          <p:cNvPr id="56" name="直線コネクタ 55">
            <a:extLst>
              <a:ext uri="{FF2B5EF4-FFF2-40B4-BE49-F238E27FC236}">
                <a16:creationId xmlns:a16="http://schemas.microsoft.com/office/drawing/2014/main" id="{D2421DB2-EBC9-CF0F-7B46-A64B27DE4FDF}"/>
              </a:ext>
            </a:extLst>
          </p:cNvPr>
          <p:cNvCxnSpPr>
            <a:cxnSpLocks/>
          </p:cNvCxnSpPr>
          <p:nvPr/>
        </p:nvCxnSpPr>
        <p:spPr>
          <a:xfrm>
            <a:off x="8101197" y="4739515"/>
            <a:ext cx="0" cy="1539308"/>
          </a:xfrm>
          <a:prstGeom prst="line">
            <a:avLst/>
          </a:prstGeom>
          <a:ln w="31750" cmpd="dbl">
            <a:solidFill>
              <a:schemeClr val="tx1">
                <a:lumMod val="50000"/>
                <a:lumOff val="50000"/>
              </a:schemeClr>
            </a:solidFill>
            <a:prstDash val="dashDot"/>
          </a:ln>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8D2D27CB-9172-9CDF-B27C-68300C6BD436}"/>
              </a:ext>
            </a:extLst>
          </p:cNvPr>
          <p:cNvSpPr txBox="1"/>
          <p:nvPr/>
        </p:nvSpPr>
        <p:spPr>
          <a:xfrm>
            <a:off x="8175316" y="4669933"/>
            <a:ext cx="1064715" cy="307777"/>
          </a:xfrm>
          <a:prstGeom prst="rect">
            <a:avLst/>
          </a:prstGeom>
          <a:noFill/>
        </p:spPr>
        <p:txBody>
          <a:bodyPr wrap="none" rtlCol="0">
            <a:spAutoFit/>
          </a:bodyPr>
          <a:lstStyle/>
          <a:p>
            <a:r>
              <a:rPr kumimoji="1" lang="ja-JP" altLang="en-US" sz="1400"/>
              <a:t>→</a:t>
            </a:r>
            <a:r>
              <a:rPr kumimoji="1" lang="en-US" altLang="ja-JP" sz="1400" dirty="0"/>
              <a:t> SEED 2</a:t>
            </a:r>
            <a:r>
              <a:rPr kumimoji="1" lang="ja-JP" altLang="en-US" sz="1400"/>
              <a:t>期</a:t>
            </a:r>
          </a:p>
        </p:txBody>
      </p:sp>
      <p:cxnSp>
        <p:nvCxnSpPr>
          <p:cNvPr id="58" name="直線コネクタ 57">
            <a:extLst>
              <a:ext uri="{FF2B5EF4-FFF2-40B4-BE49-F238E27FC236}">
                <a16:creationId xmlns:a16="http://schemas.microsoft.com/office/drawing/2014/main" id="{CF30B99A-9458-1CB5-4C8C-E9B29A653617}"/>
              </a:ext>
            </a:extLst>
          </p:cNvPr>
          <p:cNvCxnSpPr>
            <a:cxnSpLocks/>
          </p:cNvCxnSpPr>
          <p:nvPr/>
        </p:nvCxnSpPr>
        <p:spPr>
          <a:xfrm>
            <a:off x="2072052" y="5721288"/>
            <a:ext cx="693170"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7649A55B-2259-578C-8FBD-2F528FD5297A}"/>
              </a:ext>
            </a:extLst>
          </p:cNvPr>
          <p:cNvSpPr txBox="1"/>
          <p:nvPr/>
        </p:nvSpPr>
        <p:spPr>
          <a:xfrm>
            <a:off x="2029153" y="5442725"/>
            <a:ext cx="1184940" cy="276999"/>
          </a:xfrm>
          <a:prstGeom prst="rect">
            <a:avLst/>
          </a:prstGeom>
          <a:noFill/>
        </p:spPr>
        <p:txBody>
          <a:bodyPr wrap="none" rtlCol="0">
            <a:spAutoFit/>
          </a:bodyPr>
          <a:lstStyle/>
          <a:p>
            <a:r>
              <a:rPr kumimoji="1" lang="ja-JP" altLang="en-US" sz="1200" b="1"/>
              <a:t>座学</a:t>
            </a:r>
            <a:r>
              <a:rPr kumimoji="1" lang="ja-JP" altLang="en-US" sz="900" b="1"/>
              <a:t>（一般教養）</a:t>
            </a:r>
          </a:p>
        </p:txBody>
      </p:sp>
      <p:cxnSp>
        <p:nvCxnSpPr>
          <p:cNvPr id="60" name="直線コネクタ 59">
            <a:extLst>
              <a:ext uri="{FF2B5EF4-FFF2-40B4-BE49-F238E27FC236}">
                <a16:creationId xmlns:a16="http://schemas.microsoft.com/office/drawing/2014/main" id="{ABF38070-FCEA-A0B9-F875-A3556CEDA3E6}"/>
              </a:ext>
            </a:extLst>
          </p:cNvPr>
          <p:cNvCxnSpPr>
            <a:cxnSpLocks/>
          </p:cNvCxnSpPr>
          <p:nvPr/>
        </p:nvCxnSpPr>
        <p:spPr>
          <a:xfrm>
            <a:off x="3834593" y="5721288"/>
            <a:ext cx="637879"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61" name="テキスト ボックス 60">
            <a:extLst>
              <a:ext uri="{FF2B5EF4-FFF2-40B4-BE49-F238E27FC236}">
                <a16:creationId xmlns:a16="http://schemas.microsoft.com/office/drawing/2014/main" id="{E6A0DB6F-4646-5880-F698-9F60DE363297}"/>
              </a:ext>
            </a:extLst>
          </p:cNvPr>
          <p:cNvSpPr txBox="1"/>
          <p:nvPr/>
        </p:nvSpPr>
        <p:spPr>
          <a:xfrm>
            <a:off x="3897572" y="5442725"/>
            <a:ext cx="492443" cy="276999"/>
          </a:xfrm>
          <a:prstGeom prst="rect">
            <a:avLst/>
          </a:prstGeom>
          <a:noFill/>
        </p:spPr>
        <p:txBody>
          <a:bodyPr wrap="none" rtlCol="0">
            <a:spAutoFit/>
          </a:bodyPr>
          <a:lstStyle/>
          <a:p>
            <a:r>
              <a:rPr kumimoji="1" lang="ja-JP" altLang="en-US" sz="1200" b="1"/>
              <a:t>ゼミ</a:t>
            </a:r>
            <a:endParaRPr kumimoji="1" lang="ja-JP" altLang="en-US" sz="900" b="1"/>
          </a:p>
        </p:txBody>
      </p:sp>
      <p:cxnSp>
        <p:nvCxnSpPr>
          <p:cNvPr id="62" name="直線コネクタ 61">
            <a:extLst>
              <a:ext uri="{FF2B5EF4-FFF2-40B4-BE49-F238E27FC236}">
                <a16:creationId xmlns:a16="http://schemas.microsoft.com/office/drawing/2014/main" id="{E1A713D5-4C88-1EC3-04F2-C8520FF543F3}"/>
              </a:ext>
            </a:extLst>
          </p:cNvPr>
          <p:cNvCxnSpPr>
            <a:cxnSpLocks/>
          </p:cNvCxnSpPr>
          <p:nvPr/>
        </p:nvCxnSpPr>
        <p:spPr>
          <a:xfrm>
            <a:off x="5776269" y="5719724"/>
            <a:ext cx="637879"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63" name="テキスト ボックス 62">
            <a:extLst>
              <a:ext uri="{FF2B5EF4-FFF2-40B4-BE49-F238E27FC236}">
                <a16:creationId xmlns:a16="http://schemas.microsoft.com/office/drawing/2014/main" id="{6A57A019-1987-2236-A95E-16C267D6981F}"/>
              </a:ext>
            </a:extLst>
          </p:cNvPr>
          <p:cNvSpPr txBox="1"/>
          <p:nvPr/>
        </p:nvSpPr>
        <p:spPr>
          <a:xfrm>
            <a:off x="5725284" y="5442724"/>
            <a:ext cx="1838965" cy="276999"/>
          </a:xfrm>
          <a:prstGeom prst="rect">
            <a:avLst/>
          </a:prstGeom>
          <a:noFill/>
        </p:spPr>
        <p:txBody>
          <a:bodyPr wrap="none" rtlCol="0">
            <a:spAutoFit/>
          </a:bodyPr>
          <a:lstStyle/>
          <a:p>
            <a:r>
              <a:rPr kumimoji="1" lang="ja-JP" altLang="en-US" sz="1200" b="1"/>
              <a:t>プレ合宿</a:t>
            </a:r>
            <a:r>
              <a:rPr kumimoji="1" lang="ja-JP" altLang="en-US" sz="900" b="1"/>
              <a:t>（サマースクール）</a:t>
            </a:r>
          </a:p>
        </p:txBody>
      </p:sp>
      <p:sp>
        <p:nvSpPr>
          <p:cNvPr id="64" name="ホームベース 63">
            <a:extLst>
              <a:ext uri="{FF2B5EF4-FFF2-40B4-BE49-F238E27FC236}">
                <a16:creationId xmlns:a16="http://schemas.microsoft.com/office/drawing/2014/main" id="{5B5F2F4D-20DE-40C1-6CA6-DDFCC9A6EBDB}"/>
              </a:ext>
            </a:extLst>
          </p:cNvPr>
          <p:cNvSpPr/>
          <p:nvPr/>
        </p:nvSpPr>
        <p:spPr>
          <a:xfrm>
            <a:off x="2029153" y="6273759"/>
            <a:ext cx="4454999" cy="182880"/>
          </a:xfrm>
          <a:prstGeom prst="homePlate">
            <a:avLst/>
          </a:prstGeom>
          <a:solidFill>
            <a:srgbClr val="FFFD7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人材育成</a:t>
            </a:r>
          </a:p>
        </p:txBody>
      </p:sp>
      <p:sp>
        <p:nvSpPr>
          <p:cNvPr id="65" name="ホームベース 64">
            <a:extLst>
              <a:ext uri="{FF2B5EF4-FFF2-40B4-BE49-F238E27FC236}">
                <a16:creationId xmlns:a16="http://schemas.microsoft.com/office/drawing/2014/main" id="{6C5AE070-09EE-14BF-D90C-A0B79F0B4D67}"/>
              </a:ext>
            </a:extLst>
          </p:cNvPr>
          <p:cNvSpPr/>
          <p:nvPr/>
        </p:nvSpPr>
        <p:spPr>
          <a:xfrm>
            <a:off x="487665" y="6264221"/>
            <a:ext cx="1828098" cy="182839"/>
          </a:xfrm>
          <a:prstGeom prst="homePlate">
            <a:avLst/>
          </a:prstGeom>
          <a:solidFill>
            <a:srgbClr val="D5FC7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要件定義</a:t>
            </a:r>
          </a:p>
        </p:txBody>
      </p:sp>
      <p:sp>
        <p:nvSpPr>
          <p:cNvPr id="66" name="ホームベース 65">
            <a:extLst>
              <a:ext uri="{FF2B5EF4-FFF2-40B4-BE49-F238E27FC236}">
                <a16:creationId xmlns:a16="http://schemas.microsoft.com/office/drawing/2014/main" id="{65D8D7F8-3095-FC4C-CD2E-007BD23C0AD9}"/>
              </a:ext>
            </a:extLst>
          </p:cNvPr>
          <p:cNvSpPr/>
          <p:nvPr/>
        </p:nvSpPr>
        <p:spPr>
          <a:xfrm>
            <a:off x="8240210" y="6262395"/>
            <a:ext cx="1229324" cy="184666"/>
          </a:xfrm>
          <a:prstGeom prst="homePlat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rPr>
              <a:t>IP</a:t>
            </a:r>
            <a:r>
              <a:rPr kumimoji="1" lang="ja-JP" altLang="en-US" sz="1200" b="1">
                <a:solidFill>
                  <a:schemeClr val="tx1"/>
                </a:solidFill>
              </a:rPr>
              <a:t>展開・接続</a:t>
            </a:r>
          </a:p>
        </p:txBody>
      </p:sp>
      <p:sp>
        <p:nvSpPr>
          <p:cNvPr id="67" name="テキスト ボックス 66">
            <a:extLst>
              <a:ext uri="{FF2B5EF4-FFF2-40B4-BE49-F238E27FC236}">
                <a16:creationId xmlns:a16="http://schemas.microsoft.com/office/drawing/2014/main" id="{16AAD4E6-C172-6C8D-9551-105623A56383}"/>
              </a:ext>
            </a:extLst>
          </p:cNvPr>
          <p:cNvSpPr txBox="1"/>
          <p:nvPr/>
        </p:nvSpPr>
        <p:spPr>
          <a:xfrm>
            <a:off x="367900" y="4540557"/>
            <a:ext cx="2236510" cy="338554"/>
          </a:xfrm>
          <a:prstGeom prst="rect">
            <a:avLst/>
          </a:prstGeom>
          <a:noFill/>
        </p:spPr>
        <p:txBody>
          <a:bodyPr wrap="none" rtlCol="0">
            <a:spAutoFit/>
          </a:bodyPr>
          <a:lstStyle/>
          <a:p>
            <a:r>
              <a:rPr kumimoji="1" lang="ja-JP" altLang="en-US" sz="1600" b="1">
                <a:solidFill>
                  <a:srgbClr val="C00000"/>
                </a:solidFill>
                <a:latin typeface="Hiragino Sans W6" panose="020B0400000000000000" pitchFamily="34" charset="-128"/>
                <a:ea typeface="Hiragino Sans W6" panose="020B0400000000000000" pitchFamily="34" charset="-128"/>
              </a:rPr>
              <a:t>▽</a:t>
            </a:r>
            <a:r>
              <a:rPr kumimoji="1" lang="ja-JP" altLang="en-US" sz="1600" b="1">
                <a:latin typeface="Hiragino Sans W6" panose="020B0400000000000000" pitchFamily="34" charset="-128"/>
                <a:ea typeface="Hiragino Sans W6" panose="020B0400000000000000" pitchFamily="34" charset="-128"/>
              </a:rPr>
              <a:t>スケジュールと射程</a:t>
            </a:r>
          </a:p>
        </p:txBody>
      </p:sp>
      <p:cxnSp>
        <p:nvCxnSpPr>
          <p:cNvPr id="68" name="直線コネクタ 67">
            <a:extLst>
              <a:ext uri="{FF2B5EF4-FFF2-40B4-BE49-F238E27FC236}">
                <a16:creationId xmlns:a16="http://schemas.microsoft.com/office/drawing/2014/main" id="{C5EB366A-09C7-00E2-68A3-01C1F07556FA}"/>
              </a:ext>
            </a:extLst>
          </p:cNvPr>
          <p:cNvCxnSpPr>
            <a:cxnSpLocks/>
          </p:cNvCxnSpPr>
          <p:nvPr/>
        </p:nvCxnSpPr>
        <p:spPr>
          <a:xfrm>
            <a:off x="9243948" y="5701118"/>
            <a:ext cx="181417" cy="0"/>
          </a:xfrm>
          <a:prstGeom prst="line">
            <a:avLst/>
          </a:prstGeom>
          <a:ln w="38100">
            <a:solidFill>
              <a:srgbClr val="C0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69" name="テキスト ボックス 68">
            <a:extLst>
              <a:ext uri="{FF2B5EF4-FFF2-40B4-BE49-F238E27FC236}">
                <a16:creationId xmlns:a16="http://schemas.microsoft.com/office/drawing/2014/main" id="{C458D8FC-B934-5E03-0867-1C209DED94C6}"/>
              </a:ext>
            </a:extLst>
          </p:cNvPr>
          <p:cNvSpPr txBox="1"/>
          <p:nvPr/>
        </p:nvSpPr>
        <p:spPr>
          <a:xfrm>
            <a:off x="8259100" y="5419833"/>
            <a:ext cx="1261884" cy="276999"/>
          </a:xfrm>
          <a:prstGeom prst="rect">
            <a:avLst/>
          </a:prstGeom>
          <a:noFill/>
        </p:spPr>
        <p:txBody>
          <a:bodyPr wrap="none" rtlCol="0">
            <a:spAutoFit/>
          </a:bodyPr>
          <a:lstStyle/>
          <a:p>
            <a:r>
              <a:rPr kumimoji="1" lang="ja-JP" altLang="en-US" sz="1200" b="1"/>
              <a:t>サマースクール</a:t>
            </a:r>
            <a:endParaRPr kumimoji="1" lang="ja-JP" altLang="en-US" sz="900" b="1"/>
          </a:p>
        </p:txBody>
      </p:sp>
      <p:sp>
        <p:nvSpPr>
          <p:cNvPr id="70" name="角丸四角形 69">
            <a:extLst>
              <a:ext uri="{FF2B5EF4-FFF2-40B4-BE49-F238E27FC236}">
                <a16:creationId xmlns:a16="http://schemas.microsoft.com/office/drawing/2014/main" id="{14BC6B39-F2D3-34B2-E5D8-7F7259B4876A}"/>
              </a:ext>
            </a:extLst>
          </p:cNvPr>
          <p:cNvSpPr/>
          <p:nvPr/>
        </p:nvSpPr>
        <p:spPr>
          <a:xfrm>
            <a:off x="645154" y="3557781"/>
            <a:ext cx="8615692" cy="584829"/>
          </a:xfrm>
          <a:prstGeom prst="roundRect">
            <a:avLst>
              <a:gd name="adj" fmla="val 20648"/>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5238EA08-475B-FCC9-A35A-0FB95C31F5A0}"/>
              </a:ext>
            </a:extLst>
          </p:cNvPr>
          <p:cNvSpPr txBox="1"/>
          <p:nvPr/>
        </p:nvSpPr>
        <p:spPr>
          <a:xfrm>
            <a:off x="770934" y="3628150"/>
            <a:ext cx="5253361" cy="369332"/>
          </a:xfrm>
          <a:prstGeom prst="rect">
            <a:avLst/>
          </a:prstGeom>
          <a:noFill/>
        </p:spPr>
        <p:txBody>
          <a:bodyPr wrap="none" rtlCol="0">
            <a:spAutoFit/>
          </a:bodyPr>
          <a:lstStyle/>
          <a:p>
            <a:r>
              <a:rPr kumimoji="1" lang="en-US" altLang="ja-JP" b="1" dirty="0">
                <a:latin typeface="Hiragino Sans W6" panose="020B0400000000000000" pitchFamily="34" charset="-128"/>
                <a:ea typeface="Hiragino Sans W6" panose="020B0400000000000000" pitchFamily="34" charset="-128"/>
              </a:rPr>
              <a:t>【phase3】 </a:t>
            </a:r>
            <a:r>
              <a:rPr kumimoji="1" lang="ja-JP" altLang="en-US" b="1">
                <a:latin typeface="Hiragino Sans W6" panose="020B0400000000000000" pitchFamily="34" charset="-128"/>
                <a:ea typeface="Hiragino Sans W6" panose="020B0400000000000000" pitchFamily="34" charset="-128"/>
              </a:rPr>
              <a:t>応用　</a:t>
            </a:r>
            <a:r>
              <a:rPr kumimoji="1" lang="ja-JP" altLang="en-US" sz="1200" b="1">
                <a:latin typeface="Hiragino Sans W6" panose="020B0400000000000000" pitchFamily="34" charset="-128"/>
                <a:ea typeface="Hiragino Sans W6" panose="020B0400000000000000" pitchFamily="34" charset="-128"/>
              </a:rPr>
              <a:t>＜クリエイションとプレゼンテーション）</a:t>
            </a:r>
          </a:p>
        </p:txBody>
      </p:sp>
      <p:sp>
        <p:nvSpPr>
          <p:cNvPr id="72" name="ホームベース 71">
            <a:extLst>
              <a:ext uri="{FF2B5EF4-FFF2-40B4-BE49-F238E27FC236}">
                <a16:creationId xmlns:a16="http://schemas.microsoft.com/office/drawing/2014/main" id="{234BA696-9DAE-D8C4-838D-310A776CC6E1}"/>
              </a:ext>
            </a:extLst>
          </p:cNvPr>
          <p:cNvSpPr/>
          <p:nvPr/>
        </p:nvSpPr>
        <p:spPr>
          <a:xfrm>
            <a:off x="2005577" y="5811864"/>
            <a:ext cx="1154789" cy="395207"/>
          </a:xfrm>
          <a:prstGeom prst="homePlat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Phase 1</a:t>
            </a:r>
            <a:endParaRPr kumimoji="1" lang="ja-JP" altLang="en-US" sz="1200">
              <a:solidFill>
                <a:schemeClr val="tx1"/>
              </a:solidFill>
            </a:endParaRPr>
          </a:p>
        </p:txBody>
      </p:sp>
      <p:sp>
        <p:nvSpPr>
          <p:cNvPr id="74" name="ホームベース 73">
            <a:extLst>
              <a:ext uri="{FF2B5EF4-FFF2-40B4-BE49-F238E27FC236}">
                <a16:creationId xmlns:a16="http://schemas.microsoft.com/office/drawing/2014/main" id="{5A5BA923-C42B-0065-CDF5-2CD53875E16A}"/>
              </a:ext>
            </a:extLst>
          </p:cNvPr>
          <p:cNvSpPr/>
          <p:nvPr/>
        </p:nvSpPr>
        <p:spPr>
          <a:xfrm>
            <a:off x="3645735" y="5811864"/>
            <a:ext cx="1154789" cy="395207"/>
          </a:xfrm>
          <a:prstGeom prst="homePlat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Phase 2</a:t>
            </a:r>
            <a:endParaRPr kumimoji="1" lang="ja-JP" altLang="en-US" sz="1200">
              <a:solidFill>
                <a:schemeClr val="tx1"/>
              </a:solidFill>
            </a:endParaRPr>
          </a:p>
        </p:txBody>
      </p:sp>
      <p:sp>
        <p:nvSpPr>
          <p:cNvPr id="75" name="ホームベース 74">
            <a:extLst>
              <a:ext uri="{FF2B5EF4-FFF2-40B4-BE49-F238E27FC236}">
                <a16:creationId xmlns:a16="http://schemas.microsoft.com/office/drawing/2014/main" id="{98831A9F-7D97-EEE2-084F-5BE88D0CE2BD}"/>
              </a:ext>
            </a:extLst>
          </p:cNvPr>
          <p:cNvSpPr/>
          <p:nvPr/>
        </p:nvSpPr>
        <p:spPr>
          <a:xfrm>
            <a:off x="5651074" y="5819869"/>
            <a:ext cx="1154789" cy="395207"/>
          </a:xfrm>
          <a:prstGeom prst="homePlat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Phase 3</a:t>
            </a:r>
            <a:endParaRPr kumimoji="1" lang="ja-JP" altLang="en-US" sz="1200">
              <a:solidFill>
                <a:schemeClr val="tx1"/>
              </a:solidFill>
            </a:endParaRPr>
          </a:p>
        </p:txBody>
      </p:sp>
      <p:sp>
        <p:nvSpPr>
          <p:cNvPr id="76" name="三角形 75">
            <a:extLst>
              <a:ext uri="{FF2B5EF4-FFF2-40B4-BE49-F238E27FC236}">
                <a16:creationId xmlns:a16="http://schemas.microsoft.com/office/drawing/2014/main" id="{F10BAB99-DBFA-5CF4-0FB9-25F621001F49}"/>
              </a:ext>
            </a:extLst>
          </p:cNvPr>
          <p:cNvSpPr/>
          <p:nvPr/>
        </p:nvSpPr>
        <p:spPr>
          <a:xfrm rot="10800000">
            <a:off x="4283246" y="1680218"/>
            <a:ext cx="975830" cy="387139"/>
          </a:xfrm>
          <a:prstGeom prst="triangle">
            <a:avLst>
              <a:gd name="adj" fmla="val 491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三角形 76">
            <a:extLst>
              <a:ext uri="{FF2B5EF4-FFF2-40B4-BE49-F238E27FC236}">
                <a16:creationId xmlns:a16="http://schemas.microsoft.com/office/drawing/2014/main" id="{E514EB8B-A07B-4A96-EDDC-6B74F74A8DE6}"/>
              </a:ext>
            </a:extLst>
          </p:cNvPr>
          <p:cNvSpPr/>
          <p:nvPr/>
        </p:nvSpPr>
        <p:spPr>
          <a:xfrm rot="10800000">
            <a:off x="4270345" y="3281645"/>
            <a:ext cx="975830" cy="387139"/>
          </a:xfrm>
          <a:prstGeom prst="triangle">
            <a:avLst>
              <a:gd name="adj" fmla="val 49189"/>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72739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38AA-DC32-8D7D-50D4-A203307E3BC7}"/>
            </a:ext>
          </a:extLst>
        </p:cNvPr>
        <p:cNvGrpSpPr/>
        <p:nvPr/>
      </p:nvGrpSpPr>
      <p:grpSpPr>
        <a:xfrm>
          <a:off x="0" y="0"/>
          <a:ext cx="0" cy="0"/>
          <a:chOff x="0" y="0"/>
          <a:chExt cx="0" cy="0"/>
        </a:xfrm>
      </p:grpSpPr>
      <p:sp>
        <p:nvSpPr>
          <p:cNvPr id="79" name="ホームベース 78">
            <a:extLst>
              <a:ext uri="{FF2B5EF4-FFF2-40B4-BE49-F238E27FC236}">
                <a16:creationId xmlns:a16="http://schemas.microsoft.com/office/drawing/2014/main" id="{184D2879-63C7-E9F1-1878-45CD783DD6D2}"/>
              </a:ext>
            </a:extLst>
          </p:cNvPr>
          <p:cNvSpPr/>
          <p:nvPr/>
        </p:nvSpPr>
        <p:spPr>
          <a:xfrm>
            <a:off x="6399167" y="1841391"/>
            <a:ext cx="1828095" cy="163680"/>
          </a:xfrm>
          <a:prstGeom prst="homePlate">
            <a:avLst/>
          </a:prstGeom>
          <a:solidFill>
            <a:srgbClr val="FFD57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事業再設計</a:t>
            </a:r>
          </a:p>
        </p:txBody>
      </p:sp>
      <p:sp>
        <p:nvSpPr>
          <p:cNvPr id="4" name="テキスト ボックス 3">
            <a:extLst>
              <a:ext uri="{FF2B5EF4-FFF2-40B4-BE49-F238E27FC236}">
                <a16:creationId xmlns:a16="http://schemas.microsoft.com/office/drawing/2014/main" id="{3944A626-5F9A-4955-C487-99D6558F8656}"/>
              </a:ext>
            </a:extLst>
          </p:cNvPr>
          <p:cNvSpPr txBox="1"/>
          <p:nvPr/>
        </p:nvSpPr>
        <p:spPr>
          <a:xfrm>
            <a:off x="367900" y="146951"/>
            <a:ext cx="4003019"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プログラム案｜プロデューサー講座</a:t>
            </a:r>
          </a:p>
        </p:txBody>
      </p:sp>
      <p:cxnSp>
        <p:nvCxnSpPr>
          <p:cNvPr id="37" name="直線コネクタ 36">
            <a:extLst>
              <a:ext uri="{FF2B5EF4-FFF2-40B4-BE49-F238E27FC236}">
                <a16:creationId xmlns:a16="http://schemas.microsoft.com/office/drawing/2014/main" id="{FCBC0364-F88A-EC2B-3C24-BA7AEFEA2B41}"/>
              </a:ext>
            </a:extLst>
          </p:cNvPr>
          <p:cNvCxnSpPr>
            <a:cxnSpLocks/>
          </p:cNvCxnSpPr>
          <p:nvPr/>
        </p:nvCxnSpPr>
        <p:spPr>
          <a:xfrm>
            <a:off x="456887" y="516283"/>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66003846-079C-52E6-EE8E-F451531C2D34}"/>
              </a:ext>
            </a:extLst>
          </p:cNvPr>
          <p:cNvSpPr txBox="1"/>
          <p:nvPr/>
        </p:nvSpPr>
        <p:spPr>
          <a:xfrm>
            <a:off x="1080733" y="1145187"/>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35" name="テキスト ボックス 34">
            <a:extLst>
              <a:ext uri="{FF2B5EF4-FFF2-40B4-BE49-F238E27FC236}">
                <a16:creationId xmlns:a16="http://schemas.microsoft.com/office/drawing/2014/main" id="{A3EA0D10-98D4-C011-BCFD-3051FEAF9E4C}"/>
              </a:ext>
            </a:extLst>
          </p:cNvPr>
          <p:cNvSpPr txBox="1"/>
          <p:nvPr/>
        </p:nvSpPr>
        <p:spPr>
          <a:xfrm>
            <a:off x="1371211" y="114518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36" name="テキスト ボックス 35">
            <a:extLst>
              <a:ext uri="{FF2B5EF4-FFF2-40B4-BE49-F238E27FC236}">
                <a16:creationId xmlns:a16="http://schemas.microsoft.com/office/drawing/2014/main" id="{C4A497AC-0E29-98BD-5C2E-89D56B3AB3B3}"/>
              </a:ext>
            </a:extLst>
          </p:cNvPr>
          <p:cNvSpPr txBox="1"/>
          <p:nvPr/>
        </p:nvSpPr>
        <p:spPr>
          <a:xfrm>
            <a:off x="512558" y="937085"/>
            <a:ext cx="3678935" cy="184626"/>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 </a:t>
            </a:r>
            <a:r>
              <a:rPr kumimoji="1" lang="en-US" altLang="ja-JP" sz="1200" b="1" dirty="0"/>
              <a:t>2026</a:t>
            </a:r>
            <a:r>
              <a:rPr kumimoji="1" lang="ja-JP" altLang="en-US" sz="1200" b="1"/>
              <a:t>年</a:t>
            </a:r>
          </a:p>
        </p:txBody>
      </p:sp>
      <p:sp>
        <p:nvSpPr>
          <p:cNvPr id="2" name="テキスト ボックス 1">
            <a:extLst>
              <a:ext uri="{FF2B5EF4-FFF2-40B4-BE49-F238E27FC236}">
                <a16:creationId xmlns:a16="http://schemas.microsoft.com/office/drawing/2014/main" id="{E1A0774C-A7F5-C77B-B14A-8598DD0BC7C6}"/>
              </a:ext>
            </a:extLst>
          </p:cNvPr>
          <p:cNvSpPr txBox="1"/>
          <p:nvPr/>
        </p:nvSpPr>
        <p:spPr>
          <a:xfrm>
            <a:off x="512559" y="1151649"/>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3" name="テキスト ボックス 2">
            <a:extLst>
              <a:ext uri="{FF2B5EF4-FFF2-40B4-BE49-F238E27FC236}">
                <a16:creationId xmlns:a16="http://schemas.microsoft.com/office/drawing/2014/main" id="{F8268644-20B3-FF7A-2AD0-F9A20233D3BC}"/>
              </a:ext>
            </a:extLst>
          </p:cNvPr>
          <p:cNvSpPr txBox="1"/>
          <p:nvPr/>
        </p:nvSpPr>
        <p:spPr>
          <a:xfrm>
            <a:off x="796646" y="1151649"/>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sp>
        <p:nvSpPr>
          <p:cNvPr id="6" name="テキスト ボックス 5">
            <a:extLst>
              <a:ext uri="{FF2B5EF4-FFF2-40B4-BE49-F238E27FC236}">
                <a16:creationId xmlns:a16="http://schemas.microsoft.com/office/drawing/2014/main" id="{6CF153E1-BA5F-B7BD-E607-24C928EAC06D}"/>
              </a:ext>
            </a:extLst>
          </p:cNvPr>
          <p:cNvSpPr txBox="1"/>
          <p:nvPr/>
        </p:nvSpPr>
        <p:spPr>
          <a:xfrm>
            <a:off x="1690674" y="114695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7</a:t>
            </a:r>
            <a:endParaRPr kumimoji="1" lang="ja-JP" altLang="en-US" sz="1200" b="1"/>
          </a:p>
        </p:txBody>
      </p:sp>
      <p:sp>
        <p:nvSpPr>
          <p:cNvPr id="7" name="テキスト ボックス 6">
            <a:extLst>
              <a:ext uri="{FF2B5EF4-FFF2-40B4-BE49-F238E27FC236}">
                <a16:creationId xmlns:a16="http://schemas.microsoft.com/office/drawing/2014/main" id="{5D30B103-AE19-856E-3D3F-02C0025789E2}"/>
              </a:ext>
            </a:extLst>
          </p:cNvPr>
          <p:cNvSpPr txBox="1"/>
          <p:nvPr/>
        </p:nvSpPr>
        <p:spPr>
          <a:xfrm>
            <a:off x="2005577" y="114695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8</a:t>
            </a:r>
            <a:endParaRPr kumimoji="1" lang="ja-JP" altLang="en-US" sz="1200" b="1"/>
          </a:p>
        </p:txBody>
      </p:sp>
      <p:sp>
        <p:nvSpPr>
          <p:cNvPr id="9" name="テキスト ボックス 8">
            <a:extLst>
              <a:ext uri="{FF2B5EF4-FFF2-40B4-BE49-F238E27FC236}">
                <a16:creationId xmlns:a16="http://schemas.microsoft.com/office/drawing/2014/main" id="{B58D3000-EA69-51A3-81E4-802A973499D1}"/>
              </a:ext>
            </a:extLst>
          </p:cNvPr>
          <p:cNvSpPr txBox="1"/>
          <p:nvPr/>
        </p:nvSpPr>
        <p:spPr>
          <a:xfrm>
            <a:off x="2315763" y="1146957"/>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9</a:t>
            </a:r>
            <a:endParaRPr kumimoji="1" lang="ja-JP" altLang="en-US" sz="1200" b="1"/>
          </a:p>
        </p:txBody>
      </p:sp>
      <p:sp>
        <p:nvSpPr>
          <p:cNvPr id="10" name="テキスト ボックス 9">
            <a:extLst>
              <a:ext uri="{FF2B5EF4-FFF2-40B4-BE49-F238E27FC236}">
                <a16:creationId xmlns:a16="http://schemas.microsoft.com/office/drawing/2014/main" id="{EB476CDE-8DDE-6D81-29E5-DCE7D7AE013D}"/>
              </a:ext>
            </a:extLst>
          </p:cNvPr>
          <p:cNvSpPr txBox="1"/>
          <p:nvPr/>
        </p:nvSpPr>
        <p:spPr>
          <a:xfrm>
            <a:off x="2634382" y="1146957"/>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10</a:t>
            </a:r>
            <a:endParaRPr kumimoji="1" lang="ja-JP" altLang="en-US" sz="1200" b="1"/>
          </a:p>
        </p:txBody>
      </p:sp>
      <p:sp>
        <p:nvSpPr>
          <p:cNvPr id="11" name="テキスト ボックス 10">
            <a:extLst>
              <a:ext uri="{FF2B5EF4-FFF2-40B4-BE49-F238E27FC236}">
                <a16:creationId xmlns:a16="http://schemas.microsoft.com/office/drawing/2014/main" id="{7895B9F3-974E-48AE-1B65-56F0A7B4B1EE}"/>
              </a:ext>
            </a:extLst>
          </p:cNvPr>
          <p:cNvSpPr txBox="1"/>
          <p:nvPr/>
        </p:nvSpPr>
        <p:spPr>
          <a:xfrm>
            <a:off x="2953001" y="1145393"/>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11</a:t>
            </a:r>
            <a:endParaRPr kumimoji="1" lang="ja-JP" altLang="en-US" sz="1200" b="1"/>
          </a:p>
        </p:txBody>
      </p:sp>
      <p:sp>
        <p:nvSpPr>
          <p:cNvPr id="12" name="テキスト ボックス 11">
            <a:extLst>
              <a:ext uri="{FF2B5EF4-FFF2-40B4-BE49-F238E27FC236}">
                <a16:creationId xmlns:a16="http://schemas.microsoft.com/office/drawing/2014/main" id="{7B723E32-9A7F-8867-8BD2-4EA17943F74E}"/>
              </a:ext>
            </a:extLst>
          </p:cNvPr>
          <p:cNvSpPr txBox="1"/>
          <p:nvPr/>
        </p:nvSpPr>
        <p:spPr>
          <a:xfrm>
            <a:off x="3271620"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12</a:t>
            </a:r>
            <a:endParaRPr kumimoji="1" lang="ja-JP" altLang="en-US" sz="1200" b="1"/>
          </a:p>
        </p:txBody>
      </p:sp>
      <p:sp>
        <p:nvSpPr>
          <p:cNvPr id="13" name="テキスト ボックス 12">
            <a:extLst>
              <a:ext uri="{FF2B5EF4-FFF2-40B4-BE49-F238E27FC236}">
                <a16:creationId xmlns:a16="http://schemas.microsoft.com/office/drawing/2014/main" id="{13070644-EBA5-F3FF-C28F-5733F6DEC892}"/>
              </a:ext>
            </a:extLst>
          </p:cNvPr>
          <p:cNvSpPr txBox="1"/>
          <p:nvPr/>
        </p:nvSpPr>
        <p:spPr>
          <a:xfrm>
            <a:off x="3592660"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a:t>
            </a:r>
            <a:endParaRPr kumimoji="1" lang="ja-JP" altLang="en-US" sz="1200" b="1"/>
          </a:p>
        </p:txBody>
      </p:sp>
      <p:sp>
        <p:nvSpPr>
          <p:cNvPr id="14" name="テキスト ボックス 13">
            <a:extLst>
              <a:ext uri="{FF2B5EF4-FFF2-40B4-BE49-F238E27FC236}">
                <a16:creationId xmlns:a16="http://schemas.microsoft.com/office/drawing/2014/main" id="{442D9ECE-F11E-A639-E4A5-83F420FCFBED}"/>
              </a:ext>
            </a:extLst>
          </p:cNvPr>
          <p:cNvSpPr txBox="1"/>
          <p:nvPr/>
        </p:nvSpPr>
        <p:spPr>
          <a:xfrm>
            <a:off x="3902846"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2</a:t>
            </a:r>
            <a:endParaRPr kumimoji="1" lang="ja-JP" altLang="en-US" sz="1200" b="1"/>
          </a:p>
        </p:txBody>
      </p:sp>
      <p:sp>
        <p:nvSpPr>
          <p:cNvPr id="15" name="テキスト ボックス 14">
            <a:extLst>
              <a:ext uri="{FF2B5EF4-FFF2-40B4-BE49-F238E27FC236}">
                <a16:creationId xmlns:a16="http://schemas.microsoft.com/office/drawing/2014/main" id="{E69FF4E0-C347-7B33-2FFB-7CE027253DF4}"/>
              </a:ext>
            </a:extLst>
          </p:cNvPr>
          <p:cNvSpPr txBox="1"/>
          <p:nvPr/>
        </p:nvSpPr>
        <p:spPr>
          <a:xfrm>
            <a:off x="4851425" y="1145187"/>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16" name="テキスト ボックス 15">
            <a:extLst>
              <a:ext uri="{FF2B5EF4-FFF2-40B4-BE49-F238E27FC236}">
                <a16:creationId xmlns:a16="http://schemas.microsoft.com/office/drawing/2014/main" id="{B16C7CB9-2BA8-E8AA-FB80-7EBC6B2D4C94}"/>
              </a:ext>
            </a:extLst>
          </p:cNvPr>
          <p:cNvSpPr txBox="1"/>
          <p:nvPr/>
        </p:nvSpPr>
        <p:spPr>
          <a:xfrm>
            <a:off x="5141903" y="114518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17" name="テキスト ボックス 16">
            <a:extLst>
              <a:ext uri="{FF2B5EF4-FFF2-40B4-BE49-F238E27FC236}">
                <a16:creationId xmlns:a16="http://schemas.microsoft.com/office/drawing/2014/main" id="{70CD3357-26FC-37F7-A35F-6842E34E9F9A}"/>
              </a:ext>
            </a:extLst>
          </p:cNvPr>
          <p:cNvSpPr txBox="1"/>
          <p:nvPr/>
        </p:nvSpPr>
        <p:spPr>
          <a:xfrm>
            <a:off x="4283250" y="937085"/>
            <a:ext cx="3678935" cy="184626"/>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a:t>
            </a:r>
            <a:r>
              <a:rPr kumimoji="1" lang="en-US" altLang="ja-JP" sz="1200" b="1" dirty="0"/>
              <a:t> 2027</a:t>
            </a:r>
            <a:r>
              <a:rPr kumimoji="1" lang="ja-JP" altLang="en-US" sz="1200" b="1"/>
              <a:t>年</a:t>
            </a:r>
          </a:p>
        </p:txBody>
      </p:sp>
      <p:sp>
        <p:nvSpPr>
          <p:cNvPr id="18" name="テキスト ボックス 17">
            <a:extLst>
              <a:ext uri="{FF2B5EF4-FFF2-40B4-BE49-F238E27FC236}">
                <a16:creationId xmlns:a16="http://schemas.microsoft.com/office/drawing/2014/main" id="{05AF5252-2F0F-C763-F804-D1EC13508A5B}"/>
              </a:ext>
            </a:extLst>
          </p:cNvPr>
          <p:cNvSpPr txBox="1"/>
          <p:nvPr/>
        </p:nvSpPr>
        <p:spPr>
          <a:xfrm>
            <a:off x="4283251" y="1151649"/>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19" name="テキスト ボックス 18">
            <a:extLst>
              <a:ext uri="{FF2B5EF4-FFF2-40B4-BE49-F238E27FC236}">
                <a16:creationId xmlns:a16="http://schemas.microsoft.com/office/drawing/2014/main" id="{40A2CE8A-13AE-7717-B2A7-9EADB7899370}"/>
              </a:ext>
            </a:extLst>
          </p:cNvPr>
          <p:cNvSpPr txBox="1"/>
          <p:nvPr/>
        </p:nvSpPr>
        <p:spPr>
          <a:xfrm>
            <a:off x="4567338" y="1151649"/>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sp>
        <p:nvSpPr>
          <p:cNvPr id="20" name="テキスト ボックス 19">
            <a:extLst>
              <a:ext uri="{FF2B5EF4-FFF2-40B4-BE49-F238E27FC236}">
                <a16:creationId xmlns:a16="http://schemas.microsoft.com/office/drawing/2014/main" id="{50E242A4-E1AF-B16B-3CA1-FAF1905AF2D9}"/>
              </a:ext>
            </a:extLst>
          </p:cNvPr>
          <p:cNvSpPr txBox="1"/>
          <p:nvPr/>
        </p:nvSpPr>
        <p:spPr>
          <a:xfrm>
            <a:off x="5461366" y="114695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7</a:t>
            </a:r>
            <a:endParaRPr kumimoji="1" lang="ja-JP" altLang="en-US" sz="1200" b="1"/>
          </a:p>
        </p:txBody>
      </p:sp>
      <p:sp>
        <p:nvSpPr>
          <p:cNvPr id="21" name="テキスト ボックス 20">
            <a:extLst>
              <a:ext uri="{FF2B5EF4-FFF2-40B4-BE49-F238E27FC236}">
                <a16:creationId xmlns:a16="http://schemas.microsoft.com/office/drawing/2014/main" id="{E7AD5493-87F9-3F57-3F49-F4D17039A12F}"/>
              </a:ext>
            </a:extLst>
          </p:cNvPr>
          <p:cNvSpPr txBox="1"/>
          <p:nvPr/>
        </p:nvSpPr>
        <p:spPr>
          <a:xfrm>
            <a:off x="5776269" y="1146957"/>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8</a:t>
            </a:r>
            <a:endParaRPr kumimoji="1" lang="ja-JP" altLang="en-US" sz="1200" b="1"/>
          </a:p>
        </p:txBody>
      </p:sp>
      <p:sp>
        <p:nvSpPr>
          <p:cNvPr id="22" name="テキスト ボックス 21">
            <a:extLst>
              <a:ext uri="{FF2B5EF4-FFF2-40B4-BE49-F238E27FC236}">
                <a16:creationId xmlns:a16="http://schemas.microsoft.com/office/drawing/2014/main" id="{E00D13F3-5E8A-0910-D1F5-9A6200057BC3}"/>
              </a:ext>
            </a:extLst>
          </p:cNvPr>
          <p:cNvSpPr txBox="1"/>
          <p:nvPr/>
        </p:nvSpPr>
        <p:spPr>
          <a:xfrm>
            <a:off x="6086455" y="1146957"/>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9</a:t>
            </a:r>
            <a:endParaRPr kumimoji="1" lang="ja-JP" altLang="en-US" sz="1200" b="1"/>
          </a:p>
        </p:txBody>
      </p:sp>
      <p:sp>
        <p:nvSpPr>
          <p:cNvPr id="23" name="テキスト ボックス 22">
            <a:extLst>
              <a:ext uri="{FF2B5EF4-FFF2-40B4-BE49-F238E27FC236}">
                <a16:creationId xmlns:a16="http://schemas.microsoft.com/office/drawing/2014/main" id="{28541101-5B42-BB58-FC91-6ADE53A63F76}"/>
              </a:ext>
            </a:extLst>
          </p:cNvPr>
          <p:cNvSpPr txBox="1"/>
          <p:nvPr/>
        </p:nvSpPr>
        <p:spPr>
          <a:xfrm>
            <a:off x="6405074" y="1146957"/>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10</a:t>
            </a:r>
            <a:endParaRPr kumimoji="1" lang="ja-JP" altLang="en-US" sz="1200" b="1"/>
          </a:p>
        </p:txBody>
      </p:sp>
      <p:sp>
        <p:nvSpPr>
          <p:cNvPr id="24" name="テキスト ボックス 23">
            <a:extLst>
              <a:ext uri="{FF2B5EF4-FFF2-40B4-BE49-F238E27FC236}">
                <a16:creationId xmlns:a16="http://schemas.microsoft.com/office/drawing/2014/main" id="{DB76730F-9535-2D5B-6892-1669E843323A}"/>
              </a:ext>
            </a:extLst>
          </p:cNvPr>
          <p:cNvSpPr txBox="1"/>
          <p:nvPr/>
        </p:nvSpPr>
        <p:spPr>
          <a:xfrm>
            <a:off x="6723693" y="1145393"/>
            <a:ext cx="288647" cy="184666"/>
          </a:xfrm>
          <a:prstGeom prst="rect">
            <a:avLst/>
          </a:prstGeom>
          <a:solidFill>
            <a:schemeClr val="accent2">
              <a:lumMod val="75000"/>
              <a:alpha val="59000"/>
            </a:schemeClr>
          </a:solidFill>
        </p:spPr>
        <p:txBody>
          <a:bodyPr wrap="square" lIns="0" tIns="0" rIns="0" bIns="0" rtlCol="0">
            <a:spAutoFit/>
          </a:bodyPr>
          <a:lstStyle/>
          <a:p>
            <a:pPr algn="ctr"/>
            <a:r>
              <a:rPr kumimoji="1" lang="en-US" altLang="ja-JP" sz="1200" b="1" dirty="0"/>
              <a:t>11</a:t>
            </a:r>
            <a:endParaRPr kumimoji="1" lang="ja-JP" altLang="en-US" sz="1200" b="1"/>
          </a:p>
        </p:txBody>
      </p:sp>
      <p:sp>
        <p:nvSpPr>
          <p:cNvPr id="25" name="テキスト ボックス 24">
            <a:extLst>
              <a:ext uri="{FF2B5EF4-FFF2-40B4-BE49-F238E27FC236}">
                <a16:creationId xmlns:a16="http://schemas.microsoft.com/office/drawing/2014/main" id="{832FD3E0-F71F-EACF-F63E-C2A084FBD3CC}"/>
              </a:ext>
            </a:extLst>
          </p:cNvPr>
          <p:cNvSpPr txBox="1"/>
          <p:nvPr/>
        </p:nvSpPr>
        <p:spPr>
          <a:xfrm>
            <a:off x="7042312"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12</a:t>
            </a:r>
            <a:endParaRPr kumimoji="1" lang="ja-JP" altLang="en-US" sz="1200" b="1"/>
          </a:p>
        </p:txBody>
      </p:sp>
      <p:sp>
        <p:nvSpPr>
          <p:cNvPr id="28" name="テキスト ボックス 27">
            <a:extLst>
              <a:ext uri="{FF2B5EF4-FFF2-40B4-BE49-F238E27FC236}">
                <a16:creationId xmlns:a16="http://schemas.microsoft.com/office/drawing/2014/main" id="{C6058FA8-85A7-8B37-7202-5FEBDB2D642B}"/>
              </a:ext>
            </a:extLst>
          </p:cNvPr>
          <p:cNvSpPr txBox="1"/>
          <p:nvPr/>
        </p:nvSpPr>
        <p:spPr>
          <a:xfrm>
            <a:off x="7363352"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1</a:t>
            </a:r>
            <a:endParaRPr kumimoji="1" lang="ja-JP" altLang="en-US" sz="1200" b="1"/>
          </a:p>
        </p:txBody>
      </p:sp>
      <p:sp>
        <p:nvSpPr>
          <p:cNvPr id="29" name="テキスト ボックス 28">
            <a:extLst>
              <a:ext uri="{FF2B5EF4-FFF2-40B4-BE49-F238E27FC236}">
                <a16:creationId xmlns:a16="http://schemas.microsoft.com/office/drawing/2014/main" id="{D74E0D7C-BEB7-4FE9-67DC-252367D56DC1}"/>
              </a:ext>
            </a:extLst>
          </p:cNvPr>
          <p:cNvSpPr txBox="1"/>
          <p:nvPr/>
        </p:nvSpPr>
        <p:spPr>
          <a:xfrm>
            <a:off x="7673538" y="1142111"/>
            <a:ext cx="288647" cy="184666"/>
          </a:xfrm>
          <a:prstGeom prst="rect">
            <a:avLst/>
          </a:prstGeom>
          <a:solidFill>
            <a:schemeClr val="accent2">
              <a:lumMod val="75000"/>
            </a:schemeClr>
          </a:solidFill>
        </p:spPr>
        <p:txBody>
          <a:bodyPr wrap="square" lIns="0" tIns="0" rIns="0" bIns="0" rtlCol="0">
            <a:spAutoFit/>
          </a:bodyPr>
          <a:lstStyle/>
          <a:p>
            <a:pPr algn="ctr"/>
            <a:r>
              <a:rPr kumimoji="1" lang="en-US" altLang="ja-JP" sz="1200" b="1" dirty="0"/>
              <a:t>2</a:t>
            </a:r>
            <a:endParaRPr kumimoji="1" lang="ja-JP" altLang="en-US" sz="1200" b="1"/>
          </a:p>
        </p:txBody>
      </p:sp>
      <p:sp>
        <p:nvSpPr>
          <p:cNvPr id="31" name="テキスト ボックス 30">
            <a:extLst>
              <a:ext uri="{FF2B5EF4-FFF2-40B4-BE49-F238E27FC236}">
                <a16:creationId xmlns:a16="http://schemas.microsoft.com/office/drawing/2014/main" id="{5DC16E4F-D3EA-E634-AF22-67E254D0B6CC}"/>
              </a:ext>
            </a:extLst>
          </p:cNvPr>
          <p:cNvSpPr txBox="1"/>
          <p:nvPr/>
        </p:nvSpPr>
        <p:spPr>
          <a:xfrm>
            <a:off x="8242869" y="937099"/>
            <a:ext cx="1173843" cy="184611"/>
          </a:xfrm>
          <a:prstGeom prst="rect">
            <a:avLst/>
          </a:prstGeom>
          <a:solidFill>
            <a:schemeClr val="accent2">
              <a:lumMod val="60000"/>
              <a:lumOff val="40000"/>
            </a:schemeClr>
          </a:solidFill>
        </p:spPr>
        <p:txBody>
          <a:bodyPr wrap="square" lIns="0" tIns="0" rIns="0" bIns="0" rtlCol="0">
            <a:spAutoFit/>
          </a:bodyPr>
          <a:lstStyle/>
          <a:p>
            <a:pPr algn="ctr"/>
            <a:r>
              <a:rPr kumimoji="1" lang="ja-JP" altLang="en-US" sz="1200" b="1"/>
              <a:t>●</a:t>
            </a:r>
            <a:r>
              <a:rPr kumimoji="1" lang="en-US" altLang="ja-JP" sz="1200" b="1" dirty="0"/>
              <a:t> 2028</a:t>
            </a:r>
            <a:r>
              <a:rPr kumimoji="1" lang="ja-JP" altLang="en-US" sz="1200" b="1"/>
              <a:t>年</a:t>
            </a:r>
          </a:p>
        </p:txBody>
      </p:sp>
      <p:sp>
        <p:nvSpPr>
          <p:cNvPr id="32" name="テキスト ボックス 31">
            <a:extLst>
              <a:ext uri="{FF2B5EF4-FFF2-40B4-BE49-F238E27FC236}">
                <a16:creationId xmlns:a16="http://schemas.microsoft.com/office/drawing/2014/main" id="{E0C5171D-3962-63E5-02EE-C21DB0715F94}"/>
              </a:ext>
            </a:extLst>
          </p:cNvPr>
          <p:cNvSpPr txBox="1"/>
          <p:nvPr/>
        </p:nvSpPr>
        <p:spPr>
          <a:xfrm>
            <a:off x="8837587" y="1151664"/>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5</a:t>
            </a:r>
            <a:endParaRPr kumimoji="1" lang="ja-JP" altLang="en-US" sz="1200" b="1"/>
          </a:p>
        </p:txBody>
      </p:sp>
      <p:sp>
        <p:nvSpPr>
          <p:cNvPr id="34" name="テキスト ボックス 33">
            <a:extLst>
              <a:ext uri="{FF2B5EF4-FFF2-40B4-BE49-F238E27FC236}">
                <a16:creationId xmlns:a16="http://schemas.microsoft.com/office/drawing/2014/main" id="{530F4038-71CE-C0ED-B498-3F64CB8F0E61}"/>
              </a:ext>
            </a:extLst>
          </p:cNvPr>
          <p:cNvSpPr txBox="1"/>
          <p:nvPr/>
        </p:nvSpPr>
        <p:spPr>
          <a:xfrm>
            <a:off x="9128065" y="1151664"/>
            <a:ext cx="288647" cy="184666"/>
          </a:xfrm>
          <a:prstGeom prst="rect">
            <a:avLst/>
          </a:prstGeom>
          <a:solidFill>
            <a:schemeClr val="accent2">
              <a:lumMod val="40000"/>
              <a:lumOff val="60000"/>
            </a:schemeClr>
          </a:solidFill>
        </p:spPr>
        <p:txBody>
          <a:bodyPr wrap="square" lIns="0" tIns="0" rIns="0" bIns="0" rtlCol="0">
            <a:spAutoFit/>
          </a:bodyPr>
          <a:lstStyle/>
          <a:p>
            <a:pPr algn="ctr"/>
            <a:r>
              <a:rPr kumimoji="1" lang="en-US" altLang="ja-JP" sz="1200" b="1" dirty="0"/>
              <a:t>6</a:t>
            </a:r>
            <a:endParaRPr kumimoji="1" lang="ja-JP" altLang="en-US" sz="1200" b="1"/>
          </a:p>
        </p:txBody>
      </p:sp>
      <p:sp>
        <p:nvSpPr>
          <p:cNvPr id="41" name="テキスト ボックス 40">
            <a:extLst>
              <a:ext uri="{FF2B5EF4-FFF2-40B4-BE49-F238E27FC236}">
                <a16:creationId xmlns:a16="http://schemas.microsoft.com/office/drawing/2014/main" id="{5C1CCE70-86A0-2993-9A59-DC86F97BCC9F}"/>
              </a:ext>
            </a:extLst>
          </p:cNvPr>
          <p:cNvSpPr txBox="1"/>
          <p:nvPr/>
        </p:nvSpPr>
        <p:spPr>
          <a:xfrm>
            <a:off x="8269413" y="1158126"/>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3</a:t>
            </a:r>
            <a:endParaRPr kumimoji="1" lang="ja-JP" altLang="en-US" sz="1200" b="1"/>
          </a:p>
        </p:txBody>
      </p:sp>
      <p:sp>
        <p:nvSpPr>
          <p:cNvPr id="42" name="テキスト ボックス 41">
            <a:extLst>
              <a:ext uri="{FF2B5EF4-FFF2-40B4-BE49-F238E27FC236}">
                <a16:creationId xmlns:a16="http://schemas.microsoft.com/office/drawing/2014/main" id="{3FF2B3E8-4828-908A-C2B4-A67D26603A26}"/>
              </a:ext>
            </a:extLst>
          </p:cNvPr>
          <p:cNvSpPr txBox="1"/>
          <p:nvPr/>
        </p:nvSpPr>
        <p:spPr>
          <a:xfrm>
            <a:off x="8553500" y="1158126"/>
            <a:ext cx="259662" cy="184666"/>
          </a:xfrm>
          <a:prstGeom prst="rect">
            <a:avLst/>
          </a:prstGeom>
          <a:solidFill>
            <a:schemeClr val="accent2">
              <a:lumMod val="20000"/>
              <a:lumOff val="80000"/>
            </a:schemeClr>
          </a:solidFill>
        </p:spPr>
        <p:txBody>
          <a:bodyPr wrap="square" lIns="0" tIns="0" rIns="0" bIns="0" rtlCol="0">
            <a:spAutoFit/>
          </a:bodyPr>
          <a:lstStyle/>
          <a:p>
            <a:pPr algn="ctr"/>
            <a:r>
              <a:rPr kumimoji="1" lang="en-US" altLang="ja-JP" sz="1200" b="1" dirty="0"/>
              <a:t>4</a:t>
            </a:r>
            <a:endParaRPr kumimoji="1" lang="ja-JP" altLang="en-US" sz="1200" b="1"/>
          </a:p>
        </p:txBody>
      </p:sp>
      <p:cxnSp>
        <p:nvCxnSpPr>
          <p:cNvPr id="54" name="直線コネクタ 53">
            <a:extLst>
              <a:ext uri="{FF2B5EF4-FFF2-40B4-BE49-F238E27FC236}">
                <a16:creationId xmlns:a16="http://schemas.microsoft.com/office/drawing/2014/main" id="{36906059-8D5C-5F4C-941F-BF78E8480AE3}"/>
              </a:ext>
            </a:extLst>
          </p:cNvPr>
          <p:cNvCxnSpPr>
            <a:cxnSpLocks/>
          </p:cNvCxnSpPr>
          <p:nvPr/>
        </p:nvCxnSpPr>
        <p:spPr>
          <a:xfrm>
            <a:off x="8101197" y="698890"/>
            <a:ext cx="0" cy="1539308"/>
          </a:xfrm>
          <a:prstGeom prst="line">
            <a:avLst/>
          </a:prstGeom>
          <a:ln w="31750" cmpd="dbl">
            <a:solidFill>
              <a:schemeClr val="tx1">
                <a:lumMod val="50000"/>
                <a:lumOff val="50000"/>
              </a:schemeClr>
            </a:solidFill>
            <a:prstDash val="dashDot"/>
          </a:ln>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89FCA756-F00A-6214-048B-E211EF398BB4}"/>
              </a:ext>
            </a:extLst>
          </p:cNvPr>
          <p:cNvSpPr txBox="1"/>
          <p:nvPr/>
        </p:nvSpPr>
        <p:spPr>
          <a:xfrm>
            <a:off x="8175316" y="629308"/>
            <a:ext cx="939681" cy="276999"/>
          </a:xfrm>
          <a:prstGeom prst="rect">
            <a:avLst/>
          </a:prstGeom>
          <a:noFill/>
        </p:spPr>
        <p:txBody>
          <a:bodyPr wrap="none" rtlCol="0">
            <a:spAutoFit/>
          </a:bodyPr>
          <a:lstStyle/>
          <a:p>
            <a:r>
              <a:rPr kumimoji="1" lang="ja-JP" altLang="en-US" sz="1200"/>
              <a:t>→</a:t>
            </a:r>
            <a:r>
              <a:rPr kumimoji="1" lang="en-US" altLang="ja-JP" sz="1200" dirty="0"/>
              <a:t> SEED 2</a:t>
            </a:r>
            <a:r>
              <a:rPr kumimoji="1" lang="ja-JP" altLang="en-US" sz="1200"/>
              <a:t>期</a:t>
            </a:r>
          </a:p>
        </p:txBody>
      </p:sp>
      <p:cxnSp>
        <p:nvCxnSpPr>
          <p:cNvPr id="63" name="直線コネクタ 62">
            <a:extLst>
              <a:ext uri="{FF2B5EF4-FFF2-40B4-BE49-F238E27FC236}">
                <a16:creationId xmlns:a16="http://schemas.microsoft.com/office/drawing/2014/main" id="{202B2F73-F8FE-8300-E136-ACB653CD0648}"/>
              </a:ext>
            </a:extLst>
          </p:cNvPr>
          <p:cNvCxnSpPr>
            <a:cxnSpLocks/>
          </p:cNvCxnSpPr>
          <p:nvPr/>
        </p:nvCxnSpPr>
        <p:spPr>
          <a:xfrm>
            <a:off x="2072052" y="1680663"/>
            <a:ext cx="693170"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67" name="テキスト ボックス 66">
            <a:extLst>
              <a:ext uri="{FF2B5EF4-FFF2-40B4-BE49-F238E27FC236}">
                <a16:creationId xmlns:a16="http://schemas.microsoft.com/office/drawing/2014/main" id="{BEF9AF38-D673-6BE1-A377-C85133533B0E}"/>
              </a:ext>
            </a:extLst>
          </p:cNvPr>
          <p:cNvSpPr txBox="1"/>
          <p:nvPr/>
        </p:nvSpPr>
        <p:spPr>
          <a:xfrm>
            <a:off x="2029153" y="1402100"/>
            <a:ext cx="1184940" cy="276999"/>
          </a:xfrm>
          <a:prstGeom prst="rect">
            <a:avLst/>
          </a:prstGeom>
          <a:noFill/>
        </p:spPr>
        <p:txBody>
          <a:bodyPr wrap="none" rtlCol="0">
            <a:spAutoFit/>
          </a:bodyPr>
          <a:lstStyle/>
          <a:p>
            <a:r>
              <a:rPr kumimoji="1" lang="ja-JP" altLang="en-US" sz="1200" b="1"/>
              <a:t>座学</a:t>
            </a:r>
            <a:r>
              <a:rPr kumimoji="1" lang="ja-JP" altLang="en-US" sz="900" b="1"/>
              <a:t>（一般教養）</a:t>
            </a:r>
          </a:p>
        </p:txBody>
      </p:sp>
      <p:cxnSp>
        <p:nvCxnSpPr>
          <p:cNvPr id="71" name="直線コネクタ 70">
            <a:extLst>
              <a:ext uri="{FF2B5EF4-FFF2-40B4-BE49-F238E27FC236}">
                <a16:creationId xmlns:a16="http://schemas.microsoft.com/office/drawing/2014/main" id="{C343C34C-4DAE-A41F-417A-0552A71928A7}"/>
              </a:ext>
            </a:extLst>
          </p:cNvPr>
          <p:cNvCxnSpPr>
            <a:cxnSpLocks/>
          </p:cNvCxnSpPr>
          <p:nvPr/>
        </p:nvCxnSpPr>
        <p:spPr>
          <a:xfrm>
            <a:off x="3834593" y="1680663"/>
            <a:ext cx="637879"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72" name="テキスト ボックス 71">
            <a:extLst>
              <a:ext uri="{FF2B5EF4-FFF2-40B4-BE49-F238E27FC236}">
                <a16:creationId xmlns:a16="http://schemas.microsoft.com/office/drawing/2014/main" id="{F0B01788-E5B2-359D-FC9A-2430F9292475}"/>
              </a:ext>
            </a:extLst>
          </p:cNvPr>
          <p:cNvSpPr txBox="1"/>
          <p:nvPr/>
        </p:nvSpPr>
        <p:spPr>
          <a:xfrm>
            <a:off x="3897572" y="1402100"/>
            <a:ext cx="492443" cy="276999"/>
          </a:xfrm>
          <a:prstGeom prst="rect">
            <a:avLst/>
          </a:prstGeom>
          <a:noFill/>
        </p:spPr>
        <p:txBody>
          <a:bodyPr wrap="none" rtlCol="0">
            <a:spAutoFit/>
          </a:bodyPr>
          <a:lstStyle/>
          <a:p>
            <a:r>
              <a:rPr kumimoji="1" lang="ja-JP" altLang="en-US" sz="1200" b="1"/>
              <a:t>ゼミ</a:t>
            </a:r>
            <a:endParaRPr kumimoji="1" lang="ja-JP" altLang="en-US" sz="900" b="1"/>
          </a:p>
        </p:txBody>
      </p:sp>
      <p:cxnSp>
        <p:nvCxnSpPr>
          <p:cNvPr id="74" name="直線コネクタ 73">
            <a:extLst>
              <a:ext uri="{FF2B5EF4-FFF2-40B4-BE49-F238E27FC236}">
                <a16:creationId xmlns:a16="http://schemas.microsoft.com/office/drawing/2014/main" id="{E8C9FB9D-A953-CE05-6C2C-1DA070A0BD37}"/>
              </a:ext>
            </a:extLst>
          </p:cNvPr>
          <p:cNvCxnSpPr>
            <a:cxnSpLocks/>
          </p:cNvCxnSpPr>
          <p:nvPr/>
        </p:nvCxnSpPr>
        <p:spPr>
          <a:xfrm>
            <a:off x="5776269" y="1679099"/>
            <a:ext cx="637879" cy="0"/>
          </a:xfrm>
          <a:prstGeom prst="line">
            <a:avLst/>
          </a:prstGeom>
          <a:ln w="38100">
            <a:solidFill>
              <a:srgbClr val="C00000"/>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75" name="テキスト ボックス 74">
            <a:extLst>
              <a:ext uri="{FF2B5EF4-FFF2-40B4-BE49-F238E27FC236}">
                <a16:creationId xmlns:a16="http://schemas.microsoft.com/office/drawing/2014/main" id="{2732D287-6D85-DD96-9B93-13E949C57144}"/>
              </a:ext>
            </a:extLst>
          </p:cNvPr>
          <p:cNvSpPr txBox="1"/>
          <p:nvPr/>
        </p:nvSpPr>
        <p:spPr>
          <a:xfrm>
            <a:off x="5725284" y="1402099"/>
            <a:ext cx="1838965" cy="276999"/>
          </a:xfrm>
          <a:prstGeom prst="rect">
            <a:avLst/>
          </a:prstGeom>
          <a:noFill/>
        </p:spPr>
        <p:txBody>
          <a:bodyPr wrap="none" rtlCol="0">
            <a:spAutoFit/>
          </a:bodyPr>
          <a:lstStyle/>
          <a:p>
            <a:r>
              <a:rPr kumimoji="1" lang="ja-JP" altLang="en-US" sz="1200" b="1"/>
              <a:t>プレ合宿</a:t>
            </a:r>
            <a:r>
              <a:rPr kumimoji="1" lang="ja-JP" altLang="en-US" sz="900" b="1"/>
              <a:t>（サマースクール）</a:t>
            </a:r>
          </a:p>
        </p:txBody>
      </p:sp>
      <p:sp>
        <p:nvSpPr>
          <p:cNvPr id="76" name="ホームベース 75">
            <a:extLst>
              <a:ext uri="{FF2B5EF4-FFF2-40B4-BE49-F238E27FC236}">
                <a16:creationId xmlns:a16="http://schemas.microsoft.com/office/drawing/2014/main" id="{0C03F9A6-F9F5-4BEE-4EE4-88A753FF9B08}"/>
              </a:ext>
            </a:extLst>
          </p:cNvPr>
          <p:cNvSpPr/>
          <p:nvPr/>
        </p:nvSpPr>
        <p:spPr>
          <a:xfrm>
            <a:off x="2029153" y="1831770"/>
            <a:ext cx="4454999" cy="182880"/>
          </a:xfrm>
          <a:prstGeom prst="homePlate">
            <a:avLst/>
          </a:prstGeom>
          <a:solidFill>
            <a:srgbClr val="FFFD7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人材育成</a:t>
            </a:r>
          </a:p>
        </p:txBody>
      </p:sp>
      <p:sp>
        <p:nvSpPr>
          <p:cNvPr id="77" name="ホームベース 76">
            <a:extLst>
              <a:ext uri="{FF2B5EF4-FFF2-40B4-BE49-F238E27FC236}">
                <a16:creationId xmlns:a16="http://schemas.microsoft.com/office/drawing/2014/main" id="{A5AAAE1D-7365-AA73-C8B6-A592C1213282}"/>
              </a:ext>
            </a:extLst>
          </p:cNvPr>
          <p:cNvSpPr/>
          <p:nvPr/>
        </p:nvSpPr>
        <p:spPr>
          <a:xfrm>
            <a:off x="487665" y="1822232"/>
            <a:ext cx="1828098" cy="182839"/>
          </a:xfrm>
          <a:prstGeom prst="homePlate">
            <a:avLst/>
          </a:prstGeom>
          <a:solidFill>
            <a:srgbClr val="D5FC79"/>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rPr>
              <a:t>要件定義</a:t>
            </a:r>
          </a:p>
        </p:txBody>
      </p:sp>
      <p:sp>
        <p:nvSpPr>
          <p:cNvPr id="78" name="ホームベース 77">
            <a:extLst>
              <a:ext uri="{FF2B5EF4-FFF2-40B4-BE49-F238E27FC236}">
                <a16:creationId xmlns:a16="http://schemas.microsoft.com/office/drawing/2014/main" id="{34C88FB4-AA7C-0144-4D77-5C85AF31609F}"/>
              </a:ext>
            </a:extLst>
          </p:cNvPr>
          <p:cNvSpPr/>
          <p:nvPr/>
        </p:nvSpPr>
        <p:spPr>
          <a:xfrm>
            <a:off x="8240210" y="1820406"/>
            <a:ext cx="1229324" cy="184666"/>
          </a:xfrm>
          <a:prstGeom prst="homePlat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rPr>
              <a:t>IP</a:t>
            </a:r>
            <a:r>
              <a:rPr kumimoji="1" lang="ja-JP" altLang="en-US" sz="1200" b="1">
                <a:solidFill>
                  <a:schemeClr val="tx1"/>
                </a:solidFill>
              </a:rPr>
              <a:t>展開・接続</a:t>
            </a:r>
          </a:p>
        </p:txBody>
      </p:sp>
      <p:sp>
        <p:nvSpPr>
          <p:cNvPr id="80" name="テキスト ボックス 79">
            <a:extLst>
              <a:ext uri="{FF2B5EF4-FFF2-40B4-BE49-F238E27FC236}">
                <a16:creationId xmlns:a16="http://schemas.microsoft.com/office/drawing/2014/main" id="{99C2AFD5-17B5-6C42-D874-2C417D60F77A}"/>
              </a:ext>
            </a:extLst>
          </p:cNvPr>
          <p:cNvSpPr txBox="1"/>
          <p:nvPr/>
        </p:nvSpPr>
        <p:spPr>
          <a:xfrm>
            <a:off x="367900" y="606262"/>
            <a:ext cx="1723549" cy="276999"/>
          </a:xfrm>
          <a:prstGeom prst="rect">
            <a:avLst/>
          </a:prstGeom>
          <a:noFill/>
        </p:spPr>
        <p:txBody>
          <a:bodyPr wrap="none" rtlCol="0">
            <a:spAutoFit/>
          </a:bodyPr>
          <a:lstStyle/>
          <a:p>
            <a:r>
              <a:rPr kumimoji="1" lang="ja-JP" altLang="en-US" sz="1200" b="1">
                <a:solidFill>
                  <a:srgbClr val="C00000"/>
                </a:solidFill>
                <a:latin typeface="Hiragino Sans W6" panose="020B0400000000000000" pitchFamily="34" charset="-128"/>
                <a:ea typeface="Hiragino Sans W6" panose="020B0400000000000000" pitchFamily="34" charset="-128"/>
              </a:rPr>
              <a:t>●</a:t>
            </a:r>
            <a:r>
              <a:rPr kumimoji="1" lang="ja-JP" altLang="en-US" sz="1200" b="1">
                <a:latin typeface="Hiragino Sans W6" panose="020B0400000000000000" pitchFamily="34" charset="-128"/>
                <a:ea typeface="Hiragino Sans W6" panose="020B0400000000000000" pitchFamily="34" charset="-128"/>
              </a:rPr>
              <a:t>スケジュールと射程</a:t>
            </a:r>
          </a:p>
        </p:txBody>
      </p:sp>
      <p:cxnSp>
        <p:nvCxnSpPr>
          <p:cNvPr id="81" name="直線コネクタ 80">
            <a:extLst>
              <a:ext uri="{FF2B5EF4-FFF2-40B4-BE49-F238E27FC236}">
                <a16:creationId xmlns:a16="http://schemas.microsoft.com/office/drawing/2014/main" id="{734F24E2-57E3-6EFC-F49A-435059D77D4F}"/>
              </a:ext>
            </a:extLst>
          </p:cNvPr>
          <p:cNvCxnSpPr>
            <a:cxnSpLocks/>
          </p:cNvCxnSpPr>
          <p:nvPr/>
        </p:nvCxnSpPr>
        <p:spPr>
          <a:xfrm>
            <a:off x="9243948" y="1660493"/>
            <a:ext cx="181417" cy="0"/>
          </a:xfrm>
          <a:prstGeom prst="line">
            <a:avLst/>
          </a:prstGeom>
          <a:ln w="38100">
            <a:solidFill>
              <a:srgbClr val="C0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82" name="テキスト ボックス 81">
            <a:extLst>
              <a:ext uri="{FF2B5EF4-FFF2-40B4-BE49-F238E27FC236}">
                <a16:creationId xmlns:a16="http://schemas.microsoft.com/office/drawing/2014/main" id="{21C7E92B-84A0-7AA0-C5A3-50BD196E08C2}"/>
              </a:ext>
            </a:extLst>
          </p:cNvPr>
          <p:cNvSpPr txBox="1"/>
          <p:nvPr/>
        </p:nvSpPr>
        <p:spPr>
          <a:xfrm>
            <a:off x="8259100" y="1379208"/>
            <a:ext cx="1261884" cy="276999"/>
          </a:xfrm>
          <a:prstGeom prst="rect">
            <a:avLst/>
          </a:prstGeom>
          <a:noFill/>
        </p:spPr>
        <p:txBody>
          <a:bodyPr wrap="none" rtlCol="0">
            <a:spAutoFit/>
          </a:bodyPr>
          <a:lstStyle/>
          <a:p>
            <a:r>
              <a:rPr kumimoji="1" lang="ja-JP" altLang="en-US" sz="1200" b="1"/>
              <a:t>サマースクール</a:t>
            </a:r>
            <a:endParaRPr kumimoji="1" lang="ja-JP" altLang="en-US" sz="900" b="1"/>
          </a:p>
        </p:txBody>
      </p:sp>
      <p:sp>
        <p:nvSpPr>
          <p:cNvPr id="5" name="角丸四角形 4">
            <a:extLst>
              <a:ext uri="{FF2B5EF4-FFF2-40B4-BE49-F238E27FC236}">
                <a16:creationId xmlns:a16="http://schemas.microsoft.com/office/drawing/2014/main" id="{3BAAA12A-A30A-7E8D-2731-B5496198A182}"/>
              </a:ext>
            </a:extLst>
          </p:cNvPr>
          <p:cNvSpPr/>
          <p:nvPr/>
        </p:nvSpPr>
        <p:spPr>
          <a:xfrm>
            <a:off x="512558" y="2275286"/>
            <a:ext cx="3770692" cy="4411079"/>
          </a:xfrm>
          <a:prstGeom prst="roundRect">
            <a:avLst>
              <a:gd name="adj" fmla="val 2934"/>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E9509138-9F42-E407-4CF0-FDC5FAB5364D}"/>
              </a:ext>
            </a:extLst>
          </p:cNvPr>
          <p:cNvSpPr/>
          <p:nvPr/>
        </p:nvSpPr>
        <p:spPr>
          <a:xfrm>
            <a:off x="4952326" y="2265143"/>
            <a:ext cx="3770692" cy="4411079"/>
          </a:xfrm>
          <a:prstGeom prst="roundRect">
            <a:avLst>
              <a:gd name="adj" fmla="val 2934"/>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94CD6EAE-37AE-65CA-E266-D778380B7DCB}"/>
              </a:ext>
            </a:extLst>
          </p:cNvPr>
          <p:cNvCxnSpPr>
            <a:cxnSpLocks/>
            <a:endCxn id="5" idx="0"/>
          </p:cNvCxnSpPr>
          <p:nvPr/>
        </p:nvCxnSpPr>
        <p:spPr>
          <a:xfrm>
            <a:off x="2397904" y="1679098"/>
            <a:ext cx="0" cy="59618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A0BBBFA7-5975-56BE-946F-D638AD2940DE}"/>
              </a:ext>
            </a:extLst>
          </p:cNvPr>
          <p:cNvCxnSpPr>
            <a:cxnSpLocks/>
            <a:stCxn id="72" idx="2"/>
            <a:endCxn id="8" idx="0"/>
          </p:cNvCxnSpPr>
          <p:nvPr/>
        </p:nvCxnSpPr>
        <p:spPr>
          <a:xfrm>
            <a:off x="4143794" y="1679099"/>
            <a:ext cx="2693878" cy="586044"/>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79335ACD-62C1-C42F-28AF-8AF358243673}"/>
              </a:ext>
            </a:extLst>
          </p:cNvPr>
          <p:cNvSpPr txBox="1"/>
          <p:nvPr/>
        </p:nvSpPr>
        <p:spPr>
          <a:xfrm>
            <a:off x="641326" y="2146639"/>
            <a:ext cx="1107996" cy="276999"/>
          </a:xfrm>
          <a:prstGeom prst="rect">
            <a:avLst/>
          </a:prstGeom>
          <a:solidFill>
            <a:srgbClr val="C00000"/>
          </a:solidFill>
        </p:spPr>
        <p:txBody>
          <a:bodyPr wrap="none" rtlCol="0">
            <a:spAutoFit/>
          </a:bodyPr>
          <a:lstStyle/>
          <a:p>
            <a:r>
              <a:rPr kumimoji="1" lang="ja-JP" altLang="en-US" sz="1200">
                <a:solidFill>
                  <a:schemeClr val="bg1"/>
                </a:solidFill>
              </a:rPr>
              <a:t>オープン講座</a:t>
            </a:r>
          </a:p>
        </p:txBody>
      </p:sp>
      <p:sp>
        <p:nvSpPr>
          <p:cNvPr id="43" name="テキスト ボックス 42">
            <a:extLst>
              <a:ext uri="{FF2B5EF4-FFF2-40B4-BE49-F238E27FC236}">
                <a16:creationId xmlns:a16="http://schemas.microsoft.com/office/drawing/2014/main" id="{F9627EA4-773E-04A6-7A66-114E8B11BE93}"/>
              </a:ext>
            </a:extLst>
          </p:cNvPr>
          <p:cNvSpPr txBox="1"/>
          <p:nvPr/>
        </p:nvSpPr>
        <p:spPr>
          <a:xfrm>
            <a:off x="5076595" y="2165756"/>
            <a:ext cx="800219" cy="276999"/>
          </a:xfrm>
          <a:prstGeom prst="rect">
            <a:avLst/>
          </a:prstGeom>
          <a:solidFill>
            <a:srgbClr val="C00000"/>
          </a:solidFill>
        </p:spPr>
        <p:txBody>
          <a:bodyPr wrap="none" rtlCol="0">
            <a:spAutoFit/>
          </a:bodyPr>
          <a:lstStyle/>
          <a:p>
            <a:r>
              <a:rPr kumimoji="1" lang="ja-JP" altLang="en-US" sz="1200">
                <a:solidFill>
                  <a:schemeClr val="bg1"/>
                </a:solidFill>
              </a:rPr>
              <a:t>集中講座</a:t>
            </a:r>
          </a:p>
        </p:txBody>
      </p:sp>
      <p:sp>
        <p:nvSpPr>
          <p:cNvPr id="44" name="テキスト ボックス 43">
            <a:extLst>
              <a:ext uri="{FF2B5EF4-FFF2-40B4-BE49-F238E27FC236}">
                <a16:creationId xmlns:a16="http://schemas.microsoft.com/office/drawing/2014/main" id="{656CFB47-856C-95E3-2891-667509D3FE44}"/>
              </a:ext>
            </a:extLst>
          </p:cNvPr>
          <p:cNvSpPr txBox="1"/>
          <p:nvPr/>
        </p:nvSpPr>
        <p:spPr>
          <a:xfrm>
            <a:off x="822612" y="2490988"/>
            <a:ext cx="3274948" cy="40011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対象：学生を中心に、興味がある人は誰でも</a:t>
            </a:r>
            <a:endParaRPr kumimoji="1" lang="en-US" altLang="ja-JP" sz="1000" dirty="0">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位置付け：企画の宣伝</a:t>
            </a:r>
            <a:r>
              <a:rPr kumimoji="1" lang="en-US" altLang="ja-JP" sz="1000" dirty="0">
                <a:latin typeface="Hiragino Sans W4" panose="020B0400000000000000" pitchFamily="34" charset="-128"/>
                <a:ea typeface="Hiragino Sans W4" panose="020B0400000000000000" pitchFamily="34" charset="-128"/>
              </a:rPr>
              <a:t>/</a:t>
            </a:r>
            <a:r>
              <a:rPr kumimoji="1" lang="ja-JP" altLang="en-US" sz="1000">
                <a:latin typeface="Hiragino Sans W4" panose="020B0400000000000000" pitchFamily="34" charset="-128"/>
                <a:ea typeface="Hiragino Sans W4" panose="020B0400000000000000" pitchFamily="34" charset="-128"/>
              </a:rPr>
              <a:t>人材との出会い</a:t>
            </a:r>
          </a:p>
        </p:txBody>
      </p:sp>
      <p:sp>
        <p:nvSpPr>
          <p:cNvPr id="45" name="テキスト ボックス 44">
            <a:extLst>
              <a:ext uri="{FF2B5EF4-FFF2-40B4-BE49-F238E27FC236}">
                <a16:creationId xmlns:a16="http://schemas.microsoft.com/office/drawing/2014/main" id="{14D4F7D4-836D-7E1E-A9B4-51A3FD1992AB}"/>
              </a:ext>
            </a:extLst>
          </p:cNvPr>
          <p:cNvSpPr txBox="1"/>
          <p:nvPr/>
        </p:nvSpPr>
        <p:spPr>
          <a:xfrm>
            <a:off x="5257449" y="2477804"/>
            <a:ext cx="3274948" cy="40011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対象：大学生</a:t>
            </a:r>
            <a:endParaRPr kumimoji="1" lang="en-US" altLang="ja-JP" sz="1000" dirty="0">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位置付け：未来に向けての研究</a:t>
            </a:r>
          </a:p>
        </p:txBody>
      </p:sp>
      <p:sp>
        <p:nvSpPr>
          <p:cNvPr id="46" name="テキスト ボックス 45">
            <a:extLst>
              <a:ext uri="{FF2B5EF4-FFF2-40B4-BE49-F238E27FC236}">
                <a16:creationId xmlns:a16="http://schemas.microsoft.com/office/drawing/2014/main" id="{DD5ED51D-1FB4-DFCE-BF8C-8468D9899670}"/>
              </a:ext>
            </a:extLst>
          </p:cNvPr>
          <p:cNvSpPr txBox="1"/>
          <p:nvPr/>
        </p:nvSpPr>
        <p:spPr>
          <a:xfrm>
            <a:off x="768008" y="2963311"/>
            <a:ext cx="3274948" cy="861774"/>
          </a:xfrm>
          <a:prstGeom prst="rect">
            <a:avLst/>
          </a:prstGeom>
          <a:solidFill>
            <a:srgbClr val="FFC000">
              <a:alpha val="7000"/>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①</a:t>
            </a:r>
            <a:r>
              <a:rPr kumimoji="1" lang="ja-JP" altLang="en-US" sz="1100" b="1">
                <a:latin typeface="Hiragino Sans W6" panose="020B0400000000000000" pitchFamily="34" charset="-128"/>
                <a:ea typeface="Hiragino Sans W6" panose="020B0400000000000000" pitchFamily="34" charset="-128"/>
              </a:rPr>
              <a:t>未来のプロデューサー像とは？</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形式：座談会</a:t>
            </a:r>
            <a:endParaRPr kumimoji="1" lang="en-US" altLang="ja-JP" sz="10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登壇：小嶋</a:t>
            </a:r>
            <a:r>
              <a:rPr kumimoji="1" lang="en-US" altLang="ja-JP" sz="1000" dirty="0">
                <a:latin typeface="Hiragino Sans W4" panose="020B0400000000000000" pitchFamily="34" charset="-128"/>
                <a:ea typeface="Hiragino Sans W4" panose="020B0400000000000000" pitchFamily="34" charset="-128"/>
              </a:rPr>
              <a:t>/</a:t>
            </a:r>
            <a:r>
              <a:rPr kumimoji="1" lang="ja-JP" altLang="en-US" sz="1000">
                <a:latin typeface="Hiragino Sans W4" panose="020B0400000000000000" pitchFamily="34" charset="-128"/>
                <a:ea typeface="Hiragino Sans W4" panose="020B0400000000000000" pitchFamily="34" charset="-128"/>
              </a:rPr>
              <a:t>井川</a:t>
            </a:r>
            <a:r>
              <a:rPr kumimoji="1" lang="en-US" altLang="ja-JP" sz="1000" dirty="0">
                <a:latin typeface="Hiragino Sans W4" panose="020B0400000000000000" pitchFamily="34" charset="-128"/>
                <a:ea typeface="Hiragino Sans W4" panose="020B0400000000000000" pitchFamily="34" charset="-128"/>
              </a:rPr>
              <a:t>/</a:t>
            </a:r>
            <a:r>
              <a:rPr kumimoji="1" lang="ja-JP" altLang="en-US" sz="1000">
                <a:latin typeface="Hiragino Sans W4" panose="020B0400000000000000" pitchFamily="34" charset="-128"/>
                <a:ea typeface="Hiragino Sans W4" panose="020B0400000000000000" pitchFamily="34" charset="-128"/>
              </a:rPr>
              <a:t>時田</a:t>
            </a:r>
            <a:r>
              <a:rPr kumimoji="1" lang="en-US" altLang="ja-JP" sz="1000" dirty="0">
                <a:latin typeface="Hiragino Sans W4" panose="020B0400000000000000" pitchFamily="34" charset="-128"/>
                <a:ea typeface="Hiragino Sans W4" panose="020B0400000000000000" pitchFamily="34" charset="-128"/>
              </a:rPr>
              <a:t> with </a:t>
            </a:r>
            <a:r>
              <a:rPr kumimoji="1" lang="ja-JP" altLang="en-US" sz="1000">
                <a:latin typeface="Hiragino Sans W4" panose="020B0400000000000000" pitchFamily="34" charset="-128"/>
                <a:ea typeface="Hiragino Sans W4" panose="020B0400000000000000" pitchFamily="34" charset="-128"/>
              </a:rPr>
              <a:t>聞き手</a:t>
            </a:r>
            <a:endParaRPr kumimoji="1" lang="en-US" altLang="ja-JP" sz="10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接続：舞台芸術おしごとナビ</a:t>
            </a:r>
            <a:endParaRPr kumimoji="1" lang="en-US" altLang="ja-JP" sz="1000" dirty="0">
              <a:latin typeface="Hiragino Sans W4" panose="020B0400000000000000" pitchFamily="34" charset="-128"/>
              <a:ea typeface="Hiragino Sans W4" panose="020B0400000000000000" pitchFamily="34" charset="-128"/>
            </a:endParaRPr>
          </a:p>
          <a:p>
            <a:pPr lvl="1"/>
            <a:r>
              <a:rPr kumimoji="1" lang="ja-JP" altLang="en-US" sz="800">
                <a:latin typeface="Hiragino Sans W4" panose="020B0400000000000000" pitchFamily="34" charset="-128"/>
                <a:ea typeface="Hiragino Sans W4" panose="020B0400000000000000" pitchFamily="34" charset="-128"/>
              </a:rPr>
              <a:t>＊将来の育成、海外展開</a:t>
            </a:r>
            <a:r>
              <a:rPr kumimoji="1" lang="en-US" altLang="ja-JP" sz="800" dirty="0">
                <a:latin typeface="Hiragino Sans W4" panose="020B0400000000000000" pitchFamily="34" charset="-128"/>
                <a:ea typeface="Hiragino Sans W4" panose="020B0400000000000000" pitchFamily="34" charset="-128"/>
              </a:rPr>
              <a:t>PT</a:t>
            </a:r>
            <a:r>
              <a:rPr kumimoji="1" lang="ja-JP" altLang="en-US" sz="800">
                <a:latin typeface="Hiragino Sans W4" panose="020B0400000000000000" pitchFamily="34" charset="-128"/>
                <a:ea typeface="Hiragino Sans W4" panose="020B0400000000000000" pitchFamily="34" charset="-128"/>
              </a:rPr>
              <a:t>の足掛かり</a:t>
            </a:r>
            <a:endParaRPr kumimoji="1" lang="en-US" altLang="ja-JP" sz="800" dirty="0">
              <a:latin typeface="Hiragino Sans W4" panose="020B0400000000000000" pitchFamily="34" charset="-128"/>
              <a:ea typeface="Hiragino Sans W4" panose="020B0400000000000000" pitchFamily="34" charset="-128"/>
            </a:endParaRPr>
          </a:p>
        </p:txBody>
      </p:sp>
      <p:sp>
        <p:nvSpPr>
          <p:cNvPr id="47" name="テキスト ボックス 46">
            <a:extLst>
              <a:ext uri="{FF2B5EF4-FFF2-40B4-BE49-F238E27FC236}">
                <a16:creationId xmlns:a16="http://schemas.microsoft.com/office/drawing/2014/main" id="{941C8F67-0F3C-4F5B-1BEC-1CDDB1C1D7CA}"/>
              </a:ext>
            </a:extLst>
          </p:cNvPr>
          <p:cNvSpPr txBox="1"/>
          <p:nvPr/>
        </p:nvSpPr>
        <p:spPr>
          <a:xfrm>
            <a:off x="781163" y="3944814"/>
            <a:ext cx="3274948" cy="569387"/>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②</a:t>
            </a:r>
            <a:r>
              <a:rPr kumimoji="1" lang="ja-JP" altLang="en-US" sz="1100" b="1">
                <a:latin typeface="Hiragino Sans W6" panose="020B0400000000000000" pitchFamily="34" charset="-128"/>
                <a:ea typeface="Hiragino Sans W6" panose="020B0400000000000000" pitchFamily="34" charset="-128"/>
              </a:rPr>
              <a:t>特別講義（</a:t>
            </a:r>
            <a:r>
              <a:rPr kumimoji="1" lang="en-US" altLang="ja-JP" sz="1100" b="1" dirty="0">
                <a:latin typeface="Hiragino Sans W6" panose="020B0400000000000000" pitchFamily="34" charset="-128"/>
                <a:ea typeface="Hiragino Sans W6" panose="020B0400000000000000" pitchFamily="34" charset="-128"/>
              </a:rPr>
              <a:t>A</a:t>
            </a:r>
            <a:r>
              <a:rPr kumimoji="1" lang="ja-JP" altLang="en-US" sz="1100" b="1">
                <a:latin typeface="Hiragino Sans W6" panose="020B0400000000000000" pitchFamily="34" charset="-128"/>
                <a:ea typeface="Hiragino Sans W6" panose="020B0400000000000000" pitchFamily="34" charset="-128"/>
              </a:rPr>
              <a:t>｜</a:t>
            </a:r>
            <a:r>
              <a:rPr kumimoji="1" lang="en-US" altLang="ja-JP" sz="1100" b="1" dirty="0">
                <a:latin typeface="Hiragino Sans W6" panose="020B0400000000000000" pitchFamily="34" charset="-128"/>
                <a:ea typeface="Hiragino Sans W6" panose="020B0400000000000000" pitchFamily="34" charset="-128"/>
              </a:rPr>
              <a:t>IP×</a:t>
            </a:r>
            <a:r>
              <a:rPr kumimoji="1" lang="ja-JP" altLang="en-US" sz="1100" b="1">
                <a:latin typeface="Hiragino Sans W6" panose="020B0400000000000000" pitchFamily="34" charset="-128"/>
                <a:ea typeface="Hiragino Sans W6" panose="020B0400000000000000" pitchFamily="34" charset="-128"/>
              </a:rPr>
              <a:t>契約）</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形式：講義形式</a:t>
            </a:r>
            <a:r>
              <a:rPr kumimoji="1" lang="en-US" altLang="ja-JP" sz="1000" dirty="0">
                <a:latin typeface="Hiragino Sans W4" panose="020B0400000000000000" pitchFamily="34" charset="-128"/>
                <a:ea typeface="Hiragino Sans W4" panose="020B0400000000000000" pitchFamily="34" charset="-128"/>
              </a:rPr>
              <a:t> or </a:t>
            </a:r>
            <a:r>
              <a:rPr kumimoji="1" lang="ja-JP" altLang="en-US" sz="1000">
                <a:latin typeface="Hiragino Sans W4" panose="020B0400000000000000" pitchFamily="34" charset="-128"/>
                <a:ea typeface="Hiragino Sans W4" panose="020B0400000000000000" pitchFamily="34" charset="-128"/>
              </a:rPr>
              <a:t>対談</a:t>
            </a:r>
            <a:endParaRPr kumimoji="1" lang="en-US" altLang="ja-JP" sz="10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000">
                <a:latin typeface="Hiragino Sans W4" panose="020B0400000000000000" pitchFamily="34" charset="-128"/>
                <a:ea typeface="Hiragino Sans W4" panose="020B0400000000000000" pitchFamily="34" charset="-128"/>
              </a:rPr>
              <a:t>登壇：プペル？トトロ？ライオンキング？</a:t>
            </a:r>
            <a:endParaRPr kumimoji="1" lang="en-US" altLang="ja-JP" sz="1000" dirty="0">
              <a:latin typeface="Hiragino Sans W4" panose="020B0400000000000000" pitchFamily="34" charset="-128"/>
              <a:ea typeface="Hiragino Sans W4" panose="020B0400000000000000" pitchFamily="34" charset="-128"/>
            </a:endParaRPr>
          </a:p>
        </p:txBody>
      </p:sp>
      <p:sp>
        <p:nvSpPr>
          <p:cNvPr id="49" name="テキスト ボックス 48">
            <a:extLst>
              <a:ext uri="{FF2B5EF4-FFF2-40B4-BE49-F238E27FC236}">
                <a16:creationId xmlns:a16="http://schemas.microsoft.com/office/drawing/2014/main" id="{BE23BA21-446E-AC85-F382-A4AE4CBAEEA7}"/>
              </a:ext>
            </a:extLst>
          </p:cNvPr>
          <p:cNvSpPr txBox="1"/>
          <p:nvPr/>
        </p:nvSpPr>
        <p:spPr>
          <a:xfrm>
            <a:off x="790042" y="4552438"/>
            <a:ext cx="3274948" cy="600164"/>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③</a:t>
            </a:r>
            <a:r>
              <a:rPr kumimoji="1" lang="ja-JP" altLang="en-US" sz="1100" b="1">
                <a:latin typeface="Hiragino Sans W6" panose="020B0400000000000000" pitchFamily="34" charset="-128"/>
                <a:ea typeface="Hiragino Sans W6" panose="020B0400000000000000" pitchFamily="34" charset="-128"/>
              </a:rPr>
              <a:t>特別講義（</a:t>
            </a:r>
            <a:r>
              <a:rPr kumimoji="1" lang="en-US" altLang="ja-JP" sz="1100" b="1" dirty="0">
                <a:latin typeface="Hiragino Sans W6" panose="020B0400000000000000" pitchFamily="34" charset="-128"/>
                <a:ea typeface="Hiragino Sans W6" panose="020B0400000000000000" pitchFamily="34" charset="-128"/>
              </a:rPr>
              <a:t>B</a:t>
            </a:r>
            <a:r>
              <a:rPr kumimoji="1" lang="ja-JP" altLang="en-US" sz="1100" b="1">
                <a:latin typeface="Hiragino Sans W6" panose="020B0400000000000000" pitchFamily="34" charset="-128"/>
                <a:ea typeface="Hiragino Sans W6" panose="020B0400000000000000" pitchFamily="34" charset="-128"/>
              </a:rPr>
              <a:t>｜ノンバーバル</a:t>
            </a:r>
            <a:r>
              <a:rPr kumimoji="1" lang="en-US" altLang="ja-JP" sz="1100" b="1" dirty="0">
                <a:latin typeface="Hiragino Sans W6" panose="020B0400000000000000" pitchFamily="34" charset="-128"/>
                <a:ea typeface="Hiragino Sans W6" panose="020B0400000000000000" pitchFamily="34" charset="-128"/>
              </a:rPr>
              <a:t>×</a:t>
            </a:r>
            <a:r>
              <a:rPr kumimoji="1" lang="ja-JP" altLang="en-US" sz="1100" b="1">
                <a:latin typeface="Hiragino Sans W6" panose="020B0400000000000000" pitchFamily="34" charset="-128"/>
                <a:ea typeface="Hiragino Sans W6" panose="020B0400000000000000" pitchFamily="34" charset="-128"/>
              </a:rPr>
              <a:t>フリンジ）</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形式：講義形式</a:t>
            </a:r>
            <a:r>
              <a:rPr kumimoji="1" lang="en-US" altLang="ja-JP" sz="1100" dirty="0">
                <a:latin typeface="Hiragino Sans W4" panose="020B0400000000000000" pitchFamily="34" charset="-128"/>
                <a:ea typeface="Hiragino Sans W4" panose="020B0400000000000000" pitchFamily="34" charset="-128"/>
              </a:rPr>
              <a:t> or </a:t>
            </a:r>
            <a:r>
              <a:rPr kumimoji="1" lang="ja-JP" altLang="en-US" sz="1100">
                <a:latin typeface="Hiragino Sans W4" panose="020B0400000000000000" pitchFamily="34" charset="-128"/>
                <a:ea typeface="Hiragino Sans W4" panose="020B0400000000000000" pitchFamily="34" charset="-128"/>
              </a:rPr>
              <a:t>対談</a:t>
            </a:r>
            <a:endParaRPr kumimoji="1" lang="en-US" altLang="ja-JP" sz="11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登壇：松田誠さん</a:t>
            </a:r>
            <a:endParaRPr kumimoji="1" lang="en-US" altLang="ja-JP" sz="1100" dirty="0">
              <a:latin typeface="Hiragino Sans W4" panose="020B0400000000000000" pitchFamily="34" charset="-128"/>
              <a:ea typeface="Hiragino Sans W4" panose="020B0400000000000000" pitchFamily="34" charset="-128"/>
            </a:endParaRPr>
          </a:p>
        </p:txBody>
      </p:sp>
      <p:sp>
        <p:nvSpPr>
          <p:cNvPr id="50" name="テキスト ボックス 49">
            <a:extLst>
              <a:ext uri="{FF2B5EF4-FFF2-40B4-BE49-F238E27FC236}">
                <a16:creationId xmlns:a16="http://schemas.microsoft.com/office/drawing/2014/main" id="{537C0BC8-C7A0-7143-F19F-A900F00D00AE}"/>
              </a:ext>
            </a:extLst>
          </p:cNvPr>
          <p:cNvSpPr txBox="1"/>
          <p:nvPr/>
        </p:nvSpPr>
        <p:spPr>
          <a:xfrm>
            <a:off x="790042" y="5179699"/>
            <a:ext cx="3274948" cy="600164"/>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④</a:t>
            </a:r>
            <a:r>
              <a:rPr kumimoji="1" lang="ja-JP" altLang="en-US" sz="1100" b="1">
                <a:latin typeface="Hiragino Sans W6" panose="020B0400000000000000" pitchFamily="34" charset="-128"/>
                <a:ea typeface="Hiragino Sans W6" panose="020B0400000000000000" pitchFamily="34" charset="-128"/>
              </a:rPr>
              <a:t>特別講義（</a:t>
            </a:r>
            <a:r>
              <a:rPr kumimoji="1" lang="en-US" altLang="ja-JP" sz="1100" b="1" dirty="0">
                <a:latin typeface="Hiragino Sans W6" panose="020B0400000000000000" pitchFamily="34" charset="-128"/>
                <a:ea typeface="Hiragino Sans W6" panose="020B0400000000000000" pitchFamily="34" charset="-128"/>
              </a:rPr>
              <a:t>C</a:t>
            </a:r>
            <a:r>
              <a:rPr kumimoji="1" lang="ja-JP" altLang="en-US" sz="1100" b="1">
                <a:latin typeface="Hiragino Sans W6" panose="020B0400000000000000" pitchFamily="34" charset="-128"/>
                <a:ea typeface="Hiragino Sans W6" panose="020B0400000000000000" pitchFamily="34" charset="-128"/>
              </a:rPr>
              <a:t>｜海外招聘</a:t>
            </a:r>
            <a:r>
              <a:rPr kumimoji="1" lang="en-US" altLang="ja-JP" sz="1100" b="1" dirty="0">
                <a:latin typeface="Hiragino Sans W6" panose="020B0400000000000000" pitchFamily="34" charset="-128"/>
                <a:ea typeface="Hiragino Sans W6" panose="020B0400000000000000" pitchFamily="34" charset="-128"/>
              </a:rPr>
              <a:t>×</a:t>
            </a:r>
            <a:r>
              <a:rPr kumimoji="1" lang="ja-JP" altLang="en-US" sz="1100" b="1">
                <a:latin typeface="Hiragino Sans W6" panose="020B0400000000000000" pitchFamily="34" charset="-128"/>
                <a:ea typeface="Hiragino Sans W6" panose="020B0400000000000000" pitchFamily="34" charset="-128"/>
              </a:rPr>
              <a:t>フェスティバル）</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形式：講義形式</a:t>
            </a:r>
            <a:r>
              <a:rPr kumimoji="1" lang="en-US" altLang="ja-JP" sz="1100" dirty="0">
                <a:latin typeface="Hiragino Sans W4" panose="020B0400000000000000" pitchFamily="34" charset="-128"/>
                <a:ea typeface="Hiragino Sans W4" panose="020B0400000000000000" pitchFamily="34" charset="-128"/>
              </a:rPr>
              <a:t> or </a:t>
            </a:r>
            <a:r>
              <a:rPr kumimoji="1" lang="ja-JP" altLang="en-US" sz="1100">
                <a:latin typeface="Hiragino Sans W4" panose="020B0400000000000000" pitchFamily="34" charset="-128"/>
                <a:ea typeface="Hiragino Sans W4" panose="020B0400000000000000" pitchFamily="34" charset="-128"/>
              </a:rPr>
              <a:t>対談</a:t>
            </a:r>
            <a:endParaRPr kumimoji="1" lang="en-US" altLang="ja-JP" sz="11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登壇：ももさん？</a:t>
            </a:r>
            <a:r>
              <a:rPr kumimoji="1" lang="ja-JP" altLang="en-US" sz="1000">
                <a:latin typeface="Hiragino Sans W4" panose="020B0400000000000000" pitchFamily="34" charset="-128"/>
                <a:ea typeface="Hiragino Sans W4" panose="020B0400000000000000" pitchFamily="34" charset="-128"/>
              </a:rPr>
              <a:t>（聞き手さえさん？）</a:t>
            </a:r>
            <a:endParaRPr kumimoji="1" lang="en-US" altLang="ja-JP" sz="1000" dirty="0">
              <a:latin typeface="Hiragino Sans W4" panose="020B0400000000000000" pitchFamily="34" charset="-128"/>
              <a:ea typeface="Hiragino Sans W4" panose="020B0400000000000000" pitchFamily="34" charset="-128"/>
            </a:endParaRPr>
          </a:p>
        </p:txBody>
      </p:sp>
      <p:sp>
        <p:nvSpPr>
          <p:cNvPr id="53" name="テキスト ボックス 52">
            <a:extLst>
              <a:ext uri="{FF2B5EF4-FFF2-40B4-BE49-F238E27FC236}">
                <a16:creationId xmlns:a16="http://schemas.microsoft.com/office/drawing/2014/main" id="{19A3ED24-3B50-4580-1368-E6BDE8420CD8}"/>
              </a:ext>
            </a:extLst>
          </p:cNvPr>
          <p:cNvSpPr txBox="1"/>
          <p:nvPr/>
        </p:nvSpPr>
        <p:spPr>
          <a:xfrm>
            <a:off x="789807" y="5918605"/>
            <a:ext cx="3274948" cy="600164"/>
          </a:xfrm>
          <a:prstGeom prst="rect">
            <a:avLst/>
          </a:prstGeom>
          <a:solidFill>
            <a:srgbClr val="00B0F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④SEED Lab</a:t>
            </a:r>
            <a:r>
              <a:rPr kumimoji="1" lang="ja-JP" altLang="en-US" sz="1100" b="1">
                <a:latin typeface="Hiragino Sans W6" panose="020B0400000000000000" pitchFamily="34" charset="-128"/>
                <a:ea typeface="Hiragino Sans W6" panose="020B0400000000000000" pitchFamily="34" charset="-128"/>
              </a:rPr>
              <a:t>（マーケティング）</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a:t>
            </a:r>
            <a:r>
              <a:rPr kumimoji="1" lang="ja-JP" altLang="en-US" sz="1000">
                <a:latin typeface="Hiragino Sans W4" panose="020B0400000000000000" pitchFamily="34" charset="-128"/>
                <a:ea typeface="Hiragino Sans W4" panose="020B0400000000000000" pitchFamily="34" charset="-128"/>
              </a:rPr>
              <a:t>ラウンドテーブル／グループワーク</a:t>
            </a:r>
            <a:endParaRPr kumimoji="1" lang="en-US" altLang="ja-JP" sz="10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進行：</a:t>
            </a:r>
            <a:r>
              <a:rPr kumimoji="1" lang="en-US" altLang="ja-JP" sz="1100" dirty="0">
                <a:latin typeface="Hiragino Sans W4" panose="020B0400000000000000" pitchFamily="34" charset="-128"/>
                <a:ea typeface="Hiragino Sans W4" panose="020B0400000000000000" pitchFamily="34" charset="-128"/>
              </a:rPr>
              <a:t>SEED</a:t>
            </a:r>
            <a:r>
              <a:rPr kumimoji="1" lang="ja-JP" altLang="en-US" sz="1100">
                <a:latin typeface="Hiragino Sans W4" panose="020B0400000000000000" pitchFamily="34" charset="-128"/>
                <a:ea typeface="Hiragino Sans W4" panose="020B0400000000000000" pitchFamily="34" charset="-128"/>
              </a:rPr>
              <a:t>事務局（高田／赤羽）</a:t>
            </a:r>
            <a:endParaRPr kumimoji="1" lang="en-US" altLang="ja-JP" sz="1000" dirty="0">
              <a:latin typeface="Hiragino Sans W4" panose="020B0400000000000000" pitchFamily="34" charset="-128"/>
              <a:ea typeface="Hiragino Sans W4" panose="020B0400000000000000" pitchFamily="34" charset="-128"/>
            </a:endParaRPr>
          </a:p>
        </p:txBody>
      </p:sp>
      <p:sp>
        <p:nvSpPr>
          <p:cNvPr id="62" name="テキスト ボックス 61">
            <a:extLst>
              <a:ext uri="{FF2B5EF4-FFF2-40B4-BE49-F238E27FC236}">
                <a16:creationId xmlns:a16="http://schemas.microsoft.com/office/drawing/2014/main" id="{F8EE5390-B7FD-441F-1500-8D34EBCA2A27}"/>
              </a:ext>
            </a:extLst>
          </p:cNvPr>
          <p:cNvSpPr txBox="1"/>
          <p:nvPr/>
        </p:nvSpPr>
        <p:spPr>
          <a:xfrm>
            <a:off x="5167146" y="3260022"/>
            <a:ext cx="3344424" cy="415498"/>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①SEED Lab</a:t>
            </a:r>
            <a:r>
              <a:rPr kumimoji="1" lang="ja-JP" altLang="en-US" sz="1100" b="1">
                <a:latin typeface="Hiragino Sans W6" panose="020B0400000000000000" pitchFamily="34" charset="-128"/>
                <a:ea typeface="Hiragino Sans W6" panose="020B0400000000000000" pitchFamily="34" charset="-128"/>
              </a:rPr>
              <a:t>（</a:t>
            </a:r>
            <a:r>
              <a:rPr kumimoji="1" lang="en-US" altLang="ja-JP" sz="1100" b="1" dirty="0">
                <a:latin typeface="Hiragino Sans W6" panose="020B0400000000000000" pitchFamily="34" charset="-128"/>
                <a:ea typeface="Hiragino Sans W6" panose="020B0400000000000000" pitchFamily="34" charset="-128"/>
              </a:rPr>
              <a:t>A</a:t>
            </a:r>
            <a:r>
              <a:rPr kumimoji="1" lang="ja-JP" altLang="en-US" sz="1100" b="1">
                <a:latin typeface="Hiragino Sans W6" panose="020B0400000000000000" pitchFamily="34" charset="-128"/>
                <a:ea typeface="Hiragino Sans W6" panose="020B0400000000000000" pitchFamily="34" charset="-128"/>
              </a:rPr>
              <a:t>｜</a:t>
            </a:r>
            <a:r>
              <a:rPr kumimoji="1" lang="en-US" altLang="ja-JP" sz="1100" b="1" dirty="0">
                <a:latin typeface="Hiragino Sans W6" panose="020B0400000000000000" pitchFamily="34" charset="-128"/>
                <a:ea typeface="Hiragino Sans W6" panose="020B0400000000000000" pitchFamily="34" charset="-128"/>
              </a:rPr>
              <a:t>IP×</a:t>
            </a:r>
            <a:r>
              <a:rPr kumimoji="1" lang="ja-JP" altLang="en-US" sz="1100" b="1">
                <a:latin typeface="Hiragino Sans W6" panose="020B0400000000000000" pitchFamily="34" charset="-128"/>
                <a:ea typeface="Hiragino Sans W6" panose="020B0400000000000000" pitchFamily="34" charset="-128"/>
              </a:rPr>
              <a:t>契約）</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en-US" altLang="ja-JP" sz="1000" dirty="0">
                <a:latin typeface="Hiragino Sans W4" panose="020B0400000000000000" pitchFamily="34" charset="-128"/>
                <a:ea typeface="Hiragino Sans W4" panose="020B0400000000000000" pitchFamily="34" charset="-128"/>
              </a:rPr>
              <a:t>Lab</a:t>
            </a:r>
            <a:r>
              <a:rPr kumimoji="1" lang="ja-JP" altLang="en-US" sz="1000">
                <a:latin typeface="Hiragino Sans W4" panose="020B0400000000000000" pitchFamily="34" charset="-128"/>
                <a:ea typeface="Hiragino Sans W4" panose="020B0400000000000000" pitchFamily="34" charset="-128"/>
              </a:rPr>
              <a:t>長：</a:t>
            </a:r>
            <a:endParaRPr kumimoji="1" lang="en-US" altLang="ja-JP" sz="1000" dirty="0">
              <a:latin typeface="Hiragino Sans W4" panose="020B0400000000000000" pitchFamily="34" charset="-128"/>
              <a:ea typeface="Hiragino Sans W4" panose="020B0400000000000000" pitchFamily="34" charset="-128"/>
            </a:endParaRPr>
          </a:p>
        </p:txBody>
      </p:sp>
      <p:sp>
        <p:nvSpPr>
          <p:cNvPr id="64" name="テキスト ボックス 63">
            <a:extLst>
              <a:ext uri="{FF2B5EF4-FFF2-40B4-BE49-F238E27FC236}">
                <a16:creationId xmlns:a16="http://schemas.microsoft.com/office/drawing/2014/main" id="{44567696-8885-7AD0-6795-306805B701F0}"/>
              </a:ext>
            </a:extLst>
          </p:cNvPr>
          <p:cNvSpPr txBox="1"/>
          <p:nvPr/>
        </p:nvSpPr>
        <p:spPr>
          <a:xfrm>
            <a:off x="5176025" y="3867646"/>
            <a:ext cx="3344424" cy="600164"/>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②SEED Lab </a:t>
            </a:r>
            <a:r>
              <a:rPr kumimoji="1" lang="ja-JP" altLang="en-US" sz="1100" b="1">
                <a:latin typeface="Hiragino Sans W6" panose="020B0400000000000000" pitchFamily="34" charset="-128"/>
                <a:ea typeface="Hiragino Sans W6" panose="020B0400000000000000" pitchFamily="34" charset="-128"/>
              </a:rPr>
              <a:t>（</a:t>
            </a:r>
            <a:r>
              <a:rPr kumimoji="1" lang="en-US" altLang="ja-JP" sz="1100" b="1" dirty="0">
                <a:latin typeface="Hiragino Sans W6" panose="020B0400000000000000" pitchFamily="34" charset="-128"/>
                <a:ea typeface="Hiragino Sans W6" panose="020B0400000000000000" pitchFamily="34" charset="-128"/>
              </a:rPr>
              <a:t>B</a:t>
            </a:r>
            <a:r>
              <a:rPr kumimoji="1" lang="ja-JP" altLang="en-US" sz="1100" b="1">
                <a:latin typeface="Hiragino Sans W6" panose="020B0400000000000000" pitchFamily="34" charset="-128"/>
                <a:ea typeface="Hiragino Sans W6" panose="020B0400000000000000" pitchFamily="34" charset="-128"/>
              </a:rPr>
              <a:t>｜ノンバーバル</a:t>
            </a:r>
            <a:r>
              <a:rPr kumimoji="1" lang="en-US" altLang="ja-JP" sz="1100" b="1" dirty="0">
                <a:latin typeface="Hiragino Sans W6" panose="020B0400000000000000" pitchFamily="34" charset="-128"/>
                <a:ea typeface="Hiragino Sans W6" panose="020B0400000000000000" pitchFamily="34" charset="-128"/>
              </a:rPr>
              <a:t>×</a:t>
            </a:r>
            <a:r>
              <a:rPr kumimoji="1" lang="ja-JP" altLang="en-US" sz="1100" b="1">
                <a:latin typeface="Hiragino Sans W6" panose="020B0400000000000000" pitchFamily="34" charset="-128"/>
                <a:ea typeface="Hiragino Sans W6" panose="020B0400000000000000" pitchFamily="34" charset="-128"/>
              </a:rPr>
              <a:t>フリンジ）</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形式：講義形式</a:t>
            </a:r>
            <a:r>
              <a:rPr kumimoji="1" lang="en-US" altLang="ja-JP" sz="1100" dirty="0">
                <a:latin typeface="Hiragino Sans W4" panose="020B0400000000000000" pitchFamily="34" charset="-128"/>
                <a:ea typeface="Hiragino Sans W4" panose="020B0400000000000000" pitchFamily="34" charset="-128"/>
              </a:rPr>
              <a:t> or </a:t>
            </a:r>
            <a:r>
              <a:rPr kumimoji="1" lang="ja-JP" altLang="en-US" sz="1100">
                <a:latin typeface="Hiragino Sans W4" panose="020B0400000000000000" pitchFamily="34" charset="-128"/>
                <a:ea typeface="Hiragino Sans W4" panose="020B0400000000000000" pitchFamily="34" charset="-128"/>
              </a:rPr>
              <a:t>対談</a:t>
            </a:r>
            <a:endParaRPr kumimoji="1" lang="en-US" altLang="ja-JP" sz="11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登壇：が～まるちょば？奥山さん？</a:t>
            </a:r>
            <a:endParaRPr kumimoji="1" lang="en-US" altLang="ja-JP" sz="1100" dirty="0">
              <a:latin typeface="Hiragino Sans W4" panose="020B0400000000000000" pitchFamily="34" charset="-128"/>
              <a:ea typeface="Hiragino Sans W4" panose="020B0400000000000000" pitchFamily="34" charset="-128"/>
            </a:endParaRPr>
          </a:p>
        </p:txBody>
      </p:sp>
      <p:sp>
        <p:nvSpPr>
          <p:cNvPr id="65" name="テキスト ボックス 64">
            <a:extLst>
              <a:ext uri="{FF2B5EF4-FFF2-40B4-BE49-F238E27FC236}">
                <a16:creationId xmlns:a16="http://schemas.microsoft.com/office/drawing/2014/main" id="{39650E6E-5D8D-4954-0098-4FBD0ED868B6}"/>
              </a:ext>
            </a:extLst>
          </p:cNvPr>
          <p:cNvSpPr txBox="1"/>
          <p:nvPr/>
        </p:nvSpPr>
        <p:spPr>
          <a:xfrm>
            <a:off x="5176025" y="4494907"/>
            <a:ext cx="3344424" cy="600164"/>
          </a:xfrm>
          <a:prstGeom prst="rect">
            <a:avLst/>
          </a:prstGeom>
          <a:solidFill>
            <a:srgbClr val="C0000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④ SEED Lab </a:t>
            </a:r>
            <a:r>
              <a:rPr kumimoji="1" lang="ja-JP" altLang="en-US" sz="1100" b="1">
                <a:latin typeface="Hiragino Sans W6" panose="020B0400000000000000" pitchFamily="34" charset="-128"/>
                <a:ea typeface="Hiragino Sans W6" panose="020B0400000000000000" pitchFamily="34" charset="-128"/>
              </a:rPr>
              <a:t>（</a:t>
            </a:r>
            <a:r>
              <a:rPr kumimoji="1" lang="en-US" altLang="ja-JP" sz="1100" b="1" dirty="0">
                <a:latin typeface="Hiragino Sans W6" panose="020B0400000000000000" pitchFamily="34" charset="-128"/>
                <a:ea typeface="Hiragino Sans W6" panose="020B0400000000000000" pitchFamily="34" charset="-128"/>
              </a:rPr>
              <a:t>C</a:t>
            </a:r>
            <a:r>
              <a:rPr kumimoji="1" lang="ja-JP" altLang="en-US" sz="1100" b="1">
                <a:latin typeface="Hiragino Sans W6" panose="020B0400000000000000" pitchFamily="34" charset="-128"/>
                <a:ea typeface="Hiragino Sans W6" panose="020B0400000000000000" pitchFamily="34" charset="-128"/>
              </a:rPr>
              <a:t>｜海外招聘</a:t>
            </a:r>
            <a:r>
              <a:rPr kumimoji="1" lang="en-US" altLang="ja-JP" sz="1100" b="1" dirty="0">
                <a:latin typeface="Hiragino Sans W6" panose="020B0400000000000000" pitchFamily="34" charset="-128"/>
                <a:ea typeface="Hiragino Sans W6" panose="020B0400000000000000" pitchFamily="34" charset="-128"/>
              </a:rPr>
              <a:t>×</a:t>
            </a:r>
            <a:r>
              <a:rPr kumimoji="1" lang="ja-JP" altLang="en-US" sz="1100" b="1">
                <a:latin typeface="Hiragino Sans W6" panose="020B0400000000000000" pitchFamily="34" charset="-128"/>
                <a:ea typeface="Hiragino Sans W6" panose="020B0400000000000000" pitchFamily="34" charset="-128"/>
              </a:rPr>
              <a:t>フェスティバル）</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形式：講義形式</a:t>
            </a:r>
            <a:r>
              <a:rPr kumimoji="1" lang="en-US" altLang="ja-JP" sz="1100" dirty="0">
                <a:latin typeface="Hiragino Sans W4" panose="020B0400000000000000" pitchFamily="34" charset="-128"/>
                <a:ea typeface="Hiragino Sans W4" panose="020B0400000000000000" pitchFamily="34" charset="-128"/>
              </a:rPr>
              <a:t> or </a:t>
            </a:r>
            <a:r>
              <a:rPr kumimoji="1" lang="ja-JP" altLang="en-US" sz="1100">
                <a:latin typeface="Hiragino Sans W4" panose="020B0400000000000000" pitchFamily="34" charset="-128"/>
                <a:ea typeface="Hiragino Sans W4" panose="020B0400000000000000" pitchFamily="34" charset="-128"/>
              </a:rPr>
              <a:t>対談</a:t>
            </a:r>
            <a:endParaRPr kumimoji="1" lang="en-US" altLang="ja-JP" sz="11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登壇：ももさん？</a:t>
            </a:r>
            <a:r>
              <a:rPr kumimoji="1" lang="ja-JP" altLang="en-US" sz="1000">
                <a:latin typeface="Hiragino Sans W4" panose="020B0400000000000000" pitchFamily="34" charset="-128"/>
                <a:ea typeface="Hiragino Sans W4" panose="020B0400000000000000" pitchFamily="34" charset="-128"/>
              </a:rPr>
              <a:t>（聞き手さえさん？）</a:t>
            </a:r>
            <a:endParaRPr kumimoji="1" lang="en-US" altLang="ja-JP" sz="1000" dirty="0">
              <a:latin typeface="Hiragino Sans W4" panose="020B0400000000000000" pitchFamily="34" charset="-128"/>
              <a:ea typeface="Hiragino Sans W4" panose="020B0400000000000000" pitchFamily="34" charset="-128"/>
            </a:endParaRPr>
          </a:p>
        </p:txBody>
      </p:sp>
      <p:sp>
        <p:nvSpPr>
          <p:cNvPr id="66" name="テキスト ボックス 65">
            <a:extLst>
              <a:ext uri="{FF2B5EF4-FFF2-40B4-BE49-F238E27FC236}">
                <a16:creationId xmlns:a16="http://schemas.microsoft.com/office/drawing/2014/main" id="{8D7C402F-1019-3E4E-2712-07FA7F525456}"/>
              </a:ext>
            </a:extLst>
          </p:cNvPr>
          <p:cNvSpPr txBox="1"/>
          <p:nvPr/>
        </p:nvSpPr>
        <p:spPr>
          <a:xfrm>
            <a:off x="5175790" y="5233813"/>
            <a:ext cx="3320234" cy="600164"/>
          </a:xfrm>
          <a:prstGeom prst="rect">
            <a:avLst/>
          </a:prstGeom>
          <a:solidFill>
            <a:srgbClr val="00B0F0">
              <a:alpha val="6568"/>
            </a:srgbClr>
          </a:solidFill>
          <a:ln>
            <a:noFill/>
          </a:ln>
        </p:spPr>
        <p:txBody>
          <a:bodyPr wrap="square" rtlCol="0">
            <a:spAutoFit/>
          </a:bodyPr>
          <a:lstStyle/>
          <a:p>
            <a:r>
              <a:rPr kumimoji="1" lang="en-US" altLang="ja-JP" sz="1100" b="1" dirty="0">
                <a:latin typeface="Hiragino Sans W6" panose="020B0400000000000000" pitchFamily="34" charset="-128"/>
                <a:ea typeface="Hiragino Sans W6" panose="020B0400000000000000" pitchFamily="34" charset="-128"/>
              </a:rPr>
              <a:t>④SEED Lab</a:t>
            </a:r>
            <a:r>
              <a:rPr kumimoji="1" lang="ja-JP" altLang="en-US" sz="1100" b="1">
                <a:latin typeface="Hiragino Sans W6" panose="020B0400000000000000" pitchFamily="34" charset="-128"/>
                <a:ea typeface="Hiragino Sans W6" panose="020B0400000000000000" pitchFamily="34" charset="-128"/>
              </a:rPr>
              <a:t>（マーケティング）</a:t>
            </a:r>
            <a:endParaRPr kumimoji="1" lang="en-US" altLang="ja-JP" sz="1100" b="1" dirty="0">
              <a:latin typeface="Hiragino Sans W6" panose="020B0400000000000000" pitchFamily="34" charset="-128"/>
              <a:ea typeface="Hiragino Sans W6"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形式：</a:t>
            </a:r>
            <a:r>
              <a:rPr kumimoji="1" lang="ja-JP" altLang="en-US" sz="1000">
                <a:latin typeface="Hiragino Sans W4" panose="020B0400000000000000" pitchFamily="34" charset="-128"/>
                <a:ea typeface="Hiragino Sans W4" panose="020B0400000000000000" pitchFamily="34" charset="-128"/>
              </a:rPr>
              <a:t>ラウンドテーブル／グループワーク</a:t>
            </a:r>
            <a:endParaRPr kumimoji="1" lang="en-US" altLang="ja-JP" sz="1000" dirty="0">
              <a:latin typeface="Hiragino Sans W4" panose="020B0400000000000000" pitchFamily="34" charset="-128"/>
              <a:ea typeface="Hiragino Sans W4" panose="020B0400000000000000" pitchFamily="34" charset="-128"/>
            </a:endParaRPr>
          </a:p>
          <a:p>
            <a:pPr marL="628650" lvl="1" indent="-171450">
              <a:buFont typeface="Arial" panose="020B0604020202020204" pitchFamily="34" charset="0"/>
              <a:buChar char="•"/>
            </a:pPr>
            <a:r>
              <a:rPr kumimoji="1" lang="ja-JP" altLang="en-US" sz="1100">
                <a:latin typeface="Hiragino Sans W4" panose="020B0400000000000000" pitchFamily="34" charset="-128"/>
                <a:ea typeface="Hiragino Sans W4" panose="020B0400000000000000" pitchFamily="34" charset="-128"/>
              </a:rPr>
              <a:t>進行：</a:t>
            </a:r>
            <a:r>
              <a:rPr kumimoji="1" lang="en-US" altLang="ja-JP" sz="1100" dirty="0">
                <a:latin typeface="Hiragino Sans W4" panose="020B0400000000000000" pitchFamily="34" charset="-128"/>
                <a:ea typeface="Hiragino Sans W4" panose="020B0400000000000000" pitchFamily="34" charset="-128"/>
              </a:rPr>
              <a:t>SEED</a:t>
            </a:r>
            <a:r>
              <a:rPr kumimoji="1" lang="ja-JP" altLang="en-US" sz="1100">
                <a:latin typeface="Hiragino Sans W4" panose="020B0400000000000000" pitchFamily="34" charset="-128"/>
                <a:ea typeface="Hiragino Sans W4" panose="020B0400000000000000" pitchFamily="34" charset="-128"/>
              </a:rPr>
              <a:t>事務局（高田／赤羽）</a:t>
            </a:r>
            <a:endParaRPr kumimoji="1" lang="en-US" altLang="ja-JP" sz="1000" dirty="0">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306799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013B-6D5F-7015-C523-7E7F09D4B67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51DAF2-2226-2F04-A986-083DE73EF16B}"/>
              </a:ext>
            </a:extLst>
          </p:cNvPr>
          <p:cNvSpPr txBox="1"/>
          <p:nvPr/>
        </p:nvSpPr>
        <p:spPr>
          <a:xfrm>
            <a:off x="367900" y="334240"/>
            <a:ext cx="4003019"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プログラム案｜プロデューサー講座</a:t>
            </a:r>
          </a:p>
        </p:txBody>
      </p:sp>
      <p:cxnSp>
        <p:nvCxnSpPr>
          <p:cNvPr id="37" name="直線コネクタ 36">
            <a:extLst>
              <a:ext uri="{FF2B5EF4-FFF2-40B4-BE49-F238E27FC236}">
                <a16:creationId xmlns:a16="http://schemas.microsoft.com/office/drawing/2014/main" id="{09F61ED3-B1B0-6C77-A1E9-A85BCC1343F7}"/>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ACD61FC1-C943-0214-FE36-2F0A8BACFDD4}"/>
              </a:ext>
            </a:extLst>
          </p:cNvPr>
          <p:cNvSpPr txBox="1"/>
          <p:nvPr/>
        </p:nvSpPr>
        <p:spPr>
          <a:xfrm>
            <a:off x="4222226" y="380407"/>
            <a:ext cx="2677336" cy="276999"/>
          </a:xfrm>
          <a:prstGeom prst="rect">
            <a:avLst/>
          </a:prstGeom>
          <a:noFill/>
        </p:spPr>
        <p:txBody>
          <a:bodyPr wrap="none" rtlCol="0">
            <a:spAutoFit/>
          </a:bodyPr>
          <a:lstStyle/>
          <a:p>
            <a:r>
              <a:rPr kumimoji="1" lang="en-US" altLang="ja-JP" sz="1200" b="1" dirty="0">
                <a:latin typeface="Hiragino Sans W6" panose="020B0400000000000000" pitchFamily="34" charset="-128"/>
                <a:ea typeface="Hiragino Sans W6" panose="020B0400000000000000" pitchFamily="34" charset="-128"/>
              </a:rPr>
              <a:t>〜</a:t>
            </a:r>
            <a:r>
              <a:rPr kumimoji="1" lang="ja-JP" altLang="en-US" sz="1200" b="1">
                <a:latin typeface="Hiragino Sans W6" panose="020B0400000000000000" pitchFamily="34" charset="-128"/>
                <a:ea typeface="Hiragino Sans W6" panose="020B0400000000000000" pitchFamily="34" charset="-128"/>
              </a:rPr>
              <a:t>プロデューサーの</a:t>
            </a:r>
            <a:r>
              <a:rPr kumimoji="1" lang="en-US" altLang="ja-JP" sz="1200" b="1" dirty="0">
                <a:latin typeface="Hiragino Sans W6" panose="020B0400000000000000" pitchFamily="34" charset="-128"/>
                <a:ea typeface="Hiragino Sans W6" panose="020B0400000000000000" pitchFamily="34" charset="-128"/>
              </a:rPr>
              <a:t>To be </a:t>
            </a:r>
            <a:r>
              <a:rPr kumimoji="1" lang="ja-JP" altLang="en-US" sz="1200" b="1">
                <a:latin typeface="Hiragino Sans W6" panose="020B0400000000000000" pitchFamily="34" charset="-128"/>
                <a:ea typeface="Hiragino Sans W6" panose="020B0400000000000000" pitchFamily="34" charset="-128"/>
              </a:rPr>
              <a:t>モデル</a:t>
            </a:r>
            <a:r>
              <a:rPr kumimoji="1" lang="en-US" altLang="ja-JP" sz="1200" b="1" dirty="0">
                <a:latin typeface="Hiragino Sans W6" panose="020B0400000000000000" pitchFamily="34" charset="-128"/>
                <a:ea typeface="Hiragino Sans W6" panose="020B0400000000000000" pitchFamily="34" charset="-128"/>
              </a:rPr>
              <a:t>〜</a:t>
            </a:r>
            <a:endParaRPr kumimoji="1" lang="ja-JP" altLang="en-US" sz="1200" b="1">
              <a:latin typeface="Hiragino Sans W6" panose="020B0400000000000000" pitchFamily="34" charset="-128"/>
              <a:ea typeface="Hiragino Sans W6" panose="020B0400000000000000" pitchFamily="34" charset="-128"/>
            </a:endParaRPr>
          </a:p>
        </p:txBody>
      </p:sp>
      <p:sp>
        <p:nvSpPr>
          <p:cNvPr id="26" name="テキスト ボックス 25">
            <a:extLst>
              <a:ext uri="{FF2B5EF4-FFF2-40B4-BE49-F238E27FC236}">
                <a16:creationId xmlns:a16="http://schemas.microsoft.com/office/drawing/2014/main" id="{690C94F8-BE77-F637-81FF-BC4859614377}"/>
              </a:ext>
            </a:extLst>
          </p:cNvPr>
          <p:cNvSpPr txBox="1"/>
          <p:nvPr/>
        </p:nvSpPr>
        <p:spPr>
          <a:xfrm>
            <a:off x="492552" y="1068764"/>
            <a:ext cx="8935653" cy="1641513"/>
          </a:xfrm>
          <a:prstGeom prst="rect">
            <a:avLst/>
          </a:prstGeom>
          <a:noFill/>
          <a:ln w="38100">
            <a:solidFill>
              <a:schemeClr val="bg1">
                <a:lumMod val="65000"/>
              </a:schemeClr>
            </a:solidFill>
          </a:ln>
        </p:spPr>
        <p:txBody>
          <a:bodyPr wrap="square" rtlCol="0">
            <a:spAutoFit/>
          </a:bodyPr>
          <a:lstStyle/>
          <a:p>
            <a:endParaRPr kumimoji="1" lang="ja-JP" altLang="en-US"/>
          </a:p>
        </p:txBody>
      </p:sp>
      <p:sp>
        <p:nvSpPr>
          <p:cNvPr id="30" name="角丸四角形 29">
            <a:extLst>
              <a:ext uri="{FF2B5EF4-FFF2-40B4-BE49-F238E27FC236}">
                <a16:creationId xmlns:a16="http://schemas.microsoft.com/office/drawing/2014/main" id="{67678A6A-F410-EC38-04DE-8DF5AF7EE2E7}"/>
              </a:ext>
            </a:extLst>
          </p:cNvPr>
          <p:cNvSpPr/>
          <p:nvPr/>
        </p:nvSpPr>
        <p:spPr>
          <a:xfrm>
            <a:off x="609861" y="899337"/>
            <a:ext cx="2948971" cy="332132"/>
          </a:xfrm>
          <a:prstGeom prst="roundRect">
            <a:avLst>
              <a:gd name="adj" fmla="val 50000"/>
            </a:avLst>
          </a:prstGeom>
          <a:solidFill>
            <a:srgbClr val="F8BB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b="1" dirty="0">
                <a:latin typeface="Hiragino Sans W6" panose="020B0400000000000000" pitchFamily="34" charset="-128"/>
                <a:ea typeface="Hiragino Sans W6" panose="020B0400000000000000" pitchFamily="34" charset="-128"/>
              </a:rPr>
              <a:t>【A】IP×</a:t>
            </a:r>
            <a:r>
              <a:rPr kumimoji="1" lang="ja-JP" altLang="en-US" sz="1400" b="1">
                <a:latin typeface="Hiragino Sans W6" panose="020B0400000000000000" pitchFamily="34" charset="-128"/>
                <a:ea typeface="Hiragino Sans W6" panose="020B0400000000000000" pitchFamily="34" charset="-128"/>
              </a:rPr>
              <a:t>国際共同製作</a:t>
            </a:r>
          </a:p>
        </p:txBody>
      </p:sp>
      <p:sp>
        <p:nvSpPr>
          <p:cNvPr id="39" name="テキスト ボックス 38">
            <a:extLst>
              <a:ext uri="{FF2B5EF4-FFF2-40B4-BE49-F238E27FC236}">
                <a16:creationId xmlns:a16="http://schemas.microsoft.com/office/drawing/2014/main" id="{9CEA4EFE-417B-C903-173F-9F23667E1B61}"/>
              </a:ext>
            </a:extLst>
          </p:cNvPr>
          <p:cNvSpPr txBox="1"/>
          <p:nvPr/>
        </p:nvSpPr>
        <p:spPr>
          <a:xfrm>
            <a:off x="492552" y="3016836"/>
            <a:ext cx="8935653" cy="1641513"/>
          </a:xfrm>
          <a:prstGeom prst="rect">
            <a:avLst/>
          </a:prstGeom>
          <a:noFill/>
          <a:ln w="38100">
            <a:solidFill>
              <a:schemeClr val="bg1">
                <a:lumMod val="65000"/>
              </a:schemeClr>
            </a:solidFill>
          </a:ln>
        </p:spPr>
        <p:txBody>
          <a:bodyPr wrap="square" rtlCol="0">
            <a:spAutoFit/>
          </a:bodyPr>
          <a:lstStyle/>
          <a:p>
            <a:endParaRPr kumimoji="1" lang="ja-JP" altLang="en-US"/>
          </a:p>
        </p:txBody>
      </p:sp>
      <p:sp>
        <p:nvSpPr>
          <p:cNvPr id="40" name="角丸四角形 39">
            <a:extLst>
              <a:ext uri="{FF2B5EF4-FFF2-40B4-BE49-F238E27FC236}">
                <a16:creationId xmlns:a16="http://schemas.microsoft.com/office/drawing/2014/main" id="{8881A3E8-3338-BE6E-4DF8-27437EFC447B}"/>
              </a:ext>
            </a:extLst>
          </p:cNvPr>
          <p:cNvSpPr/>
          <p:nvPr/>
        </p:nvSpPr>
        <p:spPr>
          <a:xfrm>
            <a:off x="598844" y="2869444"/>
            <a:ext cx="5218061" cy="314431"/>
          </a:xfrm>
          <a:prstGeom prst="roundRect">
            <a:avLst>
              <a:gd name="adj" fmla="val 50000"/>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b="1" dirty="0">
                <a:latin typeface="Hiragino Sans W6" panose="020B0400000000000000" pitchFamily="34" charset="-128"/>
                <a:ea typeface="Hiragino Sans W6" panose="020B0400000000000000" pitchFamily="34" charset="-128"/>
              </a:rPr>
              <a:t>【B】</a:t>
            </a:r>
            <a:r>
              <a:rPr kumimoji="1" lang="ja-JP" altLang="en-US" sz="1400" b="1">
                <a:latin typeface="Hiragino Sans W6" panose="020B0400000000000000" pitchFamily="34" charset="-128"/>
                <a:ea typeface="Hiragino Sans W6" panose="020B0400000000000000" pitchFamily="34" charset="-128"/>
              </a:rPr>
              <a:t>国内インバウンドをテストマーケットにフリンジ展開</a:t>
            </a:r>
          </a:p>
        </p:txBody>
      </p:sp>
      <p:sp>
        <p:nvSpPr>
          <p:cNvPr id="44" name="テキスト ボックス 43">
            <a:extLst>
              <a:ext uri="{FF2B5EF4-FFF2-40B4-BE49-F238E27FC236}">
                <a16:creationId xmlns:a16="http://schemas.microsoft.com/office/drawing/2014/main" id="{D0911513-BF66-E1E7-E3E4-B72E8AAFCE82}"/>
              </a:ext>
            </a:extLst>
          </p:cNvPr>
          <p:cNvSpPr txBox="1"/>
          <p:nvPr/>
        </p:nvSpPr>
        <p:spPr>
          <a:xfrm>
            <a:off x="492552" y="4975925"/>
            <a:ext cx="8935653" cy="1641513"/>
          </a:xfrm>
          <a:prstGeom prst="rect">
            <a:avLst/>
          </a:prstGeom>
          <a:noFill/>
          <a:ln w="38100">
            <a:solidFill>
              <a:schemeClr val="bg1">
                <a:lumMod val="65000"/>
              </a:schemeClr>
            </a:solidFill>
          </a:ln>
        </p:spPr>
        <p:txBody>
          <a:bodyPr wrap="square" rtlCol="0">
            <a:spAutoFit/>
          </a:bodyPr>
          <a:lstStyle/>
          <a:p>
            <a:endParaRPr kumimoji="1" lang="ja-JP" altLang="en-US"/>
          </a:p>
        </p:txBody>
      </p:sp>
      <p:sp>
        <p:nvSpPr>
          <p:cNvPr id="45" name="角丸四角形 44">
            <a:extLst>
              <a:ext uri="{FF2B5EF4-FFF2-40B4-BE49-F238E27FC236}">
                <a16:creationId xmlns:a16="http://schemas.microsoft.com/office/drawing/2014/main" id="{1854800B-DE47-F1E6-0956-F38A4F95E2A1}"/>
              </a:ext>
            </a:extLst>
          </p:cNvPr>
          <p:cNvSpPr/>
          <p:nvPr/>
        </p:nvSpPr>
        <p:spPr>
          <a:xfrm>
            <a:off x="631895" y="4817514"/>
            <a:ext cx="4369762" cy="327363"/>
          </a:xfrm>
          <a:prstGeom prst="roundRect">
            <a:avLst>
              <a:gd name="adj"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b="1" dirty="0">
                <a:latin typeface="Hiragino Sans W6" panose="020B0400000000000000" pitchFamily="34" charset="-128"/>
                <a:ea typeface="Hiragino Sans W6" panose="020B0400000000000000" pitchFamily="34" charset="-128"/>
              </a:rPr>
              <a:t>【C】</a:t>
            </a:r>
            <a:r>
              <a:rPr kumimoji="1" lang="ja-JP" altLang="en-US" sz="1400" b="1">
                <a:latin typeface="Hiragino Sans W6" panose="020B0400000000000000" pitchFamily="34" charset="-128"/>
                <a:ea typeface="Hiragino Sans W6" panose="020B0400000000000000" pitchFamily="34" charset="-128"/>
              </a:rPr>
              <a:t>海外招聘公演やフェスティバルのツアー</a:t>
            </a:r>
          </a:p>
        </p:txBody>
      </p:sp>
      <p:sp>
        <p:nvSpPr>
          <p:cNvPr id="47" name="テキスト ボックス 46">
            <a:extLst>
              <a:ext uri="{FF2B5EF4-FFF2-40B4-BE49-F238E27FC236}">
                <a16:creationId xmlns:a16="http://schemas.microsoft.com/office/drawing/2014/main" id="{661F5EDF-3F79-308F-4259-B7CF111D8796}"/>
              </a:ext>
            </a:extLst>
          </p:cNvPr>
          <p:cNvSpPr txBox="1"/>
          <p:nvPr/>
        </p:nvSpPr>
        <p:spPr>
          <a:xfrm>
            <a:off x="543292" y="1319661"/>
            <a:ext cx="8939114" cy="276999"/>
          </a:xfrm>
          <a:prstGeom prst="rect">
            <a:avLst/>
          </a:prstGeom>
          <a:noFill/>
        </p:spPr>
        <p:txBody>
          <a:bodyPr wrap="none" rtlCol="0">
            <a:spAutoFit/>
          </a:bodyPr>
          <a:lstStyle/>
          <a:p>
            <a:r>
              <a:rPr lang="ja-JP" altLang="en-US" sz="1200" b="1"/>
              <a:t>日本にしかない</a:t>
            </a:r>
            <a:r>
              <a:rPr lang="en" altLang="ja-JP" sz="1200" b="1" dirty="0"/>
              <a:t>IP</a:t>
            </a:r>
            <a:r>
              <a:rPr lang="ja-JP" altLang="en-US" sz="1200" b="1"/>
              <a:t>を持ち込み、</a:t>
            </a:r>
            <a:r>
              <a:rPr lang="en" altLang="ja-JP" sz="1200" b="1" dirty="0"/>
              <a:t>Transfer</a:t>
            </a:r>
            <a:r>
              <a:rPr lang="ja-JP" altLang="en-US" sz="1200" b="1"/>
              <a:t>装置（</a:t>
            </a:r>
            <a:r>
              <a:rPr lang="en" altLang="ja-JP" sz="1200" b="1" dirty="0"/>
              <a:t>NT</a:t>
            </a:r>
            <a:r>
              <a:rPr lang="ja-JP" altLang="en" sz="1200" b="1"/>
              <a:t>・</a:t>
            </a:r>
            <a:r>
              <a:rPr lang="en" altLang="ja-JP" sz="1200" b="1" dirty="0"/>
              <a:t>Barbican</a:t>
            </a:r>
            <a:r>
              <a:rPr lang="ja-JP" altLang="en-US" sz="1200" b="1"/>
              <a:t>等）と国際共同制作を設計し、商業市場に接続するプロデューサー</a:t>
            </a:r>
            <a:endParaRPr kumimoji="1" lang="ja-JP" altLang="en-US" sz="1200"/>
          </a:p>
        </p:txBody>
      </p:sp>
      <p:sp>
        <p:nvSpPr>
          <p:cNvPr id="48" name="テキスト ボックス 47">
            <a:extLst>
              <a:ext uri="{FF2B5EF4-FFF2-40B4-BE49-F238E27FC236}">
                <a16:creationId xmlns:a16="http://schemas.microsoft.com/office/drawing/2014/main" id="{39F7E305-AC26-479D-FF76-49DCA75DF60D}"/>
              </a:ext>
            </a:extLst>
          </p:cNvPr>
          <p:cNvSpPr txBox="1"/>
          <p:nvPr/>
        </p:nvSpPr>
        <p:spPr>
          <a:xfrm>
            <a:off x="565326" y="3281865"/>
            <a:ext cx="8016938" cy="276999"/>
          </a:xfrm>
          <a:prstGeom prst="rect">
            <a:avLst/>
          </a:prstGeom>
          <a:noFill/>
        </p:spPr>
        <p:txBody>
          <a:bodyPr wrap="none" rtlCol="0">
            <a:spAutoFit/>
          </a:bodyPr>
          <a:lstStyle/>
          <a:p>
            <a:r>
              <a:rPr lang="ja-JP" altLang="en-US" sz="1200" b="1"/>
              <a:t>ノンバーバル作品をインバウンドでテストし、フリンジ経由で世界展開する</a:t>
            </a:r>
            <a:r>
              <a:rPr lang="en" altLang="ja-JP" sz="1200" b="1" dirty="0"/>
              <a:t>IP</a:t>
            </a:r>
            <a:r>
              <a:rPr lang="ja-JP" altLang="en-US" sz="1200" b="1"/>
              <a:t>として設計・育てるプロデューサー</a:t>
            </a:r>
            <a:endParaRPr kumimoji="1" lang="ja-JP" altLang="en-US" sz="1200"/>
          </a:p>
        </p:txBody>
      </p:sp>
      <p:sp>
        <p:nvSpPr>
          <p:cNvPr id="49" name="テキスト ボックス 48">
            <a:extLst>
              <a:ext uri="{FF2B5EF4-FFF2-40B4-BE49-F238E27FC236}">
                <a16:creationId xmlns:a16="http://schemas.microsoft.com/office/drawing/2014/main" id="{F2303C1F-D57B-9BC7-FA6D-902C0507BEA6}"/>
              </a:ext>
            </a:extLst>
          </p:cNvPr>
          <p:cNvSpPr txBox="1"/>
          <p:nvPr/>
        </p:nvSpPr>
        <p:spPr>
          <a:xfrm>
            <a:off x="532742" y="5228380"/>
            <a:ext cx="8956298" cy="276999"/>
          </a:xfrm>
          <a:prstGeom prst="rect">
            <a:avLst/>
          </a:prstGeom>
          <a:noFill/>
        </p:spPr>
        <p:txBody>
          <a:bodyPr wrap="none" rtlCol="0">
            <a:spAutoFit/>
          </a:bodyPr>
          <a:lstStyle/>
          <a:p>
            <a:r>
              <a:rPr lang="ja-JP" altLang="en-US" sz="1200" b="1"/>
              <a:t>国際フェスティバルのキュレーターと長期信頼関係を築き、強い日本固有文脈を持つ作品を国際舞台に送り出すプロデューサー</a:t>
            </a:r>
            <a:endParaRPr kumimoji="1" lang="ja-JP" altLang="en-US" sz="1200"/>
          </a:p>
        </p:txBody>
      </p:sp>
    </p:spTree>
    <p:extLst>
      <p:ext uri="{BB962C8B-B14F-4D97-AF65-F5344CB8AC3E}">
        <p14:creationId xmlns:p14="http://schemas.microsoft.com/office/powerpoint/2010/main" val="2177840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9C0DB4-2D81-E012-48D6-7C4ECF06B67B}"/>
            </a:ext>
          </a:extLst>
        </p:cNvPr>
        <p:cNvGrpSpPr/>
        <p:nvPr/>
      </p:nvGrpSpPr>
      <p:grpSpPr>
        <a:xfrm>
          <a:off x="0" y="0"/>
          <a:ext cx="0" cy="0"/>
          <a:chOff x="0" y="0"/>
          <a:chExt cx="0" cy="0"/>
        </a:xfrm>
      </p:grpSpPr>
      <p:sp>
        <p:nvSpPr>
          <p:cNvPr id="2" name="円/楕円 1">
            <a:extLst>
              <a:ext uri="{FF2B5EF4-FFF2-40B4-BE49-F238E27FC236}">
                <a16:creationId xmlns:a16="http://schemas.microsoft.com/office/drawing/2014/main" id="{8A8E9F6C-110B-C587-B978-353AF49ED6E9}"/>
              </a:ext>
            </a:extLst>
          </p:cNvPr>
          <p:cNvSpPr/>
          <p:nvPr/>
        </p:nvSpPr>
        <p:spPr>
          <a:xfrm>
            <a:off x="374462" y="4578388"/>
            <a:ext cx="825180" cy="82518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44C50164-F333-9CA1-6195-43753032A4BF}"/>
              </a:ext>
            </a:extLst>
          </p:cNvPr>
          <p:cNvSpPr/>
          <p:nvPr/>
        </p:nvSpPr>
        <p:spPr>
          <a:xfrm>
            <a:off x="374462" y="3143871"/>
            <a:ext cx="825180" cy="82518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95F64C0-E65F-17B0-4B09-F152176079FC}"/>
              </a:ext>
            </a:extLst>
          </p:cNvPr>
          <p:cNvSpPr txBox="1"/>
          <p:nvPr/>
        </p:nvSpPr>
        <p:spPr>
          <a:xfrm>
            <a:off x="367900" y="334240"/>
            <a:ext cx="4339650"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プログラム案｜リサーチャーゼミの価値</a:t>
            </a:r>
          </a:p>
        </p:txBody>
      </p:sp>
      <p:cxnSp>
        <p:nvCxnSpPr>
          <p:cNvPr id="37" name="直線コネクタ 36">
            <a:extLst>
              <a:ext uri="{FF2B5EF4-FFF2-40B4-BE49-F238E27FC236}">
                <a16:creationId xmlns:a16="http://schemas.microsoft.com/office/drawing/2014/main" id="{201FDE78-7864-B9D1-15B7-B6169046F0ED}"/>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円/楕円 6">
            <a:extLst>
              <a:ext uri="{FF2B5EF4-FFF2-40B4-BE49-F238E27FC236}">
                <a16:creationId xmlns:a16="http://schemas.microsoft.com/office/drawing/2014/main" id="{B6422E6B-6982-98D7-031F-15C0087C3340}"/>
              </a:ext>
            </a:extLst>
          </p:cNvPr>
          <p:cNvSpPr/>
          <p:nvPr/>
        </p:nvSpPr>
        <p:spPr>
          <a:xfrm>
            <a:off x="374462" y="1679311"/>
            <a:ext cx="825180" cy="82518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9DF154E-13BF-08F9-1C41-4BBE99500B0A}"/>
              </a:ext>
            </a:extLst>
          </p:cNvPr>
          <p:cNvSpPr txBox="1"/>
          <p:nvPr/>
        </p:nvSpPr>
        <p:spPr>
          <a:xfrm>
            <a:off x="367900" y="334240"/>
            <a:ext cx="3647152"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プログラム案｜リサーチャーゼミ</a:t>
            </a:r>
          </a:p>
        </p:txBody>
      </p:sp>
      <p:cxnSp>
        <p:nvCxnSpPr>
          <p:cNvPr id="9" name="直線コネクタ 8">
            <a:extLst>
              <a:ext uri="{FF2B5EF4-FFF2-40B4-BE49-F238E27FC236}">
                <a16:creationId xmlns:a16="http://schemas.microsoft.com/office/drawing/2014/main" id="{2E08C44D-4E99-149B-449B-04E91B4943A7}"/>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8C28BEE8-C923-E547-AE94-CEE60A0CF96A}"/>
              </a:ext>
            </a:extLst>
          </p:cNvPr>
          <p:cNvSpPr txBox="1"/>
          <p:nvPr/>
        </p:nvSpPr>
        <p:spPr>
          <a:xfrm>
            <a:off x="1264877" y="1423955"/>
            <a:ext cx="3984181" cy="738664"/>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企画の立ち上げ</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テーマに基づく知見</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solidFill>
                  <a:srgbClr val="C00000"/>
                </a:solidFill>
                <a:latin typeface="Hiragino Sans W6" panose="020B0400000000000000" pitchFamily="34" charset="-128"/>
                <a:ea typeface="Hiragino Sans W6" panose="020B0400000000000000" pitchFamily="34" charset="-128"/>
              </a:rPr>
              <a:t>クリティカルシンキングの訓練</a:t>
            </a:r>
            <a:endParaRPr kumimoji="1" lang="en-US" altLang="ja-JP" sz="1600" b="1" dirty="0">
              <a:solidFill>
                <a:srgbClr val="C00000"/>
              </a:solidFill>
              <a:latin typeface="Hiragino Sans W6" panose="020B0400000000000000" pitchFamily="34" charset="-128"/>
              <a:ea typeface="Hiragino Sans W6" panose="020B0400000000000000" pitchFamily="34" charset="-128"/>
            </a:endParaRPr>
          </a:p>
        </p:txBody>
      </p:sp>
      <p:sp>
        <p:nvSpPr>
          <p:cNvPr id="13" name="テキスト ボックス 12">
            <a:extLst>
              <a:ext uri="{FF2B5EF4-FFF2-40B4-BE49-F238E27FC236}">
                <a16:creationId xmlns:a16="http://schemas.microsoft.com/office/drawing/2014/main" id="{5E4AEE52-D6F8-1DDB-7ECA-5B9ACF391E03}"/>
              </a:ext>
            </a:extLst>
          </p:cNvPr>
          <p:cNvSpPr txBox="1"/>
          <p:nvPr/>
        </p:nvSpPr>
        <p:spPr>
          <a:xfrm>
            <a:off x="5249058" y="1393728"/>
            <a:ext cx="4167061" cy="1369606"/>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所属組織では向き合うことにハードルが高いテーマに対する知識の獲得</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endParaRPr kumimoji="1" lang="en-US" altLang="ja-JP" sz="800" b="1" dirty="0">
              <a:latin typeface="Hiragino Sans W6" panose="020B0400000000000000" pitchFamily="34" charset="-128"/>
              <a:ea typeface="Hiragino Sans W6" panose="020B0400000000000000" pitchFamily="34" charset="-128"/>
            </a:endParaRPr>
          </a:p>
          <a:p>
            <a:pPr marL="742950" lvl="1" indent="-285750">
              <a:buFont typeface="Wingdings" pitchFamily="2" charset="2"/>
              <a:buChar char="Ø"/>
            </a:pPr>
            <a:r>
              <a:rPr kumimoji="1" lang="en-US" altLang="ja-JP" sz="1200" dirty="0">
                <a:latin typeface="Hiragino Sans W3" panose="020B0400000000000000" pitchFamily="34" charset="-128"/>
                <a:ea typeface="Hiragino Sans W3" panose="020B0400000000000000" pitchFamily="34" charset="-128"/>
              </a:rPr>
              <a:t>IP</a:t>
            </a:r>
            <a:r>
              <a:rPr kumimoji="1" lang="ja-JP" altLang="en-US" sz="1200">
                <a:latin typeface="Hiragino Sans W3" panose="020B0400000000000000" pitchFamily="34" charset="-128"/>
                <a:ea typeface="Hiragino Sans W3" panose="020B0400000000000000" pitchFamily="34" charset="-128"/>
              </a:rPr>
              <a:t>展開戦略</a:t>
            </a:r>
            <a:endParaRPr kumimoji="1" lang="en-US" altLang="ja-JP" sz="1200" dirty="0">
              <a:latin typeface="Hiragino Sans W3" panose="020B0400000000000000" pitchFamily="34" charset="-128"/>
              <a:ea typeface="Hiragino Sans W3" panose="020B0400000000000000" pitchFamily="34" charset="-128"/>
            </a:endParaRPr>
          </a:p>
          <a:p>
            <a:pPr marL="742950" lvl="1" indent="-285750">
              <a:buFont typeface="Wingdings" pitchFamily="2" charset="2"/>
              <a:buChar char="Ø"/>
            </a:pPr>
            <a:r>
              <a:rPr kumimoji="1" lang="en-US" altLang="ja-JP" sz="1200" dirty="0">
                <a:latin typeface="Hiragino Sans W3" panose="020B0400000000000000" pitchFamily="34" charset="-128"/>
                <a:ea typeface="Hiragino Sans W3" panose="020B0400000000000000" pitchFamily="34" charset="-128"/>
              </a:rPr>
              <a:t>Non Verbal</a:t>
            </a:r>
          </a:p>
          <a:p>
            <a:pPr marL="742950" lvl="1" indent="-285750">
              <a:buFont typeface="Wingdings" pitchFamily="2" charset="2"/>
              <a:buChar char="Ø"/>
            </a:pPr>
            <a:r>
              <a:rPr kumimoji="1" lang="ja-JP" altLang="en-US" sz="1200">
                <a:latin typeface="Hiragino Sans W3" panose="020B0400000000000000" pitchFamily="34" charset="-128"/>
                <a:ea typeface="Hiragino Sans W3" panose="020B0400000000000000" pitchFamily="34" charset="-128"/>
              </a:rPr>
              <a:t>各国の文化的背景と現在のトレンド</a:t>
            </a:r>
            <a:endParaRPr kumimoji="1" lang="en-US" altLang="ja-JP" sz="1200" dirty="0">
              <a:latin typeface="Hiragino Sans W3" panose="020B0400000000000000" pitchFamily="34" charset="-128"/>
              <a:ea typeface="Hiragino Sans W3" panose="020B0400000000000000" pitchFamily="34" charset="-128"/>
            </a:endParaRPr>
          </a:p>
          <a:p>
            <a:pPr marL="742950" lvl="1" indent="-285750">
              <a:buFont typeface="Wingdings" pitchFamily="2" charset="2"/>
              <a:buChar char="Ø"/>
            </a:pPr>
            <a:r>
              <a:rPr kumimoji="1" lang="ja-JP" altLang="en-US" sz="1200">
                <a:latin typeface="Hiragino Sans W3" panose="020B0400000000000000" pitchFamily="34" charset="-128"/>
                <a:ea typeface="Hiragino Sans W3" panose="020B0400000000000000" pitchFamily="34" charset="-128"/>
              </a:rPr>
              <a:t>教育分野への長期的な英語演劇の導入</a:t>
            </a:r>
            <a:endParaRPr kumimoji="1" lang="en-US" altLang="ja-JP" sz="1200" dirty="0">
              <a:latin typeface="Hiragino Sans W3" panose="020B0400000000000000" pitchFamily="34" charset="-128"/>
              <a:ea typeface="Hiragino Sans W3" panose="020B0400000000000000" pitchFamily="34" charset="-128"/>
            </a:endParaRPr>
          </a:p>
        </p:txBody>
      </p:sp>
      <p:cxnSp>
        <p:nvCxnSpPr>
          <p:cNvPr id="14" name="直線コネクタ 13">
            <a:extLst>
              <a:ext uri="{FF2B5EF4-FFF2-40B4-BE49-F238E27FC236}">
                <a16:creationId xmlns:a16="http://schemas.microsoft.com/office/drawing/2014/main" id="{8B85EE5C-7CD5-3D89-6FE5-31214AE5A6E5}"/>
              </a:ext>
            </a:extLst>
          </p:cNvPr>
          <p:cNvCxnSpPr>
            <a:cxnSpLocks/>
          </p:cNvCxnSpPr>
          <p:nvPr/>
        </p:nvCxnSpPr>
        <p:spPr>
          <a:xfrm>
            <a:off x="362110" y="2907692"/>
            <a:ext cx="9066095" cy="0"/>
          </a:xfrm>
          <a:prstGeom prst="line">
            <a:avLst/>
          </a:prstGeom>
          <a:ln w="381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C614EDE7-8A4E-0DC5-29CF-49CC08801262}"/>
              </a:ext>
            </a:extLst>
          </p:cNvPr>
          <p:cNvSpPr txBox="1"/>
          <p:nvPr/>
        </p:nvSpPr>
        <p:spPr>
          <a:xfrm>
            <a:off x="374462" y="1830843"/>
            <a:ext cx="825180" cy="553998"/>
          </a:xfrm>
          <a:prstGeom prst="rect">
            <a:avLst/>
          </a:prstGeom>
          <a:noFill/>
        </p:spPr>
        <p:txBody>
          <a:bodyPr wrap="none" lIns="180000" tIns="0" rIns="180000" bIns="0" rtlCol="0">
            <a:spAutoFit/>
          </a:bodyPr>
          <a:lstStyle/>
          <a:p>
            <a:r>
              <a:rPr kumimoji="1" lang="ja-JP" altLang="en-US" b="1"/>
              <a:t>知識</a:t>
            </a:r>
            <a:endParaRPr kumimoji="1" lang="en-US" altLang="ja-JP" b="1" dirty="0"/>
          </a:p>
          <a:p>
            <a:r>
              <a:rPr kumimoji="1" lang="ja-JP" altLang="en-US" b="1"/>
              <a:t>視野</a:t>
            </a:r>
          </a:p>
        </p:txBody>
      </p:sp>
      <p:sp>
        <p:nvSpPr>
          <p:cNvPr id="16" name="テキスト ボックス 15">
            <a:extLst>
              <a:ext uri="{FF2B5EF4-FFF2-40B4-BE49-F238E27FC236}">
                <a16:creationId xmlns:a16="http://schemas.microsoft.com/office/drawing/2014/main" id="{C0F8B216-BB37-95AF-B216-78E6E7A2384E}"/>
              </a:ext>
            </a:extLst>
          </p:cNvPr>
          <p:cNvSpPr txBox="1"/>
          <p:nvPr/>
        </p:nvSpPr>
        <p:spPr>
          <a:xfrm>
            <a:off x="1264876" y="4288339"/>
            <a:ext cx="3984181" cy="1631216"/>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業界を横断したネットワーク</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国内の最前線で海外展開を目指すリーダーとの接点</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endParaRPr kumimoji="1" lang="en-US" altLang="ja-JP" sz="1600" b="1" dirty="0">
              <a:latin typeface="Hiragino Sans W6" panose="020B0400000000000000" pitchFamily="34" charset="-128"/>
              <a:ea typeface="Hiragino Sans W6" panose="020B0400000000000000" pitchFamily="34" charset="-128"/>
            </a:endParaRPr>
          </a:p>
          <a:p>
            <a:pPr marL="742950" lvl="1" indent="-285750">
              <a:buFont typeface="Wingdings" pitchFamily="2" charset="2"/>
              <a:buChar char="Ø"/>
            </a:pPr>
            <a:r>
              <a:rPr kumimoji="1" lang="ja-JP" altLang="en-US" sz="1400">
                <a:latin typeface="Hiragino Sans W3" panose="020B0400000000000000" pitchFamily="34" charset="-128"/>
                <a:ea typeface="Hiragino Sans W3" panose="020B0400000000000000" pitchFamily="34" charset="-128"/>
              </a:rPr>
              <a:t>海外展開に必要な人材要件のロールモデルの獲得</a:t>
            </a:r>
            <a:endParaRPr kumimoji="1" lang="en-US" altLang="ja-JP" sz="1400" dirty="0">
              <a:latin typeface="Hiragino Sans W3" panose="020B0400000000000000" pitchFamily="34" charset="-128"/>
              <a:ea typeface="Hiragino Sans W3" panose="020B0400000000000000" pitchFamily="34" charset="-128"/>
            </a:endParaRPr>
          </a:p>
          <a:p>
            <a:pPr marL="742950" lvl="1" indent="-285750">
              <a:buFont typeface="Wingdings" pitchFamily="2" charset="2"/>
              <a:buChar char="Ø"/>
            </a:pPr>
            <a:r>
              <a:rPr kumimoji="1" lang="ja-JP" altLang="en-US" sz="1400">
                <a:latin typeface="Hiragino Sans W3" panose="020B0400000000000000" pitchFamily="34" charset="-128"/>
                <a:ea typeface="Hiragino Sans W3" panose="020B0400000000000000" pitchFamily="34" charset="-128"/>
              </a:rPr>
              <a:t>同じ視線で考えるマインド</a:t>
            </a:r>
            <a:endParaRPr kumimoji="1" lang="en-US" altLang="ja-JP" sz="1400" dirty="0">
              <a:latin typeface="Hiragino Sans W3" panose="020B0400000000000000" pitchFamily="34" charset="-128"/>
              <a:ea typeface="Hiragino Sans W3" panose="020B0400000000000000" pitchFamily="34" charset="-128"/>
            </a:endParaRPr>
          </a:p>
        </p:txBody>
      </p:sp>
      <p:sp>
        <p:nvSpPr>
          <p:cNvPr id="17" name="テキスト ボックス 16">
            <a:extLst>
              <a:ext uri="{FF2B5EF4-FFF2-40B4-BE49-F238E27FC236}">
                <a16:creationId xmlns:a16="http://schemas.microsoft.com/office/drawing/2014/main" id="{C7358827-6B82-D440-3B8C-668BD2D7635B}"/>
              </a:ext>
            </a:extLst>
          </p:cNvPr>
          <p:cNvSpPr txBox="1"/>
          <p:nvPr/>
        </p:nvSpPr>
        <p:spPr>
          <a:xfrm>
            <a:off x="5249057" y="4254313"/>
            <a:ext cx="4167061" cy="738664"/>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他組織で海外展開を目指すプロデューサーとの接点</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研究テーマに応じた専門家との接点</a:t>
            </a:r>
            <a:endParaRPr kumimoji="1" lang="en-US" altLang="ja-JP" sz="1600" b="1" dirty="0">
              <a:latin typeface="Hiragino Sans W6" panose="020B0400000000000000" pitchFamily="34" charset="-128"/>
              <a:ea typeface="Hiragino Sans W6" panose="020B0400000000000000" pitchFamily="34" charset="-128"/>
            </a:endParaRPr>
          </a:p>
        </p:txBody>
      </p:sp>
      <p:sp>
        <p:nvSpPr>
          <p:cNvPr id="18" name="テキスト ボックス 17">
            <a:extLst>
              <a:ext uri="{FF2B5EF4-FFF2-40B4-BE49-F238E27FC236}">
                <a16:creationId xmlns:a16="http://schemas.microsoft.com/office/drawing/2014/main" id="{AD1B9B37-DC6E-13A1-9C02-5975FD6B0CCC}"/>
              </a:ext>
            </a:extLst>
          </p:cNvPr>
          <p:cNvSpPr txBox="1"/>
          <p:nvPr/>
        </p:nvSpPr>
        <p:spPr>
          <a:xfrm>
            <a:off x="352691" y="3311792"/>
            <a:ext cx="940597" cy="553998"/>
          </a:xfrm>
          <a:prstGeom prst="rect">
            <a:avLst/>
          </a:prstGeom>
          <a:noFill/>
        </p:spPr>
        <p:txBody>
          <a:bodyPr wrap="none" lIns="180000" tIns="0" rIns="180000" bIns="0" rtlCol="0">
            <a:spAutoFit/>
          </a:bodyPr>
          <a:lstStyle/>
          <a:p>
            <a:r>
              <a:rPr kumimoji="1" lang="ja-JP" altLang="en-US" b="1"/>
              <a:t>姿勢</a:t>
            </a:r>
            <a:endParaRPr kumimoji="1" lang="en-US" altLang="ja-JP" b="1" dirty="0"/>
          </a:p>
          <a:p>
            <a:r>
              <a:rPr kumimoji="1" lang="ja-JP" altLang="en-US" b="1"/>
              <a:t>ﾏｲﾝﾄﾞ</a:t>
            </a:r>
            <a:endParaRPr kumimoji="1" lang="en-US" altLang="ja-JP" b="1" dirty="0"/>
          </a:p>
        </p:txBody>
      </p:sp>
      <p:sp>
        <p:nvSpPr>
          <p:cNvPr id="19" name="テキスト ボックス 18">
            <a:extLst>
              <a:ext uri="{FF2B5EF4-FFF2-40B4-BE49-F238E27FC236}">
                <a16:creationId xmlns:a16="http://schemas.microsoft.com/office/drawing/2014/main" id="{44E26DA2-70F4-5BC3-CD19-923E62434438}"/>
              </a:ext>
            </a:extLst>
          </p:cNvPr>
          <p:cNvSpPr txBox="1"/>
          <p:nvPr/>
        </p:nvSpPr>
        <p:spPr>
          <a:xfrm>
            <a:off x="1264876" y="3226871"/>
            <a:ext cx="3984181" cy="738664"/>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ゼミリーダーと同じ視座に立つ姿勢</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自分の言葉で語る力</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個人として評価される体験</a:t>
            </a:r>
            <a:endParaRPr kumimoji="1" lang="en-US" altLang="ja-JP" sz="1600" b="1" dirty="0">
              <a:latin typeface="Hiragino Sans W6" panose="020B0400000000000000" pitchFamily="34" charset="-128"/>
              <a:ea typeface="Hiragino Sans W6" panose="020B0400000000000000" pitchFamily="34" charset="-128"/>
            </a:endParaRPr>
          </a:p>
        </p:txBody>
      </p:sp>
      <p:cxnSp>
        <p:nvCxnSpPr>
          <p:cNvPr id="20" name="直線コネクタ 19">
            <a:extLst>
              <a:ext uri="{FF2B5EF4-FFF2-40B4-BE49-F238E27FC236}">
                <a16:creationId xmlns:a16="http://schemas.microsoft.com/office/drawing/2014/main" id="{C63846DA-483A-409B-1A5C-12A4138824B2}"/>
              </a:ext>
            </a:extLst>
          </p:cNvPr>
          <p:cNvCxnSpPr>
            <a:cxnSpLocks/>
          </p:cNvCxnSpPr>
          <p:nvPr/>
        </p:nvCxnSpPr>
        <p:spPr>
          <a:xfrm>
            <a:off x="362109" y="4114481"/>
            <a:ext cx="9066095" cy="0"/>
          </a:xfrm>
          <a:prstGeom prst="line">
            <a:avLst/>
          </a:prstGeom>
          <a:ln w="381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E81AF063-5F90-D92C-37A1-F46F3699DB65}"/>
              </a:ext>
            </a:extLst>
          </p:cNvPr>
          <p:cNvSpPr txBox="1"/>
          <p:nvPr/>
        </p:nvSpPr>
        <p:spPr>
          <a:xfrm>
            <a:off x="374462" y="4742526"/>
            <a:ext cx="825180" cy="553998"/>
          </a:xfrm>
          <a:prstGeom prst="rect">
            <a:avLst/>
          </a:prstGeom>
          <a:noFill/>
        </p:spPr>
        <p:txBody>
          <a:bodyPr wrap="none" lIns="180000" tIns="0" rIns="180000" bIns="0" rtlCol="0">
            <a:spAutoFit/>
          </a:bodyPr>
          <a:lstStyle/>
          <a:p>
            <a:r>
              <a:rPr kumimoji="1" lang="ja-JP" altLang="en-US" b="1"/>
              <a:t>接続</a:t>
            </a:r>
            <a:endParaRPr kumimoji="1" lang="en-US" altLang="ja-JP" b="1" dirty="0"/>
          </a:p>
          <a:p>
            <a:r>
              <a:rPr kumimoji="1" lang="ja-JP" altLang="en-US" b="1"/>
              <a:t>接点</a:t>
            </a:r>
            <a:endParaRPr kumimoji="1" lang="en-US" altLang="ja-JP" b="1" dirty="0"/>
          </a:p>
        </p:txBody>
      </p:sp>
      <p:sp>
        <p:nvSpPr>
          <p:cNvPr id="22" name="テキスト ボックス 21">
            <a:extLst>
              <a:ext uri="{FF2B5EF4-FFF2-40B4-BE49-F238E27FC236}">
                <a16:creationId xmlns:a16="http://schemas.microsoft.com/office/drawing/2014/main" id="{A7BEA358-C755-D6B2-141A-C6717A8311DD}"/>
              </a:ext>
            </a:extLst>
          </p:cNvPr>
          <p:cNvSpPr txBox="1"/>
          <p:nvPr/>
        </p:nvSpPr>
        <p:spPr>
          <a:xfrm>
            <a:off x="5249057" y="3200581"/>
            <a:ext cx="4167061" cy="492443"/>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組織に依存しない自律したプロデューサー像の獲得</a:t>
            </a:r>
            <a:endParaRPr kumimoji="1" lang="en-US" altLang="ja-JP" sz="1600" b="1" dirty="0">
              <a:latin typeface="Hiragino Sans W6" panose="020B0400000000000000" pitchFamily="34" charset="-128"/>
              <a:ea typeface="Hiragino Sans W6" panose="020B0400000000000000" pitchFamily="34" charset="-128"/>
            </a:endParaRPr>
          </a:p>
        </p:txBody>
      </p:sp>
      <p:cxnSp>
        <p:nvCxnSpPr>
          <p:cNvPr id="23" name="直線コネクタ 22">
            <a:extLst>
              <a:ext uri="{FF2B5EF4-FFF2-40B4-BE49-F238E27FC236}">
                <a16:creationId xmlns:a16="http://schemas.microsoft.com/office/drawing/2014/main" id="{90642967-968F-D04C-CD1E-C340B2858F46}"/>
              </a:ext>
            </a:extLst>
          </p:cNvPr>
          <p:cNvCxnSpPr>
            <a:cxnSpLocks/>
          </p:cNvCxnSpPr>
          <p:nvPr/>
        </p:nvCxnSpPr>
        <p:spPr>
          <a:xfrm>
            <a:off x="409498" y="6052139"/>
            <a:ext cx="9066095" cy="0"/>
          </a:xfrm>
          <a:prstGeom prst="line">
            <a:avLst/>
          </a:prstGeom>
          <a:ln w="381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4" name="テキスト ボックス 23">
            <a:extLst>
              <a:ext uri="{FF2B5EF4-FFF2-40B4-BE49-F238E27FC236}">
                <a16:creationId xmlns:a16="http://schemas.microsoft.com/office/drawing/2014/main" id="{60BED59F-9D43-2F47-42B6-B68E282C420E}"/>
              </a:ext>
            </a:extLst>
          </p:cNvPr>
          <p:cNvSpPr txBox="1"/>
          <p:nvPr/>
        </p:nvSpPr>
        <p:spPr>
          <a:xfrm>
            <a:off x="445865" y="6310702"/>
            <a:ext cx="594348" cy="276999"/>
          </a:xfrm>
          <a:prstGeom prst="rect">
            <a:avLst/>
          </a:prstGeom>
          <a:noFill/>
        </p:spPr>
        <p:txBody>
          <a:bodyPr wrap="none" lIns="180000" tIns="0" rIns="180000" bIns="0" rtlCol="0">
            <a:spAutoFit/>
          </a:bodyPr>
          <a:lstStyle/>
          <a:p>
            <a:r>
              <a:rPr kumimoji="1" lang="ja-JP" altLang="en-US" b="1"/>
              <a:t>他</a:t>
            </a:r>
            <a:endParaRPr kumimoji="1" lang="en-US" altLang="ja-JP" b="1" dirty="0"/>
          </a:p>
        </p:txBody>
      </p:sp>
      <p:sp>
        <p:nvSpPr>
          <p:cNvPr id="25" name="テキスト ボックス 24">
            <a:extLst>
              <a:ext uri="{FF2B5EF4-FFF2-40B4-BE49-F238E27FC236}">
                <a16:creationId xmlns:a16="http://schemas.microsoft.com/office/drawing/2014/main" id="{3F926715-103A-2EC5-BCAB-50D7DB8A1416}"/>
              </a:ext>
            </a:extLst>
          </p:cNvPr>
          <p:cNvSpPr txBox="1"/>
          <p:nvPr/>
        </p:nvSpPr>
        <p:spPr>
          <a:xfrm>
            <a:off x="5272303" y="6130294"/>
            <a:ext cx="4167061" cy="492443"/>
          </a:xfrm>
          <a:prstGeom prst="rect">
            <a:avLst/>
          </a:prstGeom>
          <a:solidFill>
            <a:schemeClr val="bg1"/>
          </a:solidFill>
        </p:spPr>
        <p:txBody>
          <a:bodyPr wrap="square" lIns="180000" tIns="0" rIns="180000" bIns="0" rtlCol="0">
            <a:spAutoFit/>
          </a:bodyPr>
          <a:lstStyle/>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研究費</a:t>
            </a:r>
            <a:endParaRPr kumimoji="1" lang="en-US" altLang="ja-JP" sz="1600" b="1" dirty="0">
              <a:latin typeface="Hiragino Sans W6" panose="020B0400000000000000" pitchFamily="34" charset="-128"/>
              <a:ea typeface="Hiragino Sans W6" panose="020B0400000000000000" pitchFamily="34" charset="-128"/>
            </a:endParaRPr>
          </a:p>
          <a:p>
            <a:pPr marL="285750" indent="-285750">
              <a:buFont typeface="Wingdings" pitchFamily="2" charset="2"/>
              <a:buChar char="Ø"/>
            </a:pPr>
            <a:r>
              <a:rPr kumimoji="1" lang="ja-JP" altLang="en-US" sz="1600" b="1">
                <a:latin typeface="Hiragino Sans W6" panose="020B0400000000000000" pitchFamily="34" charset="-128"/>
                <a:ea typeface="Hiragino Sans W6" panose="020B0400000000000000" pitchFamily="34" charset="-128"/>
              </a:rPr>
              <a:t>リーダー謝金</a:t>
            </a:r>
            <a:endParaRPr kumimoji="1" lang="en-US" altLang="ja-JP" sz="1600" b="1" dirty="0">
              <a:latin typeface="Hiragino Sans W6" panose="020B0400000000000000" pitchFamily="34" charset="-128"/>
              <a:ea typeface="Hiragino Sans W6" panose="020B0400000000000000" pitchFamily="34" charset="-128"/>
            </a:endParaRPr>
          </a:p>
        </p:txBody>
      </p:sp>
      <p:cxnSp>
        <p:nvCxnSpPr>
          <p:cNvPr id="5" name="直線コネクタ 4">
            <a:extLst>
              <a:ext uri="{FF2B5EF4-FFF2-40B4-BE49-F238E27FC236}">
                <a16:creationId xmlns:a16="http://schemas.microsoft.com/office/drawing/2014/main" id="{74CF33C5-0A46-F8A6-E824-B89FBED54AE4}"/>
              </a:ext>
            </a:extLst>
          </p:cNvPr>
          <p:cNvCxnSpPr>
            <a:cxnSpLocks/>
          </p:cNvCxnSpPr>
          <p:nvPr/>
        </p:nvCxnSpPr>
        <p:spPr>
          <a:xfrm flipV="1">
            <a:off x="5208395" y="980168"/>
            <a:ext cx="0" cy="5696999"/>
          </a:xfrm>
          <a:prstGeom prst="line">
            <a:avLst/>
          </a:prstGeom>
          <a:ln w="381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7" name="角丸四角形 26">
            <a:extLst>
              <a:ext uri="{FF2B5EF4-FFF2-40B4-BE49-F238E27FC236}">
                <a16:creationId xmlns:a16="http://schemas.microsoft.com/office/drawing/2014/main" id="{50703FA0-938E-D316-B35E-4960773A6E85}"/>
              </a:ext>
            </a:extLst>
          </p:cNvPr>
          <p:cNvSpPr/>
          <p:nvPr/>
        </p:nvSpPr>
        <p:spPr>
          <a:xfrm>
            <a:off x="1545772" y="879701"/>
            <a:ext cx="2688771" cy="308076"/>
          </a:xfrm>
          <a:prstGeom prst="roundRect">
            <a:avLst>
              <a:gd name="adj" fmla="val 5000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solidFill>
              </a:rPr>
              <a:t>学生</a:t>
            </a:r>
          </a:p>
        </p:txBody>
      </p:sp>
      <p:sp>
        <p:nvSpPr>
          <p:cNvPr id="31" name="角丸四角形 30">
            <a:extLst>
              <a:ext uri="{FF2B5EF4-FFF2-40B4-BE49-F238E27FC236}">
                <a16:creationId xmlns:a16="http://schemas.microsoft.com/office/drawing/2014/main" id="{94A1AD9E-A9FD-A9D5-F11E-A4BBC97389F0}"/>
              </a:ext>
            </a:extLst>
          </p:cNvPr>
          <p:cNvSpPr/>
          <p:nvPr/>
        </p:nvSpPr>
        <p:spPr>
          <a:xfrm>
            <a:off x="6011447" y="888752"/>
            <a:ext cx="2688771" cy="308076"/>
          </a:xfrm>
          <a:prstGeom prst="roundRect">
            <a:avLst>
              <a:gd name="adj" fmla="val 5000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solidFill>
              </a:rPr>
              <a:t>ゼミリーダー</a:t>
            </a:r>
          </a:p>
        </p:txBody>
      </p:sp>
      <p:sp>
        <p:nvSpPr>
          <p:cNvPr id="32" name="テキスト ボックス 31">
            <a:extLst>
              <a:ext uri="{FF2B5EF4-FFF2-40B4-BE49-F238E27FC236}">
                <a16:creationId xmlns:a16="http://schemas.microsoft.com/office/drawing/2014/main" id="{A1619256-A387-126E-CB67-577FCD197E02}"/>
              </a:ext>
            </a:extLst>
          </p:cNvPr>
          <p:cNvSpPr txBox="1"/>
          <p:nvPr/>
        </p:nvSpPr>
        <p:spPr>
          <a:xfrm>
            <a:off x="5478087" y="182880"/>
            <a:ext cx="4224233" cy="369332"/>
          </a:xfrm>
          <a:prstGeom prst="rect">
            <a:avLst/>
          </a:prstGeom>
          <a:noFill/>
        </p:spPr>
        <p:txBody>
          <a:bodyPr wrap="none" rtlCol="0">
            <a:spAutoFit/>
          </a:bodyPr>
          <a:lstStyle/>
          <a:p>
            <a:r>
              <a:rPr kumimoji="1" lang="ja-JP" altLang="en-US" sz="900">
                <a:highlight>
                  <a:srgbClr val="00FF00"/>
                </a:highlight>
                <a:latin typeface="Hiragino Sans W5" panose="020B0400000000000000" pitchFamily="34" charset="-128"/>
                <a:ea typeface="Hiragino Sans W5" panose="020B0400000000000000" pitchFamily="34" charset="-128"/>
              </a:rPr>
              <a:t>対象が誰なのか</a:t>
            </a:r>
            <a:endParaRPr kumimoji="1" lang="en-US" altLang="ja-JP" sz="900" dirty="0">
              <a:highlight>
                <a:srgbClr val="00FF00"/>
              </a:highlight>
              <a:latin typeface="Hiragino Sans W5" panose="020B0400000000000000" pitchFamily="34" charset="-128"/>
              <a:ea typeface="Hiragino Sans W5" panose="020B0400000000000000" pitchFamily="34" charset="-128"/>
            </a:endParaRPr>
          </a:p>
          <a:p>
            <a:r>
              <a:rPr kumimoji="1" lang="ja-JP" altLang="en-US" sz="900">
                <a:highlight>
                  <a:srgbClr val="00FF00"/>
                </a:highlight>
                <a:latin typeface="Hiragino Sans W5" panose="020B0400000000000000" pitchFamily="34" charset="-128"/>
                <a:ea typeface="Hiragino Sans W5" panose="020B0400000000000000" pitchFamily="34" charset="-128"/>
              </a:rPr>
              <a:t>ゼミはスペシャリスト養成（ゼミリーダーによって分野や個性が依存する）</a:t>
            </a:r>
          </a:p>
        </p:txBody>
      </p:sp>
      <p:sp>
        <p:nvSpPr>
          <p:cNvPr id="33" name="テキスト ボックス 32">
            <a:extLst>
              <a:ext uri="{FF2B5EF4-FFF2-40B4-BE49-F238E27FC236}">
                <a16:creationId xmlns:a16="http://schemas.microsoft.com/office/drawing/2014/main" id="{C8A6F6C2-2DDC-8B82-85E3-210CA580FD2B}"/>
              </a:ext>
            </a:extLst>
          </p:cNvPr>
          <p:cNvSpPr txBox="1"/>
          <p:nvPr/>
        </p:nvSpPr>
        <p:spPr>
          <a:xfrm>
            <a:off x="4132594" y="712461"/>
            <a:ext cx="2954655" cy="369332"/>
          </a:xfrm>
          <a:prstGeom prst="rect">
            <a:avLst/>
          </a:prstGeom>
          <a:noFill/>
        </p:spPr>
        <p:txBody>
          <a:bodyPr wrap="none" rtlCol="0">
            <a:spAutoFit/>
          </a:bodyPr>
          <a:lstStyle/>
          <a:p>
            <a:r>
              <a:rPr kumimoji="1" lang="ja-JP" altLang="en-US" sz="900">
                <a:highlight>
                  <a:srgbClr val="00FF00"/>
                </a:highlight>
                <a:latin typeface="Hiragino Sans W5" panose="020B0400000000000000" pitchFamily="34" charset="-128"/>
                <a:ea typeface="Hiragino Sans W5" panose="020B0400000000000000" pitchFamily="34" charset="-128"/>
              </a:rPr>
              <a:t>そもそもゼミリーダーが忙しすぎる問題</a:t>
            </a:r>
            <a:endParaRPr kumimoji="1" lang="en-US" altLang="ja-JP" sz="900" dirty="0">
              <a:highlight>
                <a:srgbClr val="00FF00"/>
              </a:highlight>
              <a:latin typeface="Hiragino Sans W5" panose="020B0400000000000000" pitchFamily="34" charset="-128"/>
              <a:ea typeface="Hiragino Sans W5" panose="020B0400000000000000" pitchFamily="34" charset="-128"/>
            </a:endParaRPr>
          </a:p>
          <a:p>
            <a:r>
              <a:rPr kumimoji="1" lang="ja-JP" altLang="en-US" sz="900">
                <a:highlight>
                  <a:srgbClr val="00FF00"/>
                </a:highlight>
                <a:latin typeface="Hiragino Sans W5" panose="020B0400000000000000" pitchFamily="34" charset="-128"/>
                <a:ea typeface="Hiragino Sans W5" panose="020B0400000000000000" pitchFamily="34" charset="-128"/>
              </a:rPr>
              <a:t>（エキスパートたちの集合体の方がワークする可能性</a:t>
            </a:r>
          </a:p>
        </p:txBody>
      </p:sp>
    </p:spTree>
    <p:extLst>
      <p:ext uri="{BB962C8B-B14F-4D97-AF65-F5344CB8AC3E}">
        <p14:creationId xmlns:p14="http://schemas.microsoft.com/office/powerpoint/2010/main" val="291112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F18660-5FED-85D7-40F3-6C9DCFAF2FF2}"/>
            </a:ext>
          </a:extLst>
        </p:cNvPr>
        <p:cNvGrpSpPr/>
        <p:nvPr/>
      </p:nvGrpSpPr>
      <p:grpSpPr>
        <a:xfrm>
          <a:off x="0" y="0"/>
          <a:ext cx="0" cy="0"/>
          <a:chOff x="0" y="0"/>
          <a:chExt cx="0" cy="0"/>
        </a:xfrm>
      </p:grpSpPr>
      <p:pic>
        <p:nvPicPr>
          <p:cNvPr id="11" name="図 10">
            <a:extLst>
              <a:ext uri="{FF2B5EF4-FFF2-40B4-BE49-F238E27FC236}">
                <a16:creationId xmlns:a16="http://schemas.microsoft.com/office/drawing/2014/main" id="{6CAD8D26-6A5E-7E70-E152-B4F89F71CF8F}"/>
              </a:ext>
            </a:extLst>
          </p:cNvPr>
          <p:cNvPicPr>
            <a:picLocks noChangeAspect="1"/>
          </p:cNvPicPr>
          <p:nvPr/>
        </p:nvPicPr>
        <p:blipFill>
          <a:blip r:embed="rId3"/>
          <a:stretch>
            <a:fillRect/>
          </a:stretch>
        </p:blipFill>
        <p:spPr>
          <a:xfrm>
            <a:off x="6100419" y="-2286964"/>
            <a:ext cx="7772400" cy="3851030"/>
          </a:xfrm>
          <a:prstGeom prst="rect">
            <a:avLst/>
          </a:prstGeom>
        </p:spPr>
      </p:pic>
      <p:sp>
        <p:nvSpPr>
          <p:cNvPr id="4" name="テキスト ボックス 3">
            <a:extLst>
              <a:ext uri="{FF2B5EF4-FFF2-40B4-BE49-F238E27FC236}">
                <a16:creationId xmlns:a16="http://schemas.microsoft.com/office/drawing/2014/main" id="{BA975699-B889-8CD2-C761-AD973E45AF25}"/>
              </a:ext>
            </a:extLst>
          </p:cNvPr>
          <p:cNvSpPr txBox="1"/>
          <p:nvPr/>
        </p:nvSpPr>
        <p:spPr>
          <a:xfrm>
            <a:off x="367900" y="334240"/>
            <a:ext cx="5296643"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プログラム案｜リサーチャーゼミ（</a:t>
            </a:r>
            <a:r>
              <a:rPr kumimoji="1" lang="en-US" altLang="ja-JP" b="1" dirty="0">
                <a:latin typeface="Hiragino Sans W6" panose="020B0400000000000000" pitchFamily="34" charset="-128"/>
                <a:ea typeface="Hiragino Sans W6" panose="020B0400000000000000" pitchFamily="34" charset="-128"/>
              </a:rPr>
              <a:t>1</a:t>
            </a:r>
            <a:r>
              <a:rPr kumimoji="1" lang="ja-JP" altLang="en-US" b="1">
                <a:latin typeface="Hiragino Sans W6" panose="020B0400000000000000" pitchFamily="34" charset="-128"/>
                <a:ea typeface="Hiragino Sans W6" panose="020B0400000000000000" pitchFamily="34" charset="-128"/>
              </a:rPr>
              <a:t>月</a:t>
            </a:r>
            <a:r>
              <a:rPr kumimoji="1" lang="en-US" altLang="ja-JP" b="1" dirty="0">
                <a:latin typeface="Hiragino Sans W6" panose="020B0400000000000000" pitchFamily="34" charset="-128"/>
                <a:ea typeface="Hiragino Sans W6" panose="020B0400000000000000" pitchFamily="34" charset="-128"/>
              </a:rPr>
              <a:t>〜3</a:t>
            </a:r>
            <a:r>
              <a:rPr kumimoji="1" lang="ja-JP" altLang="en-US" b="1">
                <a:latin typeface="Hiragino Sans W6" panose="020B0400000000000000" pitchFamily="34" charset="-128"/>
                <a:ea typeface="Hiragino Sans W6" panose="020B0400000000000000" pitchFamily="34" charset="-128"/>
              </a:rPr>
              <a:t>月）</a:t>
            </a:r>
          </a:p>
        </p:txBody>
      </p:sp>
      <p:cxnSp>
        <p:nvCxnSpPr>
          <p:cNvPr id="37" name="直線コネクタ 36">
            <a:extLst>
              <a:ext uri="{FF2B5EF4-FFF2-40B4-BE49-F238E27FC236}">
                <a16:creationId xmlns:a16="http://schemas.microsoft.com/office/drawing/2014/main" id="{4DB8AD7F-6063-2482-6885-E085B63ED242}"/>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65C271B5-6115-BCA2-E6E5-C20961C3F05C}"/>
              </a:ext>
            </a:extLst>
          </p:cNvPr>
          <p:cNvSpPr txBox="1"/>
          <p:nvPr/>
        </p:nvSpPr>
        <p:spPr>
          <a:xfrm>
            <a:off x="6280917" y="2801032"/>
            <a:ext cx="2768707" cy="1323439"/>
          </a:xfrm>
          <a:prstGeom prst="rect">
            <a:avLst/>
          </a:prstGeom>
          <a:noFill/>
        </p:spPr>
        <p:txBody>
          <a:bodyPr wrap="none" rtlCol="0">
            <a:spAutoFit/>
          </a:bodyPr>
          <a:lstStyle/>
          <a:p>
            <a:r>
              <a:rPr kumimoji="1" lang="ja-JP" altLang="en-US" sz="1600">
                <a:solidFill>
                  <a:srgbClr val="C00000"/>
                </a:solidFill>
                <a:latin typeface="Hiragino Sans W4" panose="020B0400000000000000" pitchFamily="34" charset="-128"/>
                <a:ea typeface="Hiragino Sans W4" panose="020B0400000000000000" pitchFamily="34" charset="-128"/>
              </a:rPr>
              <a:t>●</a:t>
            </a:r>
            <a:r>
              <a:rPr kumimoji="1" lang="ja-JP" altLang="en-US" sz="1600">
                <a:latin typeface="Hiragino Sans W4" panose="020B0400000000000000" pitchFamily="34" charset="-128"/>
                <a:ea typeface="Hiragino Sans W4" panose="020B0400000000000000" pitchFamily="34" charset="-128"/>
              </a:rPr>
              <a:t>スケジュール</a:t>
            </a:r>
            <a:endParaRPr kumimoji="1" lang="en-US" altLang="ja-JP" sz="1600" dirty="0">
              <a:latin typeface="Hiragino Sans W4" panose="020B0400000000000000" pitchFamily="34" charset="-128"/>
              <a:ea typeface="Hiragino Sans W4" panose="020B0400000000000000" pitchFamily="34" charset="-128"/>
            </a:endParaRPr>
          </a:p>
          <a:p>
            <a:r>
              <a:rPr kumimoji="1" lang="en-US" altLang="ja-JP" sz="1600" dirty="0">
                <a:latin typeface="Hiragino Sans W4" panose="020B0400000000000000" pitchFamily="34" charset="-128"/>
                <a:ea typeface="Hiragino Sans W4" panose="020B0400000000000000" pitchFamily="34" charset="-128"/>
              </a:rPr>
              <a:t>	09</a:t>
            </a:r>
            <a:r>
              <a:rPr kumimoji="1" lang="ja-JP" altLang="en-US" sz="1600">
                <a:latin typeface="Hiragino Sans W4" panose="020B0400000000000000" pitchFamily="34" charset="-128"/>
                <a:ea typeface="Hiragino Sans W4" panose="020B0400000000000000" pitchFamily="34" charset="-128"/>
              </a:rPr>
              <a:t>月下旬｜募集開始</a:t>
            </a:r>
            <a:endParaRPr kumimoji="1" lang="en-US" altLang="ja-JP" sz="1600" dirty="0">
              <a:latin typeface="Hiragino Sans W4" panose="020B0400000000000000" pitchFamily="34" charset="-128"/>
              <a:ea typeface="Hiragino Sans W4" panose="020B0400000000000000" pitchFamily="34" charset="-128"/>
            </a:endParaRPr>
          </a:p>
          <a:p>
            <a:r>
              <a:rPr kumimoji="1" lang="en-US" altLang="ja-JP" sz="1600" dirty="0">
                <a:latin typeface="Hiragino Sans W4" panose="020B0400000000000000" pitchFamily="34" charset="-128"/>
                <a:ea typeface="Hiragino Sans W4" panose="020B0400000000000000" pitchFamily="34" charset="-128"/>
              </a:rPr>
              <a:t>	11</a:t>
            </a:r>
            <a:r>
              <a:rPr kumimoji="1" lang="ja-JP" altLang="en-US" sz="1600">
                <a:latin typeface="Hiragino Sans W4" panose="020B0400000000000000" pitchFamily="34" charset="-128"/>
                <a:ea typeface="Hiragino Sans W4" panose="020B0400000000000000" pitchFamily="34" charset="-128"/>
              </a:rPr>
              <a:t>月上旬｜締切</a:t>
            </a:r>
            <a:endParaRPr kumimoji="1" lang="en-US" altLang="ja-JP" sz="1600" dirty="0">
              <a:latin typeface="Hiragino Sans W4" panose="020B0400000000000000" pitchFamily="34" charset="-128"/>
              <a:ea typeface="Hiragino Sans W4" panose="020B0400000000000000" pitchFamily="34" charset="-128"/>
            </a:endParaRPr>
          </a:p>
          <a:p>
            <a:r>
              <a:rPr kumimoji="1" lang="en-US" altLang="ja-JP" sz="1600" dirty="0">
                <a:latin typeface="Hiragino Sans W4" panose="020B0400000000000000" pitchFamily="34" charset="-128"/>
                <a:ea typeface="Hiragino Sans W4" panose="020B0400000000000000" pitchFamily="34" charset="-128"/>
              </a:rPr>
              <a:t>	11</a:t>
            </a:r>
            <a:r>
              <a:rPr kumimoji="1" lang="ja-JP" altLang="en-US" sz="1600">
                <a:latin typeface="Hiragino Sans W4" panose="020B0400000000000000" pitchFamily="34" charset="-128"/>
                <a:ea typeface="Hiragino Sans W4" panose="020B0400000000000000" pitchFamily="34" charset="-128"/>
              </a:rPr>
              <a:t>月下旬｜面談</a:t>
            </a:r>
            <a:endParaRPr kumimoji="1" lang="en-US" altLang="ja-JP" sz="1600" dirty="0">
              <a:latin typeface="Hiragino Sans W4" panose="020B0400000000000000" pitchFamily="34" charset="-128"/>
              <a:ea typeface="Hiragino Sans W4" panose="020B0400000000000000" pitchFamily="34" charset="-128"/>
            </a:endParaRPr>
          </a:p>
          <a:p>
            <a:r>
              <a:rPr kumimoji="1" lang="en-US" altLang="ja-JP" sz="1600" dirty="0">
                <a:latin typeface="Hiragino Sans W4" panose="020B0400000000000000" pitchFamily="34" charset="-128"/>
                <a:ea typeface="Hiragino Sans W4" panose="020B0400000000000000" pitchFamily="34" charset="-128"/>
              </a:rPr>
              <a:t>	12</a:t>
            </a:r>
            <a:r>
              <a:rPr kumimoji="1" lang="ja-JP" altLang="en-US" sz="1600">
                <a:latin typeface="Hiragino Sans W4" panose="020B0400000000000000" pitchFamily="34" charset="-128"/>
                <a:ea typeface="Hiragino Sans W4" panose="020B0400000000000000" pitchFamily="34" charset="-128"/>
              </a:rPr>
              <a:t>月中旬｜参加者決定</a:t>
            </a:r>
          </a:p>
        </p:txBody>
      </p:sp>
      <p:sp>
        <p:nvSpPr>
          <p:cNvPr id="8" name="テキスト ボックス 7">
            <a:extLst>
              <a:ext uri="{FF2B5EF4-FFF2-40B4-BE49-F238E27FC236}">
                <a16:creationId xmlns:a16="http://schemas.microsoft.com/office/drawing/2014/main" id="{B17A6302-ED58-A6E7-5B33-536B0A9338E2}"/>
              </a:ext>
            </a:extLst>
          </p:cNvPr>
          <p:cNvSpPr txBox="1"/>
          <p:nvPr/>
        </p:nvSpPr>
        <p:spPr>
          <a:xfrm>
            <a:off x="456887" y="2801106"/>
            <a:ext cx="5824030" cy="1323439"/>
          </a:xfrm>
          <a:prstGeom prst="rect">
            <a:avLst/>
          </a:prstGeom>
          <a:noFill/>
        </p:spPr>
        <p:txBody>
          <a:bodyPr wrap="none" rtlCol="0">
            <a:spAutoFit/>
          </a:bodyPr>
          <a:lstStyle/>
          <a:p>
            <a:r>
              <a:rPr kumimoji="1" lang="ja-JP" altLang="en-US" sz="1600">
                <a:solidFill>
                  <a:srgbClr val="C00000"/>
                </a:solidFill>
                <a:latin typeface="Hiragino Sans W4" panose="020B0400000000000000" pitchFamily="34" charset="-128"/>
                <a:ea typeface="Hiragino Sans W4" panose="020B0400000000000000" pitchFamily="34" charset="-128"/>
              </a:rPr>
              <a:t>●</a:t>
            </a:r>
            <a:r>
              <a:rPr kumimoji="1" lang="ja-JP" altLang="en-US" sz="1600">
                <a:latin typeface="Hiragino Sans W4" panose="020B0400000000000000" pitchFamily="34" charset="-128"/>
                <a:ea typeface="Hiragino Sans W4" panose="020B0400000000000000" pitchFamily="34" charset="-128"/>
              </a:rPr>
              <a:t>ゼミ講師</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Wingdings" pitchFamily="2" charset="2"/>
              <a:buChar char="l"/>
            </a:pPr>
            <a:r>
              <a:rPr kumimoji="1" lang="ja-JP" altLang="en-US" sz="1600">
                <a:latin typeface="Hiragino Sans W4" panose="020B0400000000000000" pitchFamily="34" charset="-128"/>
                <a:ea typeface="Hiragino Sans W4" panose="020B0400000000000000" pitchFamily="34" charset="-128"/>
              </a:rPr>
              <a:t>井川荃芬（ホリプロ／派遣先：</a:t>
            </a:r>
            <a:r>
              <a:rPr kumimoji="1" lang="ja-JP" altLang="en-US" sz="1600">
                <a:highlight>
                  <a:srgbClr val="F8E982"/>
                </a:highlight>
                <a:latin typeface="Hiragino Sans W4" panose="020B0400000000000000" pitchFamily="34" charset="-128"/>
                <a:ea typeface="Hiragino Sans W4" panose="020B0400000000000000" pitchFamily="34" charset="-128"/>
              </a:rPr>
              <a:t>ニューヨーク</a:t>
            </a:r>
            <a:r>
              <a:rPr kumimoji="1" lang="ja-JP" altLang="en-US" sz="1600">
                <a:latin typeface="Hiragino Sans W4" panose="020B0400000000000000" pitchFamily="34" charset="-128"/>
                <a:ea typeface="Hiragino Sans W4" panose="020B0400000000000000" pitchFamily="34" charset="-128"/>
              </a:rPr>
              <a:t>）</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Wingdings" pitchFamily="2" charset="2"/>
              <a:buChar char="l"/>
            </a:pPr>
            <a:r>
              <a:rPr kumimoji="1" lang="ja-JP" altLang="en-US" sz="1600">
                <a:latin typeface="Hiragino Sans W4" panose="020B0400000000000000" pitchFamily="34" charset="-128"/>
                <a:ea typeface="Hiragino Sans W4" panose="020B0400000000000000" pitchFamily="34" charset="-128"/>
              </a:rPr>
              <a:t>小嶋麻倫子（東宝／派遣先：</a:t>
            </a:r>
            <a:r>
              <a:rPr kumimoji="1" lang="ja-JP" altLang="en-US" sz="1600">
                <a:highlight>
                  <a:srgbClr val="F8E982"/>
                </a:highlight>
                <a:latin typeface="Hiragino Sans W4" panose="020B0400000000000000" pitchFamily="34" charset="-128"/>
                <a:ea typeface="Hiragino Sans W4" panose="020B0400000000000000" pitchFamily="34" charset="-128"/>
              </a:rPr>
              <a:t>ニューヨーク</a:t>
            </a:r>
            <a:r>
              <a:rPr kumimoji="1" lang="ja-JP" altLang="en-US" sz="1600">
                <a:latin typeface="Hiragino Sans W4" panose="020B0400000000000000" pitchFamily="34" charset="-128"/>
                <a:ea typeface="Hiragino Sans W4" panose="020B0400000000000000" pitchFamily="34" charset="-128"/>
              </a:rPr>
              <a:t>）</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Wingdings" pitchFamily="2" charset="2"/>
              <a:buChar char="l"/>
            </a:pPr>
            <a:r>
              <a:rPr kumimoji="1" lang="ja-JP" altLang="en-US" sz="1600">
                <a:latin typeface="Hiragino Sans W4" panose="020B0400000000000000" pitchFamily="34" charset="-128"/>
                <a:ea typeface="Hiragino Sans W4" panose="020B0400000000000000" pitchFamily="34" charset="-128"/>
              </a:rPr>
              <a:t>時田曜子（ゴーチ・ブラザーズ／派遣先：ロンドン）</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Wingdings" pitchFamily="2" charset="2"/>
              <a:buChar char="l"/>
            </a:pPr>
            <a:r>
              <a:rPr kumimoji="1" lang="ja-JP" altLang="en-US" sz="1600">
                <a:latin typeface="Hiragino Sans W4" panose="020B0400000000000000" pitchFamily="34" charset="-128"/>
                <a:ea typeface="Hiragino Sans W4" panose="020B0400000000000000" pitchFamily="34" charset="-128"/>
              </a:rPr>
              <a:t>田窪桜子（</a:t>
            </a:r>
            <a:r>
              <a:rPr kumimoji="1" lang="en-US" altLang="ja-JP" sz="1600" dirty="0" err="1">
                <a:latin typeface="Hiragino Sans W4" panose="020B0400000000000000" pitchFamily="34" charset="-128"/>
                <a:ea typeface="Hiragino Sans W4" panose="020B0400000000000000" pitchFamily="34" charset="-128"/>
              </a:rPr>
              <a:t>unrato</a:t>
            </a:r>
            <a:r>
              <a:rPr kumimoji="1" lang="ja-JP" altLang="en-US" sz="1600">
                <a:latin typeface="Hiragino Sans W4" panose="020B0400000000000000" pitchFamily="34" charset="-128"/>
                <a:ea typeface="Hiragino Sans W4" panose="020B0400000000000000" pitchFamily="34" charset="-128"/>
              </a:rPr>
              <a:t>／派遣先：韓国）</a:t>
            </a:r>
            <a:endParaRPr kumimoji="1" lang="en-US" altLang="ja-JP" sz="1600" dirty="0">
              <a:latin typeface="Hiragino Sans W4" panose="020B0400000000000000" pitchFamily="34" charset="-128"/>
              <a:ea typeface="Hiragino Sans W4" panose="020B0400000000000000" pitchFamily="34" charset="-128"/>
            </a:endParaRPr>
          </a:p>
        </p:txBody>
      </p:sp>
      <p:sp>
        <p:nvSpPr>
          <p:cNvPr id="24" name="テキスト ボックス 23">
            <a:extLst>
              <a:ext uri="{FF2B5EF4-FFF2-40B4-BE49-F238E27FC236}">
                <a16:creationId xmlns:a16="http://schemas.microsoft.com/office/drawing/2014/main" id="{5AE15AC9-6F33-41E3-68BD-02CAD26CA11B}"/>
              </a:ext>
            </a:extLst>
          </p:cNvPr>
          <p:cNvSpPr txBox="1"/>
          <p:nvPr/>
        </p:nvSpPr>
        <p:spPr>
          <a:xfrm>
            <a:off x="456887" y="4284474"/>
            <a:ext cx="8300670" cy="1569660"/>
          </a:xfrm>
          <a:prstGeom prst="rect">
            <a:avLst/>
          </a:prstGeom>
          <a:noFill/>
        </p:spPr>
        <p:txBody>
          <a:bodyPr wrap="none" rtlCol="0">
            <a:spAutoFit/>
          </a:bodyPr>
          <a:lstStyle/>
          <a:p>
            <a:r>
              <a:rPr kumimoji="1" lang="ja-JP" altLang="en-US" sz="1600">
                <a:solidFill>
                  <a:srgbClr val="C00000"/>
                </a:solidFill>
                <a:latin typeface="Hiragino Sans W4" panose="020B0400000000000000" pitchFamily="34" charset="-128"/>
                <a:ea typeface="Hiragino Sans W4" panose="020B0400000000000000" pitchFamily="34" charset="-128"/>
              </a:rPr>
              <a:t>●</a:t>
            </a:r>
            <a:r>
              <a:rPr kumimoji="1" lang="ja-JP" altLang="en-US" sz="1600">
                <a:latin typeface="Hiragino Sans W4" panose="020B0400000000000000" pitchFamily="34" charset="-128"/>
                <a:ea typeface="Hiragino Sans W4" panose="020B0400000000000000" pitchFamily="34" charset="-128"/>
              </a:rPr>
              <a:t>募集概要</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海外展開に興味関心があり、舞台芸術業界でプロデューサーとして活躍したい人</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大学生、大学院生、専門学校生</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基本的に全ての回に参加できること</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highlight>
                  <a:srgbClr val="FFFF00"/>
                </a:highlight>
                <a:latin typeface="Hiragino Sans W4" panose="020B0400000000000000" pitchFamily="34" charset="-128"/>
                <a:ea typeface="Hiragino Sans W4" panose="020B0400000000000000" pitchFamily="34" charset="-128"/>
              </a:rPr>
              <a:t>ゼミの併願不可？</a:t>
            </a:r>
            <a:endParaRPr kumimoji="1" lang="en-US" altLang="ja-JP" sz="1600" dirty="0">
              <a:highlight>
                <a:srgbClr val="FFFF00"/>
              </a:highlight>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終了後、レポート提出</a:t>
            </a:r>
            <a:endParaRPr kumimoji="1" lang="en-US" altLang="ja-JP" sz="1600" dirty="0">
              <a:latin typeface="Hiragino Sans W4" panose="020B0400000000000000" pitchFamily="34" charset="-128"/>
              <a:ea typeface="Hiragino Sans W4" panose="020B0400000000000000" pitchFamily="34" charset="-128"/>
            </a:endParaRPr>
          </a:p>
        </p:txBody>
      </p:sp>
      <p:sp>
        <p:nvSpPr>
          <p:cNvPr id="26" name="テキスト ボックス 25">
            <a:extLst>
              <a:ext uri="{FF2B5EF4-FFF2-40B4-BE49-F238E27FC236}">
                <a16:creationId xmlns:a16="http://schemas.microsoft.com/office/drawing/2014/main" id="{1A6DDF77-8D7A-2A72-CE2B-993BA2E4D287}"/>
              </a:ext>
            </a:extLst>
          </p:cNvPr>
          <p:cNvSpPr txBox="1"/>
          <p:nvPr/>
        </p:nvSpPr>
        <p:spPr>
          <a:xfrm>
            <a:off x="456887" y="1003866"/>
            <a:ext cx="8736687" cy="1569660"/>
          </a:xfrm>
          <a:prstGeom prst="rect">
            <a:avLst/>
          </a:prstGeom>
          <a:noFill/>
        </p:spPr>
        <p:txBody>
          <a:bodyPr wrap="none" rtlCol="0">
            <a:spAutoFit/>
          </a:bodyPr>
          <a:lstStyle/>
          <a:p>
            <a:r>
              <a:rPr kumimoji="1" lang="ja-JP" altLang="en-US" sz="1600">
                <a:solidFill>
                  <a:srgbClr val="C00000"/>
                </a:solidFill>
                <a:latin typeface="Hiragino Sans W4" panose="020B0400000000000000" pitchFamily="34" charset="-128"/>
                <a:ea typeface="Hiragino Sans W4" panose="020B0400000000000000" pitchFamily="34" charset="-128"/>
              </a:rPr>
              <a:t>●</a:t>
            </a:r>
            <a:r>
              <a:rPr kumimoji="1" lang="ja-JP" altLang="en-US" sz="1600">
                <a:latin typeface="Hiragino Sans W4" panose="020B0400000000000000" pitchFamily="34" charset="-128"/>
                <a:ea typeface="Hiragino Sans W4" panose="020B0400000000000000" pitchFamily="34" charset="-128"/>
              </a:rPr>
              <a:t>実施概要</a:t>
            </a: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１ゼミあたり</a:t>
            </a:r>
            <a:r>
              <a:rPr kumimoji="1" lang="en-US" altLang="ja-JP" sz="1600" dirty="0">
                <a:latin typeface="Hiragino Sans W4" panose="020B0400000000000000" pitchFamily="34" charset="-128"/>
                <a:ea typeface="Hiragino Sans W4" panose="020B0400000000000000" pitchFamily="34" charset="-128"/>
              </a:rPr>
              <a:t>5</a:t>
            </a:r>
            <a:r>
              <a:rPr kumimoji="1" lang="ja-JP" altLang="en-US" sz="1600">
                <a:latin typeface="Hiragino Sans W4" panose="020B0400000000000000" pitchFamily="34" charset="-128"/>
                <a:ea typeface="Hiragino Sans W4" panose="020B0400000000000000" pitchFamily="34" charset="-128"/>
              </a:rPr>
              <a:t>名（</a:t>
            </a:r>
            <a:r>
              <a:rPr kumimoji="1" lang="en-US" altLang="ja-JP" sz="1600" dirty="0">
                <a:latin typeface="Hiragino Sans W4" panose="020B0400000000000000" pitchFamily="34" charset="-128"/>
                <a:ea typeface="Hiragino Sans W4" panose="020B0400000000000000" pitchFamily="34" charset="-128"/>
              </a:rPr>
              <a:t>×4</a:t>
            </a:r>
            <a:r>
              <a:rPr kumimoji="1" lang="ja-JP" altLang="en-US" sz="1600">
                <a:latin typeface="Hiragino Sans W4" panose="020B0400000000000000" pitchFamily="34" charset="-128"/>
                <a:ea typeface="Hiragino Sans W4" panose="020B0400000000000000" pitchFamily="34" charset="-128"/>
              </a:rPr>
              <a:t>ゼミで最大</a:t>
            </a:r>
            <a:r>
              <a:rPr kumimoji="1" lang="en-US" altLang="ja-JP" sz="1600" dirty="0">
                <a:latin typeface="Hiragino Sans W4" panose="020B0400000000000000" pitchFamily="34" charset="-128"/>
                <a:ea typeface="Hiragino Sans W4" panose="020B0400000000000000" pitchFamily="34" charset="-128"/>
              </a:rPr>
              <a:t>20</a:t>
            </a:r>
            <a:r>
              <a:rPr kumimoji="1" lang="ja-JP" altLang="en-US" sz="1600">
                <a:latin typeface="Hiragino Sans W4" panose="020B0400000000000000" pitchFamily="34" charset="-128"/>
                <a:ea typeface="Hiragino Sans W4" panose="020B0400000000000000" pitchFamily="34" charset="-128"/>
              </a:rPr>
              <a:t>名）</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プログラムは</a:t>
            </a:r>
            <a:r>
              <a:rPr kumimoji="1" lang="en-US" altLang="ja-JP" sz="1600" dirty="0">
                <a:highlight>
                  <a:srgbClr val="FFFF00"/>
                </a:highlight>
                <a:latin typeface="Hiragino Sans W4" panose="020B0400000000000000" pitchFamily="34" charset="-128"/>
                <a:ea typeface="Hiragino Sans W4" panose="020B0400000000000000" pitchFamily="34" charset="-128"/>
              </a:rPr>
              <a:t>1</a:t>
            </a:r>
            <a:r>
              <a:rPr kumimoji="1" lang="ja-JP" altLang="en-US" sz="1600">
                <a:highlight>
                  <a:srgbClr val="FFFF00"/>
                </a:highlight>
                <a:latin typeface="Hiragino Sans W4" panose="020B0400000000000000" pitchFamily="34" charset="-128"/>
                <a:ea typeface="Hiragino Sans W4" panose="020B0400000000000000" pitchFamily="34" charset="-128"/>
              </a:rPr>
              <a:t>回</a:t>
            </a:r>
            <a:r>
              <a:rPr kumimoji="1" lang="en-US" altLang="ja-JP" sz="1600" dirty="0">
                <a:highlight>
                  <a:srgbClr val="FFFF00"/>
                </a:highlight>
                <a:latin typeface="Hiragino Sans W4" panose="020B0400000000000000" pitchFamily="34" charset="-128"/>
                <a:ea typeface="Hiragino Sans W4" panose="020B0400000000000000" pitchFamily="34" charset="-128"/>
              </a:rPr>
              <a:t>1</a:t>
            </a:r>
            <a:r>
              <a:rPr kumimoji="1" lang="ja-JP" altLang="en-US" sz="1600">
                <a:highlight>
                  <a:srgbClr val="FFFF00"/>
                </a:highlight>
                <a:latin typeface="Hiragino Sans W4" panose="020B0400000000000000" pitchFamily="34" charset="-128"/>
                <a:ea typeface="Hiragino Sans W4" panose="020B0400000000000000" pitchFamily="34" charset="-128"/>
              </a:rPr>
              <a:t>時間半</a:t>
            </a:r>
            <a:r>
              <a:rPr kumimoji="1" lang="en-US" altLang="ja-JP" sz="1600" dirty="0">
                <a:highlight>
                  <a:srgbClr val="FFFF00"/>
                </a:highlight>
                <a:latin typeface="Hiragino Sans W4" panose="020B0400000000000000" pitchFamily="34" charset="-128"/>
                <a:ea typeface="Hiragino Sans W4" panose="020B0400000000000000" pitchFamily="34" charset="-128"/>
              </a:rPr>
              <a:t>×6</a:t>
            </a:r>
            <a:r>
              <a:rPr kumimoji="1" lang="ja-JP" altLang="en-US" sz="1600">
                <a:highlight>
                  <a:srgbClr val="FFFF00"/>
                </a:highlight>
                <a:latin typeface="Hiragino Sans W4" panose="020B0400000000000000" pitchFamily="34" charset="-128"/>
                <a:ea typeface="Hiragino Sans W4" panose="020B0400000000000000" pitchFamily="34" charset="-128"/>
              </a:rPr>
              <a:t>コマ（</a:t>
            </a:r>
            <a:r>
              <a:rPr kumimoji="1" lang="en-US" altLang="ja-JP" sz="1600" dirty="0">
                <a:highlight>
                  <a:srgbClr val="FFFF00"/>
                </a:highlight>
                <a:latin typeface="Hiragino Sans W4" panose="020B0400000000000000" pitchFamily="34" charset="-128"/>
                <a:ea typeface="Hiragino Sans W4" panose="020B0400000000000000" pitchFamily="34" charset="-128"/>
              </a:rPr>
              <a:t>3〜5</a:t>
            </a:r>
            <a:r>
              <a:rPr kumimoji="1" lang="ja-JP" altLang="en-US" sz="1600">
                <a:highlight>
                  <a:srgbClr val="FFFF00"/>
                </a:highlight>
                <a:latin typeface="Hiragino Sans W4" panose="020B0400000000000000" pitchFamily="34" charset="-128"/>
                <a:ea typeface="Hiragino Sans W4" panose="020B0400000000000000" pitchFamily="34" charset="-128"/>
              </a:rPr>
              <a:t>日間程度／約</a:t>
            </a:r>
            <a:r>
              <a:rPr kumimoji="1" lang="en-US" altLang="ja-JP" sz="1600" dirty="0">
                <a:highlight>
                  <a:srgbClr val="FFFF00"/>
                </a:highlight>
                <a:latin typeface="Hiragino Sans W4" panose="020B0400000000000000" pitchFamily="34" charset="-128"/>
                <a:ea typeface="Hiragino Sans W4" panose="020B0400000000000000" pitchFamily="34" charset="-128"/>
              </a:rPr>
              <a:t>9</a:t>
            </a:r>
            <a:r>
              <a:rPr kumimoji="1" lang="ja-JP" altLang="en-US" sz="1600">
                <a:highlight>
                  <a:srgbClr val="FFFF00"/>
                </a:highlight>
                <a:latin typeface="Hiragino Sans W4" panose="020B0400000000000000" pitchFamily="34" charset="-128"/>
                <a:ea typeface="Hiragino Sans W4" panose="020B0400000000000000" pitchFamily="34" charset="-128"/>
              </a:rPr>
              <a:t>時間）</a:t>
            </a:r>
            <a:r>
              <a:rPr kumimoji="1" lang="ja-JP" altLang="en-US" sz="1600">
                <a:latin typeface="Hiragino Sans W4" panose="020B0400000000000000" pitchFamily="34" charset="-128"/>
                <a:ea typeface="Hiragino Sans W4" panose="020B0400000000000000" pitchFamily="34" charset="-128"/>
              </a:rPr>
              <a:t>　</a:t>
            </a:r>
            <a:r>
              <a:rPr kumimoji="1" lang="ja-JP" altLang="en-US" sz="1200">
                <a:latin typeface="Hiragino Sans W4" panose="020B0400000000000000" pitchFamily="34" charset="-128"/>
                <a:ea typeface="Hiragino Sans W4" panose="020B0400000000000000" pitchFamily="34" charset="-128"/>
              </a:rPr>
              <a:t>＊内１コマは</a:t>
            </a:r>
            <a:r>
              <a:rPr kumimoji="1" lang="en-US" altLang="ja-JP" sz="1200" dirty="0">
                <a:latin typeface="Hiragino Sans W4" panose="020B0400000000000000" pitchFamily="34" charset="-128"/>
                <a:ea typeface="Hiragino Sans W4" panose="020B0400000000000000" pitchFamily="34" charset="-128"/>
              </a:rPr>
              <a:t>JPASN</a:t>
            </a:r>
            <a:r>
              <a:rPr kumimoji="1" lang="ja-JP" altLang="en-US" sz="1200">
                <a:latin typeface="Hiragino Sans W4" panose="020B0400000000000000" pitchFamily="34" charset="-128"/>
                <a:ea typeface="Hiragino Sans W4" panose="020B0400000000000000" pitchFamily="34" charset="-128"/>
              </a:rPr>
              <a:t>内公開</a:t>
            </a:r>
            <a:endParaRPr kumimoji="1" lang="en-US" altLang="ja-JP" sz="12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プログラム内容はリサーチャーと相談の上決定</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ゼミ講師はいつお互いのゼミに参加しても良い（事前に合同ミーティング実施）</a:t>
            </a:r>
            <a:endParaRPr kumimoji="1" lang="en-US" altLang="ja-JP" sz="1600" dirty="0">
              <a:latin typeface="Hiragino Sans W4" panose="020B0400000000000000" pitchFamily="34" charset="-128"/>
              <a:ea typeface="Hiragino Sans W4" panose="020B0400000000000000" pitchFamily="34" charset="-128"/>
            </a:endParaRPr>
          </a:p>
          <a:p>
            <a:pPr marL="742950" lvl="1" indent="-285750">
              <a:buFont typeface="Arial" panose="020B0604020202020204" pitchFamily="34" charset="0"/>
              <a:buChar char="•"/>
            </a:pPr>
            <a:r>
              <a:rPr kumimoji="1" lang="ja-JP" altLang="en-US" sz="1600">
                <a:highlight>
                  <a:srgbClr val="FFFF00"/>
                </a:highlight>
                <a:latin typeface="Hiragino Sans W4" panose="020B0400000000000000" pitchFamily="34" charset="-128"/>
                <a:ea typeface="Hiragino Sans W4" panose="020B0400000000000000" pitchFamily="34" charset="-128"/>
              </a:rPr>
              <a:t>全ゼミを横断した観劇プログラムも実施しても良い</a:t>
            </a:r>
            <a:r>
              <a:rPr kumimoji="1" lang="ja-JP" altLang="en-US" sz="1600">
                <a:latin typeface="Hiragino Sans W4" panose="020B0400000000000000" pitchFamily="34" charset="-128"/>
                <a:ea typeface="Hiragino Sans W4" panose="020B0400000000000000" pitchFamily="34" charset="-128"/>
              </a:rPr>
              <a:t>（リサーチャー演目推薦）</a:t>
            </a:r>
            <a:endParaRPr kumimoji="1" lang="en-US" altLang="ja-JP" sz="1600" dirty="0">
              <a:latin typeface="Hiragino Sans W4" panose="020B0400000000000000" pitchFamily="34" charset="-128"/>
              <a:ea typeface="Hiragino Sans W4" panose="020B0400000000000000" pitchFamily="34" charset="-128"/>
            </a:endParaRPr>
          </a:p>
        </p:txBody>
      </p:sp>
      <p:sp>
        <p:nvSpPr>
          <p:cNvPr id="27" name="テキスト ボックス 26">
            <a:extLst>
              <a:ext uri="{FF2B5EF4-FFF2-40B4-BE49-F238E27FC236}">
                <a16:creationId xmlns:a16="http://schemas.microsoft.com/office/drawing/2014/main" id="{1E6D60DB-DCCE-E535-44CF-97C39259660E}"/>
              </a:ext>
            </a:extLst>
          </p:cNvPr>
          <p:cNvSpPr txBox="1"/>
          <p:nvPr/>
        </p:nvSpPr>
        <p:spPr>
          <a:xfrm>
            <a:off x="456887" y="5958205"/>
            <a:ext cx="8526693" cy="584775"/>
          </a:xfrm>
          <a:prstGeom prst="rect">
            <a:avLst/>
          </a:prstGeom>
          <a:noFill/>
        </p:spPr>
        <p:txBody>
          <a:bodyPr wrap="none" rtlCol="0">
            <a:spAutoFit/>
          </a:bodyPr>
          <a:lstStyle/>
          <a:p>
            <a:r>
              <a:rPr kumimoji="1" lang="ja-JP" altLang="en-US" sz="1600">
                <a:solidFill>
                  <a:srgbClr val="C00000"/>
                </a:solidFill>
                <a:latin typeface="Hiragino Sans W4" panose="020B0400000000000000" pitchFamily="34" charset="-128"/>
                <a:ea typeface="Hiragino Sans W4" panose="020B0400000000000000" pitchFamily="34" charset="-128"/>
              </a:rPr>
              <a:t>●</a:t>
            </a:r>
            <a:r>
              <a:rPr kumimoji="1" lang="en-US" altLang="ja-JP" sz="1600" dirty="0">
                <a:latin typeface="Hiragino Sans W4" panose="020B0400000000000000" pitchFamily="34" charset="-128"/>
                <a:ea typeface="Hiragino Sans W4" panose="020B0400000000000000" pitchFamily="34" charset="-128"/>
              </a:rPr>
              <a:t>MEMO</a:t>
            </a:r>
          </a:p>
          <a:p>
            <a:pPr marL="742950" lvl="1" indent="-285750">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リサーチャーが申請すれば使えるお金があると良さそう（ゲスト講師や観劇など）</a:t>
            </a:r>
            <a:endParaRPr kumimoji="1" lang="en-US" altLang="ja-JP" sz="1600" dirty="0">
              <a:latin typeface="Hiragino Sans W4" panose="020B0400000000000000" pitchFamily="34" charset="-128"/>
              <a:ea typeface="Hiragino Sans W4" panose="020B0400000000000000" pitchFamily="34" charset="-128"/>
            </a:endParaRPr>
          </a:p>
        </p:txBody>
      </p:sp>
      <p:sp>
        <p:nvSpPr>
          <p:cNvPr id="2" name="テキスト ボックス 1">
            <a:extLst>
              <a:ext uri="{FF2B5EF4-FFF2-40B4-BE49-F238E27FC236}">
                <a16:creationId xmlns:a16="http://schemas.microsoft.com/office/drawing/2014/main" id="{E210C775-1E8F-FAE8-FC50-2BF3BDD48E3B}"/>
              </a:ext>
            </a:extLst>
          </p:cNvPr>
          <p:cNvSpPr txBox="1"/>
          <p:nvPr/>
        </p:nvSpPr>
        <p:spPr>
          <a:xfrm>
            <a:off x="7360379" y="1037834"/>
            <a:ext cx="3313728" cy="646331"/>
          </a:xfrm>
          <a:prstGeom prst="rect">
            <a:avLst/>
          </a:prstGeom>
          <a:noFill/>
        </p:spPr>
        <p:txBody>
          <a:bodyPr wrap="none" rtlCol="0">
            <a:spAutoFit/>
          </a:bodyPr>
          <a:lstStyle/>
          <a:p>
            <a:r>
              <a:rPr kumimoji="1" lang="ja-JP" altLang="en-US" sz="1200">
                <a:highlight>
                  <a:srgbClr val="00FF00"/>
                </a:highlight>
                <a:latin typeface="Hiragino Sans W4" panose="020B0400000000000000" pitchFamily="34" charset="-128"/>
                <a:ea typeface="Hiragino Sans W4" panose="020B0400000000000000" pitchFamily="34" charset="-128"/>
              </a:rPr>
              <a:t>このゼミを通じて、何を学生に与えられるか</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学生が得られること</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この事業を通じて押し上げられること</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p:txBody>
      </p:sp>
      <p:sp>
        <p:nvSpPr>
          <p:cNvPr id="6" name="テキスト ボックス 5">
            <a:extLst>
              <a:ext uri="{FF2B5EF4-FFF2-40B4-BE49-F238E27FC236}">
                <a16:creationId xmlns:a16="http://schemas.microsoft.com/office/drawing/2014/main" id="{1A642DD6-6FA5-4244-3A9A-FB37F56B6295}"/>
              </a:ext>
            </a:extLst>
          </p:cNvPr>
          <p:cNvSpPr txBox="1"/>
          <p:nvPr/>
        </p:nvSpPr>
        <p:spPr>
          <a:xfrm>
            <a:off x="6100419" y="4813734"/>
            <a:ext cx="6801862" cy="1569660"/>
          </a:xfrm>
          <a:prstGeom prst="rect">
            <a:avLst/>
          </a:prstGeom>
          <a:noFill/>
        </p:spPr>
        <p:txBody>
          <a:bodyPr wrap="none" rtlCol="0">
            <a:spAutoFit/>
          </a:bodyPr>
          <a:lstStyle/>
          <a:p>
            <a:r>
              <a:rPr kumimoji="1" lang="en-US" altLang="ja-JP" sz="1200" dirty="0">
                <a:highlight>
                  <a:srgbClr val="00FF00"/>
                </a:highlight>
                <a:latin typeface="Hiragino Sans W4" panose="020B0400000000000000" pitchFamily="34" charset="-128"/>
                <a:ea typeface="Hiragino Sans W4" panose="020B0400000000000000" pitchFamily="34" charset="-128"/>
              </a:rPr>
              <a:t>ISPA</a:t>
            </a:r>
            <a:r>
              <a:rPr kumimoji="1" lang="ja-JP" altLang="en-US" sz="1200">
                <a:highlight>
                  <a:srgbClr val="00FF00"/>
                </a:highlight>
                <a:latin typeface="Hiragino Sans W4" panose="020B0400000000000000" pitchFamily="34" charset="-128"/>
                <a:ea typeface="Hiragino Sans W4" panose="020B0400000000000000" pitchFamily="34" charset="-128"/>
              </a:rPr>
              <a:t>での気づき </a:t>
            </a:r>
            <a:r>
              <a:rPr kumimoji="1" lang="en-US" altLang="ja-JP" sz="1200" dirty="0">
                <a:highlight>
                  <a:srgbClr val="00FF00"/>
                </a:highlight>
                <a:latin typeface="Hiragino Sans W4" panose="020B0400000000000000" pitchFamily="34" charset="-128"/>
                <a:ea typeface="Hiragino Sans W4" panose="020B0400000000000000" pitchFamily="34" charset="-128"/>
              </a:rPr>
              <a:t>by </a:t>
            </a:r>
            <a:r>
              <a:rPr kumimoji="1" lang="ja-JP" altLang="en-US" sz="1200">
                <a:highlight>
                  <a:srgbClr val="00FF00"/>
                </a:highlight>
                <a:latin typeface="Hiragino Sans W4" panose="020B0400000000000000" pitchFamily="34" charset="-128"/>
                <a:ea typeface="Hiragino Sans W4" panose="020B0400000000000000" pitchFamily="34" charset="-128"/>
              </a:rPr>
              <a:t>のむらさん</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・日本の演劇シーンが民間主導で規模拡大してきていることはすごい！</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・知識を深めたり、知見を高めることを、このゼミが手伝えるような</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（小嶋さんがいうところの、小中高の授業にミュージカルを、などができる）</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・パブリックセクターの仮面を使って、民間ではやりにくいことを実行してける可能性</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・クリティカルシンキングスキル⇨学生に不足している</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　歴史的背景や現社会情勢の中で、日本が置かれている環境や状況を理解していることの重要性</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（機会を待つだけでなく、機会を作れる人間になる）</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p:txBody>
      </p:sp>
      <p:sp>
        <p:nvSpPr>
          <p:cNvPr id="7" name="テキスト ボックス 6">
            <a:extLst>
              <a:ext uri="{FF2B5EF4-FFF2-40B4-BE49-F238E27FC236}">
                <a16:creationId xmlns:a16="http://schemas.microsoft.com/office/drawing/2014/main" id="{C244A938-6835-EFE0-1199-A935BE2A7CA8}"/>
              </a:ext>
            </a:extLst>
          </p:cNvPr>
          <p:cNvSpPr txBox="1"/>
          <p:nvPr/>
        </p:nvSpPr>
        <p:spPr>
          <a:xfrm>
            <a:off x="2402111" y="2570199"/>
            <a:ext cx="7715574" cy="646331"/>
          </a:xfrm>
          <a:prstGeom prst="rect">
            <a:avLst/>
          </a:prstGeom>
          <a:noFill/>
        </p:spPr>
        <p:txBody>
          <a:bodyPr wrap="none" rtlCol="0">
            <a:spAutoFit/>
          </a:bodyPr>
          <a:lstStyle/>
          <a:p>
            <a:r>
              <a:rPr kumimoji="1" lang="ja-JP" altLang="en-US" sz="1200">
                <a:highlight>
                  <a:srgbClr val="FF7E79"/>
                </a:highlight>
                <a:latin typeface="Hiragino Sans W4" panose="020B0400000000000000" pitchFamily="34" charset="-128"/>
                <a:ea typeface="Hiragino Sans W4" panose="020B0400000000000000" pitchFamily="34" charset="-128"/>
              </a:rPr>
              <a:t>ゼミとして、リサーチャーが研究したいこと</a:t>
            </a:r>
            <a:endParaRPr kumimoji="1" lang="en-US" altLang="ja-JP" sz="1200" dirty="0">
              <a:highlight>
                <a:srgbClr val="FF7E79"/>
              </a:highlight>
              <a:latin typeface="Hiragino Sans W4" panose="020B0400000000000000" pitchFamily="34" charset="-128"/>
              <a:ea typeface="Hiragino Sans W4" panose="020B0400000000000000" pitchFamily="34" charset="-128"/>
            </a:endParaRPr>
          </a:p>
          <a:p>
            <a:r>
              <a:rPr kumimoji="1" lang="ja-JP" altLang="en-US" sz="1200">
                <a:highlight>
                  <a:srgbClr val="FF7E79"/>
                </a:highlight>
                <a:latin typeface="Hiragino Sans W4" panose="020B0400000000000000" pitchFamily="34" charset="-128"/>
                <a:ea typeface="Hiragino Sans W4" panose="020B0400000000000000" pitchFamily="34" charset="-128"/>
              </a:rPr>
              <a:t>（所属会社に関わらず、大学の研究室的にやってほしい！）</a:t>
            </a:r>
            <a:endParaRPr kumimoji="1" lang="en-US" altLang="ja-JP" sz="1200" dirty="0">
              <a:highlight>
                <a:srgbClr val="FF7E79"/>
              </a:highlight>
              <a:latin typeface="Hiragino Sans W4" panose="020B0400000000000000" pitchFamily="34" charset="-128"/>
              <a:ea typeface="Hiragino Sans W4" panose="020B0400000000000000" pitchFamily="34" charset="-128"/>
            </a:endParaRPr>
          </a:p>
          <a:p>
            <a:r>
              <a:rPr kumimoji="1" lang="ja-JP" altLang="en-US" sz="1200">
                <a:highlight>
                  <a:srgbClr val="FF7E79"/>
                </a:highlight>
                <a:latin typeface="Hiragino Sans W4" panose="020B0400000000000000" pitchFamily="34" charset="-128"/>
                <a:ea typeface="Hiragino Sans W4" panose="020B0400000000000000" pitchFamily="34" charset="-128"/>
              </a:rPr>
              <a:t>３ゼミ（ティーチングとコーチング）松田さん、四章限のマトリックス（営利非営利、</a:t>
            </a:r>
            <a:r>
              <a:rPr kumimoji="1" lang="en-US" altLang="ja-JP" sz="1200" dirty="0">
                <a:highlight>
                  <a:srgbClr val="FF7E79"/>
                </a:highlight>
                <a:latin typeface="Hiragino Sans W4" panose="020B0400000000000000" pitchFamily="34" charset="-128"/>
                <a:ea typeface="Hiragino Sans W4" panose="020B0400000000000000" pitchFamily="34" charset="-128"/>
              </a:rPr>
              <a:t>IP</a:t>
            </a:r>
            <a:r>
              <a:rPr kumimoji="1" lang="ja-JP" altLang="en-US" sz="1200">
                <a:highlight>
                  <a:srgbClr val="FF7E79"/>
                </a:highlight>
                <a:latin typeface="Hiragino Sans W4" panose="020B0400000000000000" pitchFamily="34" charset="-128"/>
                <a:ea typeface="Hiragino Sans W4" panose="020B0400000000000000" pitchFamily="34" charset="-128"/>
              </a:rPr>
              <a:t>活用と劇団ツアー）</a:t>
            </a:r>
            <a:endParaRPr kumimoji="1" lang="en-US" altLang="ja-JP" sz="1200" dirty="0">
              <a:highlight>
                <a:srgbClr val="FF7E79"/>
              </a:highlight>
              <a:latin typeface="Hiragino Sans W4" panose="020B0400000000000000" pitchFamily="34" charset="-128"/>
              <a:ea typeface="Hiragino Sans W4" panose="020B0400000000000000" pitchFamily="34" charset="-128"/>
            </a:endParaRPr>
          </a:p>
        </p:txBody>
      </p:sp>
      <p:sp>
        <p:nvSpPr>
          <p:cNvPr id="9" name="テキスト ボックス 8">
            <a:extLst>
              <a:ext uri="{FF2B5EF4-FFF2-40B4-BE49-F238E27FC236}">
                <a16:creationId xmlns:a16="http://schemas.microsoft.com/office/drawing/2014/main" id="{B890EB73-3AA5-ACCB-7321-3F1227734B43}"/>
              </a:ext>
            </a:extLst>
          </p:cNvPr>
          <p:cNvSpPr txBox="1"/>
          <p:nvPr/>
        </p:nvSpPr>
        <p:spPr>
          <a:xfrm>
            <a:off x="4607222" y="3973432"/>
            <a:ext cx="7075976" cy="646331"/>
          </a:xfrm>
          <a:prstGeom prst="rect">
            <a:avLst/>
          </a:prstGeom>
          <a:noFill/>
        </p:spPr>
        <p:txBody>
          <a:bodyPr wrap="none" rtlCol="0">
            <a:spAutoFit/>
          </a:bodyPr>
          <a:lstStyle/>
          <a:p>
            <a:r>
              <a:rPr kumimoji="1" lang="ja-JP" altLang="en-US" sz="1200">
                <a:highlight>
                  <a:srgbClr val="00FF00"/>
                </a:highlight>
                <a:latin typeface="Hiragino Sans W4" panose="020B0400000000000000" pitchFamily="34" charset="-128"/>
                <a:ea typeface="Hiragino Sans W4" panose="020B0400000000000000" pitchFamily="34" charset="-128"/>
              </a:rPr>
              <a:t>ゼミのテーマ</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r>
              <a:rPr kumimoji="1" lang="ja-JP" altLang="en-US" sz="1200">
                <a:highlight>
                  <a:srgbClr val="00FF00"/>
                </a:highlight>
                <a:latin typeface="Hiragino Sans W4" panose="020B0400000000000000" pitchFamily="34" charset="-128"/>
                <a:ea typeface="Hiragino Sans W4" panose="020B0400000000000000" pitchFamily="34" charset="-128"/>
              </a:rPr>
              <a:t>　・</a:t>
            </a:r>
            <a:r>
              <a:rPr kumimoji="1" lang="en-US" altLang="ja-JP" sz="1200" dirty="0">
                <a:highlight>
                  <a:srgbClr val="00FF00"/>
                </a:highlight>
                <a:latin typeface="Hiragino Sans W4" panose="020B0400000000000000" pitchFamily="34" charset="-128"/>
                <a:ea typeface="Hiragino Sans W4" panose="020B0400000000000000" pitchFamily="34" charset="-128"/>
              </a:rPr>
              <a:t>K-&lt;Musical</a:t>
            </a:r>
            <a:r>
              <a:rPr kumimoji="1" lang="ja-JP" altLang="en-US" sz="1200">
                <a:highlight>
                  <a:srgbClr val="00FF00"/>
                </a:highlight>
                <a:latin typeface="Hiragino Sans W4" panose="020B0400000000000000" pitchFamily="34" charset="-128"/>
                <a:ea typeface="Hiragino Sans W4" panose="020B0400000000000000" pitchFamily="34" charset="-128"/>
              </a:rPr>
              <a:t>の商業的な部分にフォーカスしたり、丸岡さんに</a:t>
            </a:r>
            <a:r>
              <a:rPr kumimoji="1" lang="en-US" altLang="ja-JP" sz="1200" dirty="0">
                <a:highlight>
                  <a:srgbClr val="00FF00"/>
                </a:highlight>
                <a:latin typeface="Hiragino Sans W4" panose="020B0400000000000000" pitchFamily="34" charset="-128"/>
                <a:ea typeface="Hiragino Sans W4" panose="020B0400000000000000" pitchFamily="34" charset="-128"/>
              </a:rPr>
              <a:t> </a:t>
            </a:r>
            <a:r>
              <a:rPr kumimoji="1" lang="ja-JP" altLang="en-US" sz="1200">
                <a:highlight>
                  <a:srgbClr val="00FF00"/>
                </a:highlight>
                <a:latin typeface="Hiragino Sans W4" panose="020B0400000000000000" pitchFamily="34" charset="-128"/>
                <a:ea typeface="Hiragino Sans W4" panose="020B0400000000000000" pitchFamily="34" charset="-128"/>
              </a:rPr>
              <a:t>非営利の例を聞いてみたりなど。</a:t>
            </a:r>
            <a:endParaRPr kumimoji="1" lang="en-US" altLang="ja-JP" sz="1200" dirty="0">
              <a:highlight>
                <a:srgbClr val="00FF00"/>
              </a:highlight>
              <a:latin typeface="Hiragino Sans W4" panose="020B0400000000000000" pitchFamily="34" charset="-128"/>
              <a:ea typeface="Hiragino Sans W4" panose="020B0400000000000000" pitchFamily="34" charset="-128"/>
            </a:endParaRPr>
          </a:p>
          <a:p>
            <a:endParaRPr kumimoji="1" lang="en-US" altLang="ja-JP" sz="1200" dirty="0">
              <a:highlight>
                <a:srgbClr val="00FF00"/>
              </a:highlight>
              <a:latin typeface="Hiragino Sans W4" panose="020B0400000000000000" pitchFamily="34" charset="-128"/>
              <a:ea typeface="Hiragino Sans W4" panose="020B0400000000000000" pitchFamily="34" charset="-128"/>
            </a:endParaRPr>
          </a:p>
        </p:txBody>
      </p:sp>
      <p:sp>
        <p:nvSpPr>
          <p:cNvPr id="10" name="テキスト ボックス 9">
            <a:extLst>
              <a:ext uri="{FF2B5EF4-FFF2-40B4-BE49-F238E27FC236}">
                <a16:creationId xmlns:a16="http://schemas.microsoft.com/office/drawing/2014/main" id="{CAA25AF0-7151-956A-01F9-B3BE5608F7AC}"/>
              </a:ext>
            </a:extLst>
          </p:cNvPr>
          <p:cNvSpPr txBox="1"/>
          <p:nvPr/>
        </p:nvSpPr>
        <p:spPr>
          <a:xfrm>
            <a:off x="5790659" y="128117"/>
            <a:ext cx="545342" cy="276999"/>
          </a:xfrm>
          <a:prstGeom prst="rect">
            <a:avLst/>
          </a:prstGeom>
          <a:noFill/>
        </p:spPr>
        <p:txBody>
          <a:bodyPr wrap="none" rtlCol="0">
            <a:spAutoFit/>
          </a:bodyPr>
          <a:lstStyle/>
          <a:p>
            <a:r>
              <a:rPr kumimoji="1" lang="en-US" altLang="ja-JP" sz="1200" dirty="0">
                <a:highlight>
                  <a:srgbClr val="00FF00"/>
                </a:highlight>
                <a:latin typeface="Hiragino Sans W4" panose="020B0400000000000000" pitchFamily="34" charset="-128"/>
                <a:ea typeface="Hiragino Sans W4" panose="020B0400000000000000" pitchFamily="34" charset="-128"/>
              </a:rPr>
              <a:t>360°</a:t>
            </a:r>
          </a:p>
        </p:txBody>
      </p:sp>
      <p:sp>
        <p:nvSpPr>
          <p:cNvPr id="12" name="テキスト ボックス 11">
            <a:extLst>
              <a:ext uri="{FF2B5EF4-FFF2-40B4-BE49-F238E27FC236}">
                <a16:creationId xmlns:a16="http://schemas.microsoft.com/office/drawing/2014/main" id="{C0C6EEA0-B750-8890-A1FD-DCBB7F1CDC9A}"/>
              </a:ext>
            </a:extLst>
          </p:cNvPr>
          <p:cNvSpPr txBox="1"/>
          <p:nvPr/>
        </p:nvSpPr>
        <p:spPr>
          <a:xfrm>
            <a:off x="2347628" y="6542980"/>
            <a:ext cx="7109639" cy="1938992"/>
          </a:xfrm>
          <a:prstGeom prst="rect">
            <a:avLst/>
          </a:prstGeom>
          <a:noFill/>
        </p:spPr>
        <p:txBody>
          <a:bodyPr wrap="none" rtlCol="0">
            <a:spAutoFit/>
          </a:bodyPr>
          <a:lstStyle/>
          <a:p>
            <a:r>
              <a:rPr kumimoji="1" lang="ja-JP" altLang="en-US" sz="1200">
                <a:highlight>
                  <a:srgbClr val="FFFF00"/>
                </a:highlight>
                <a:latin typeface="Hiragino Sans W4" panose="020B0400000000000000" pitchFamily="34" charset="-128"/>
                <a:ea typeface="Hiragino Sans W4" panose="020B0400000000000000" pitchFamily="34" charset="-128"/>
              </a:rPr>
              <a:t>世界の解像度が高い、クリティカルシンキングができる人材を作ろう</a:t>
            </a:r>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r>
              <a:rPr kumimoji="1" lang="en-US" altLang="ja-JP" sz="1200" dirty="0">
                <a:highlight>
                  <a:srgbClr val="FFFF00"/>
                </a:highlight>
                <a:latin typeface="Hiragino Sans W4" panose="020B0400000000000000" pitchFamily="34" charset="-128"/>
                <a:ea typeface="Hiragino Sans W4" panose="020B0400000000000000" pitchFamily="34" charset="-128"/>
              </a:rPr>
              <a:t>JPASN</a:t>
            </a:r>
            <a:r>
              <a:rPr kumimoji="1" lang="ja-JP" altLang="en-US" sz="1200">
                <a:highlight>
                  <a:srgbClr val="FFFF00"/>
                </a:highlight>
                <a:latin typeface="Hiragino Sans W4" panose="020B0400000000000000" pitchFamily="34" charset="-128"/>
                <a:ea typeface="Hiragino Sans W4" panose="020B0400000000000000" pitchFamily="34" charset="-128"/>
              </a:rPr>
              <a:t>のリソースを活用</a:t>
            </a:r>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r>
              <a:rPr kumimoji="1" lang="ja-JP" altLang="en-US" sz="1200">
                <a:highlight>
                  <a:srgbClr val="FFFF00"/>
                </a:highlight>
                <a:latin typeface="Hiragino Sans W4" panose="020B0400000000000000" pitchFamily="34" charset="-128"/>
                <a:ea typeface="Hiragino Sans W4" panose="020B0400000000000000" pitchFamily="34" charset="-128"/>
              </a:rPr>
              <a:t>演劇を教材にして、国際競争力をつける</a:t>
            </a:r>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r>
              <a:rPr kumimoji="1" lang="ja-JP" altLang="en-US" sz="1200">
                <a:highlight>
                  <a:srgbClr val="FFFF00"/>
                </a:highlight>
                <a:latin typeface="Hiragino Sans W4" panose="020B0400000000000000" pitchFamily="34" charset="-128"/>
                <a:ea typeface="Hiragino Sans W4" panose="020B0400000000000000" pitchFamily="34" charset="-128"/>
              </a:rPr>
              <a:t>考える人たちを取り込んでいくために、コーティングをメインに</a:t>
            </a:r>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r>
              <a:rPr kumimoji="1" lang="ja-JP" altLang="en-US" sz="1200">
                <a:highlight>
                  <a:srgbClr val="FFFF00"/>
                </a:highlight>
                <a:latin typeface="Hiragino Sans W4" panose="020B0400000000000000" pitchFamily="34" charset="-128"/>
                <a:ea typeface="Hiragino Sans W4" panose="020B0400000000000000" pitchFamily="34" charset="-128"/>
              </a:rPr>
              <a:t>演劇を通じて、ビジネス力を上げる、他のビジネスで成功できる人が、演劇のビジネスで成功できる</a:t>
            </a:r>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endParaRPr kumimoji="1" lang="en-US" altLang="ja-JP" sz="1200" dirty="0">
              <a:highlight>
                <a:srgbClr val="FFFF00"/>
              </a:highlight>
              <a:latin typeface="Hiragino Sans W4" panose="020B0400000000000000" pitchFamily="34" charset="-128"/>
              <a:ea typeface="Hiragino Sans W4" panose="020B0400000000000000" pitchFamily="34" charset="-128"/>
            </a:endParaRPr>
          </a:p>
          <a:p>
            <a:r>
              <a:rPr kumimoji="1" lang="ja-JP" altLang="en-US" sz="1200">
                <a:highlight>
                  <a:srgbClr val="FFFF00"/>
                </a:highlight>
                <a:latin typeface="Hiragino Sans W4" panose="020B0400000000000000" pitchFamily="34" charset="-128"/>
                <a:ea typeface="Hiragino Sans W4" panose="020B0400000000000000" pitchFamily="34" charset="-128"/>
              </a:rPr>
              <a:t>ゼミの向かっていく先が、</a:t>
            </a:r>
            <a:r>
              <a:rPr kumimoji="1" lang="ja-JP" altLang="en-US" sz="1200">
                <a:highlight>
                  <a:srgbClr val="F8BBD0"/>
                </a:highlight>
                <a:latin typeface="Hiragino Sans W4" panose="020B0400000000000000" pitchFamily="34" charset="-128"/>
                <a:ea typeface="Hiragino Sans W4" panose="020B0400000000000000" pitchFamily="34" charset="-128"/>
              </a:rPr>
              <a:t>企画書</a:t>
            </a:r>
            <a:endParaRPr kumimoji="1" lang="en-US" altLang="ja-JP" sz="1200" dirty="0">
              <a:highlight>
                <a:srgbClr val="F8BBD0"/>
              </a:highlight>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20085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899274-90A2-1FE8-BDDA-15970229ADC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94A9618-B2B4-799D-639F-D6F2099AC341}"/>
              </a:ext>
            </a:extLst>
          </p:cNvPr>
          <p:cNvSpPr txBox="1"/>
          <p:nvPr/>
        </p:nvSpPr>
        <p:spPr>
          <a:xfrm>
            <a:off x="367900" y="334240"/>
            <a:ext cx="2492990"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目的とこれまでの議論</a:t>
            </a:r>
          </a:p>
        </p:txBody>
      </p:sp>
      <p:cxnSp>
        <p:nvCxnSpPr>
          <p:cNvPr id="37" name="直線コネクタ 36">
            <a:extLst>
              <a:ext uri="{FF2B5EF4-FFF2-40B4-BE49-F238E27FC236}">
                <a16:creationId xmlns:a16="http://schemas.microsoft.com/office/drawing/2014/main" id="{797C7016-FBAB-3E8B-8C3D-281A5057AB60}"/>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A45C00B1-CD25-A285-D960-13763F27479C}"/>
              </a:ext>
            </a:extLst>
          </p:cNvPr>
          <p:cNvSpPr txBox="1"/>
          <p:nvPr/>
        </p:nvSpPr>
        <p:spPr>
          <a:xfrm>
            <a:off x="756143" y="904329"/>
            <a:ext cx="8430513" cy="677108"/>
          </a:xfrm>
          <a:prstGeom prst="rect">
            <a:avLst/>
          </a:prstGeom>
          <a:noFill/>
        </p:spPr>
        <p:txBody>
          <a:bodyPr wrap="none" rtlCol="0">
            <a:spAutoFit/>
          </a:bodyPr>
          <a:lstStyle/>
          <a:p>
            <a:r>
              <a:rPr kumimoji="1" lang="ja-JP" altLang="en-US" b="1">
                <a:solidFill>
                  <a:srgbClr val="C00000"/>
                </a:solidFill>
                <a:latin typeface="Hiragino Sans W6" panose="020B0400000000000000" pitchFamily="34" charset="-128"/>
                <a:ea typeface="Hiragino Sans W6" panose="020B0400000000000000" pitchFamily="34" charset="-128"/>
              </a:rPr>
              <a:t>目的</a:t>
            </a:r>
            <a:endParaRPr kumimoji="1" lang="en-US" altLang="ja-JP" b="1" dirty="0">
              <a:solidFill>
                <a:srgbClr val="C00000"/>
              </a:solidFill>
              <a:latin typeface="Hiragino Sans W6" panose="020B0400000000000000" pitchFamily="34" charset="-128"/>
              <a:ea typeface="Hiragino Sans W6" panose="020B0400000000000000" pitchFamily="34" charset="-128"/>
            </a:endParaRPr>
          </a:p>
          <a:p>
            <a:pPr marL="800100" lvl="1" indent="-342900">
              <a:buFont typeface="Wingdings" pitchFamily="2" charset="2"/>
              <a:buChar char="Ø"/>
            </a:pPr>
            <a:r>
              <a:rPr kumimoji="1" lang="ja-JP" altLang="en-US" sz="2000" b="1">
                <a:latin typeface="Hiragino Sans W6" panose="020B0400000000000000" pitchFamily="34" charset="-128"/>
                <a:ea typeface="Hiragino Sans W6" panose="020B0400000000000000" pitchFamily="34" charset="-128"/>
              </a:rPr>
              <a:t>日本発のコンテンツを海外展開可能な人材の育成（外貨を稼ぐ）</a:t>
            </a:r>
            <a:endParaRPr kumimoji="1" lang="en-US" altLang="ja-JP" sz="2000" b="1" dirty="0">
              <a:latin typeface="Hiragino Sans W6" panose="020B0400000000000000" pitchFamily="34" charset="-128"/>
              <a:ea typeface="Hiragino Sans W6" panose="020B0400000000000000" pitchFamily="34" charset="-128"/>
            </a:endParaRPr>
          </a:p>
        </p:txBody>
      </p:sp>
      <p:sp>
        <p:nvSpPr>
          <p:cNvPr id="6" name="テキスト ボックス 5">
            <a:extLst>
              <a:ext uri="{FF2B5EF4-FFF2-40B4-BE49-F238E27FC236}">
                <a16:creationId xmlns:a16="http://schemas.microsoft.com/office/drawing/2014/main" id="{94D8EF97-2EC6-FBC0-E09B-D68DEC786B1A}"/>
              </a:ext>
            </a:extLst>
          </p:cNvPr>
          <p:cNvSpPr txBox="1"/>
          <p:nvPr/>
        </p:nvSpPr>
        <p:spPr>
          <a:xfrm>
            <a:off x="756142" y="1843975"/>
            <a:ext cx="8672063" cy="3385542"/>
          </a:xfrm>
          <a:prstGeom prst="rect">
            <a:avLst/>
          </a:prstGeom>
          <a:noFill/>
        </p:spPr>
        <p:txBody>
          <a:bodyPr wrap="square" rtlCol="0">
            <a:spAutoFit/>
          </a:bodyPr>
          <a:lstStyle/>
          <a:p>
            <a:r>
              <a:rPr kumimoji="1" lang="ja-JP" altLang="en-US" b="1">
                <a:solidFill>
                  <a:srgbClr val="C00000"/>
                </a:solidFill>
                <a:latin typeface="Hiragino Sans W6" panose="020B0400000000000000" pitchFamily="34" charset="-128"/>
                <a:ea typeface="Hiragino Sans W6" panose="020B0400000000000000" pitchFamily="34" charset="-128"/>
              </a:rPr>
              <a:t>必要な能力（仮説）</a:t>
            </a:r>
            <a:endParaRPr kumimoji="1" lang="en-US" altLang="ja-JP" b="1" dirty="0">
              <a:solidFill>
                <a:srgbClr val="C00000"/>
              </a:solidFill>
              <a:latin typeface="Hiragino Sans W6" panose="020B0400000000000000" pitchFamily="34" charset="-128"/>
              <a:ea typeface="Hiragino Sans W6" panose="020B0400000000000000" pitchFamily="34" charset="-128"/>
            </a:endParaRPr>
          </a:p>
          <a:p>
            <a:endParaRPr kumimoji="1" lang="ja-JP" altLang="en-US" sz="800" b="1">
              <a:latin typeface="Hiragino Sans W6" panose="020B0400000000000000" pitchFamily="34" charset="-128"/>
              <a:ea typeface="Hiragino Sans W6" panose="020B0400000000000000" pitchFamily="34" charset="-128"/>
            </a:endParaRPr>
          </a:p>
          <a:p>
            <a:pPr marL="914400" lvl="1"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「これを世界に届けたい」という意思と審美眼</a:t>
            </a:r>
            <a:endParaRPr lang="en-US" altLang="ja-JP" sz="1400" dirty="0"/>
          </a:p>
          <a:p>
            <a:pPr lvl="2"/>
            <a:r>
              <a:rPr lang="ja-JP" altLang="en-US" sz="1400"/>
              <a:t>何がなぜ面白いのかを自分の言葉で語れること。市場に合わせて作品を変形させるのではなく、作品の核を守りながら届け方を変えられる判断軸。</a:t>
            </a:r>
            <a:endParaRPr lang="en-US" altLang="ja-JP" sz="1400" dirty="0"/>
          </a:p>
          <a:p>
            <a:pPr lvl="2"/>
            <a:endParaRPr kumimoji="1" lang="en-US" altLang="ja-JP" sz="1600" b="1" dirty="0">
              <a:latin typeface="Hiragino Sans W6" panose="020B0400000000000000" pitchFamily="34" charset="-128"/>
              <a:ea typeface="Hiragino Sans W6" panose="020B0400000000000000" pitchFamily="34" charset="-128"/>
            </a:endParaRPr>
          </a:p>
          <a:p>
            <a:pPr marL="914400" lvl="1"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「交渉できる人間力」</a:t>
            </a:r>
            <a:endParaRPr lang="en-US" altLang="ja-JP" sz="1400" dirty="0"/>
          </a:p>
          <a:p>
            <a:pPr lvl="2"/>
            <a:r>
              <a:rPr lang="ja-JP" altLang="en-US" sz="1400"/>
              <a:t>契約書が読めることより、相手と信頼関係を作れること。文化的背景が違う相手と、誤解を恐れずに本音で話せること。これは語学力とは別に「自分が何者か」を明確に持っている人間。</a:t>
            </a:r>
            <a:endParaRPr lang="en-US" altLang="ja-JP" sz="1400" dirty="0"/>
          </a:p>
          <a:p>
            <a:pPr lvl="2"/>
            <a:endParaRPr kumimoji="1" lang="en-US" altLang="ja-JP" sz="1400" b="1" dirty="0">
              <a:latin typeface="Hiragino Sans W6" panose="020B0400000000000000" pitchFamily="34" charset="-128"/>
              <a:ea typeface="Hiragino Sans W6" panose="020B0400000000000000" pitchFamily="34" charset="-128"/>
            </a:endParaRPr>
          </a:p>
          <a:p>
            <a:pPr marL="914400" lvl="1"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「お金の構造を設計できる能力」</a:t>
            </a:r>
            <a:endParaRPr lang="en-US" altLang="ja-JP" sz="1400" dirty="0"/>
          </a:p>
          <a:p>
            <a:pPr lvl="2"/>
            <a:r>
              <a:rPr lang="ja-JP" altLang="en-US" sz="1400"/>
              <a:t>助成金をもらうことと、ビジネスとして成立させることは別。誰がどこでどうお金を出し、どう回収するかを複数のシナリオで描ける人。（ここが日本の舞台芸術プロデューサーに最も欠けている部分）</a:t>
            </a:r>
            <a:endParaRPr kumimoji="1" lang="en-US" altLang="ja-JP" sz="1400" b="1" dirty="0">
              <a:latin typeface="Hiragino Sans W6" panose="020B0400000000000000" pitchFamily="34" charset="-128"/>
              <a:ea typeface="Hiragino Sans W6" panose="020B0400000000000000" pitchFamily="34" charset="-128"/>
            </a:endParaRPr>
          </a:p>
        </p:txBody>
      </p:sp>
      <p:sp>
        <p:nvSpPr>
          <p:cNvPr id="2" name="テキスト ボックス 1">
            <a:extLst>
              <a:ext uri="{FF2B5EF4-FFF2-40B4-BE49-F238E27FC236}">
                <a16:creationId xmlns:a16="http://schemas.microsoft.com/office/drawing/2014/main" id="{E4240C18-C69F-187D-4FD8-A34DE347DABE}"/>
              </a:ext>
            </a:extLst>
          </p:cNvPr>
          <p:cNvSpPr txBox="1"/>
          <p:nvPr/>
        </p:nvSpPr>
        <p:spPr>
          <a:xfrm>
            <a:off x="756142" y="5353506"/>
            <a:ext cx="8116324" cy="1200329"/>
          </a:xfrm>
          <a:prstGeom prst="rect">
            <a:avLst/>
          </a:prstGeom>
          <a:noFill/>
        </p:spPr>
        <p:txBody>
          <a:bodyPr wrap="none" rtlCol="0">
            <a:spAutoFit/>
          </a:bodyPr>
          <a:lstStyle/>
          <a:p>
            <a:r>
              <a:rPr kumimoji="1" lang="ja-JP" altLang="en-US" b="1">
                <a:solidFill>
                  <a:srgbClr val="C00000"/>
                </a:solidFill>
                <a:latin typeface="Hiragino Sans W6" panose="020B0400000000000000" pitchFamily="34" charset="-128"/>
                <a:ea typeface="Hiragino Sans W6" panose="020B0400000000000000" pitchFamily="34" charset="-128"/>
              </a:rPr>
              <a:t>講座設計におけるジレンマ</a:t>
            </a:r>
            <a:endParaRPr kumimoji="1" lang="en-US" altLang="ja-JP" b="1" dirty="0">
              <a:solidFill>
                <a:srgbClr val="C00000"/>
              </a:solidFill>
              <a:latin typeface="Hiragino Sans W6" panose="020B0400000000000000" pitchFamily="34" charset="-128"/>
              <a:ea typeface="Hiragino Sans W6" panose="020B0400000000000000" pitchFamily="34" charset="-128"/>
            </a:endParaRPr>
          </a:p>
          <a:p>
            <a:endParaRPr kumimoji="1" lang="en-US" altLang="ja-JP" sz="800" b="1" dirty="0">
              <a:solidFill>
                <a:srgbClr val="0070C0"/>
              </a:solidFill>
              <a:latin typeface="Hiragino Sans W6" panose="020B0400000000000000" pitchFamily="34" charset="-128"/>
              <a:ea typeface="Hiragino Sans W6" panose="020B0400000000000000" pitchFamily="34" charset="-128"/>
            </a:endParaRPr>
          </a:p>
          <a:p>
            <a:pPr marL="742950" lvl="1" indent="-285750">
              <a:buFont typeface="Wingdings" pitchFamily="2" charset="2"/>
              <a:buChar char="Ø"/>
            </a:pPr>
            <a:r>
              <a:rPr kumimoji="1" lang="ja-JP" altLang="en-US" sz="1600" b="1">
                <a:solidFill>
                  <a:srgbClr val="0070C0"/>
                </a:solidFill>
                <a:latin typeface="Hiragino Sans W6" panose="020B0400000000000000" pitchFamily="34" charset="-128"/>
                <a:ea typeface="Hiragino Sans W6" panose="020B0400000000000000" pitchFamily="34" charset="-128"/>
              </a:rPr>
              <a:t>日本での成功例が少なく、国内で実地経験を積む場所が無い（限られている）</a:t>
            </a:r>
            <a:endParaRPr kumimoji="1" lang="en-US" altLang="ja-JP" sz="1600" b="1" dirty="0">
              <a:solidFill>
                <a:srgbClr val="0070C0"/>
              </a:solidFill>
              <a:latin typeface="Hiragino Sans W6" panose="020B0400000000000000" pitchFamily="34" charset="-128"/>
              <a:ea typeface="Hiragino Sans W6" panose="020B0400000000000000" pitchFamily="34" charset="-128"/>
            </a:endParaRPr>
          </a:p>
          <a:p>
            <a:pPr marL="742950" lvl="1" indent="-285750">
              <a:buFont typeface="Wingdings" pitchFamily="2" charset="2"/>
              <a:buChar char="Ø"/>
            </a:pPr>
            <a:r>
              <a:rPr kumimoji="1" lang="ja-JP" altLang="en-US" sz="1600" b="1">
                <a:solidFill>
                  <a:srgbClr val="0070C0"/>
                </a:solidFill>
                <a:latin typeface="Hiragino Sans W6" panose="020B0400000000000000" pitchFamily="34" charset="-128"/>
                <a:ea typeface="Hiragino Sans W6" panose="020B0400000000000000" pitchFamily="34" charset="-128"/>
              </a:rPr>
              <a:t>育成された人材が国内で活躍できる場がない（限られている）</a:t>
            </a:r>
            <a:endParaRPr kumimoji="1" lang="en-US" altLang="ja-JP" sz="1600" b="1" dirty="0">
              <a:solidFill>
                <a:srgbClr val="0070C0"/>
              </a:solidFill>
              <a:latin typeface="Hiragino Sans W6" panose="020B0400000000000000" pitchFamily="34" charset="-128"/>
              <a:ea typeface="Hiragino Sans W6" panose="020B0400000000000000" pitchFamily="34" charset="-128"/>
            </a:endParaRPr>
          </a:p>
          <a:p>
            <a:pPr marL="742950" lvl="1" indent="-285750">
              <a:buFont typeface="Wingdings" pitchFamily="2" charset="2"/>
              <a:buChar char="Ø"/>
            </a:pPr>
            <a:endParaRPr kumimoji="1" lang="en-US" altLang="ja-JP" sz="1400" b="1" dirty="0">
              <a:solidFill>
                <a:srgbClr val="0070C0"/>
              </a:solidFill>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2774418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45046B-C66B-18CB-0314-A890D430014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D0E955-74DD-BD98-A36C-AB8F7D0F27CD}"/>
              </a:ext>
            </a:extLst>
          </p:cNvPr>
          <p:cNvSpPr txBox="1"/>
          <p:nvPr/>
        </p:nvSpPr>
        <p:spPr>
          <a:xfrm>
            <a:off x="367900" y="334240"/>
            <a:ext cx="3877985"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インターンにかわるフェーズ２の案</a:t>
            </a:r>
          </a:p>
        </p:txBody>
      </p:sp>
      <p:cxnSp>
        <p:nvCxnSpPr>
          <p:cNvPr id="37" name="直線コネクタ 36">
            <a:extLst>
              <a:ext uri="{FF2B5EF4-FFF2-40B4-BE49-F238E27FC236}">
                <a16:creationId xmlns:a16="http://schemas.microsoft.com/office/drawing/2014/main" id="{68CE8028-050D-0B64-73EA-4906CE390B47}"/>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274D8AE4-EF6E-B779-49B6-766B95065312}"/>
              </a:ext>
            </a:extLst>
          </p:cNvPr>
          <p:cNvSpPr txBox="1"/>
          <p:nvPr/>
        </p:nvSpPr>
        <p:spPr>
          <a:xfrm>
            <a:off x="684423" y="1213580"/>
            <a:ext cx="1980029" cy="400110"/>
          </a:xfrm>
          <a:prstGeom prst="rect">
            <a:avLst/>
          </a:prstGeom>
          <a:noFill/>
        </p:spPr>
        <p:txBody>
          <a:bodyPr wrap="none" rtlCol="0">
            <a:spAutoFit/>
          </a:bodyPr>
          <a:lstStyle/>
          <a:p>
            <a:r>
              <a:rPr kumimoji="1" lang="ja-JP" altLang="en-US" sz="2000" b="1">
                <a:solidFill>
                  <a:srgbClr val="C00000"/>
                </a:solidFill>
                <a:latin typeface="Hiragino Sans W8" panose="020B0400000000000000" pitchFamily="34" charset="-128"/>
                <a:ea typeface="Hiragino Sans W8" panose="020B0400000000000000" pitchFamily="34" charset="-128"/>
              </a:rPr>
              <a:t>観劇プログラム</a:t>
            </a:r>
          </a:p>
        </p:txBody>
      </p:sp>
      <p:sp>
        <p:nvSpPr>
          <p:cNvPr id="6" name="テキスト ボックス 5">
            <a:extLst>
              <a:ext uri="{FF2B5EF4-FFF2-40B4-BE49-F238E27FC236}">
                <a16:creationId xmlns:a16="http://schemas.microsoft.com/office/drawing/2014/main" id="{35327D09-C2D8-D5D1-4BB9-21919CA353A7}"/>
              </a:ext>
            </a:extLst>
          </p:cNvPr>
          <p:cNvSpPr txBox="1"/>
          <p:nvPr/>
        </p:nvSpPr>
        <p:spPr>
          <a:xfrm>
            <a:off x="967318" y="1625585"/>
            <a:ext cx="5024132" cy="1200329"/>
          </a:xfrm>
          <a:prstGeom prst="rect">
            <a:avLst/>
          </a:prstGeom>
          <a:noFill/>
        </p:spPr>
        <p:txBody>
          <a:bodyPr wrap="none" rtlCol="0">
            <a:spAutoFit/>
          </a:bodyPr>
          <a:lstStyle/>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事務局指定の演目を観劇</a:t>
            </a:r>
          </a:p>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観劇後</a:t>
            </a:r>
            <a:r>
              <a:rPr lang="en-US" altLang="ja-JP" dirty="0">
                <a:latin typeface="Hiragino Sans W4" panose="020B0400000000000000" pitchFamily="34" charset="-128"/>
                <a:ea typeface="Hiragino Sans W4" panose="020B0400000000000000" pitchFamily="34" charset="-128"/>
              </a:rPr>
              <a:t>30</a:t>
            </a:r>
            <a:r>
              <a:rPr lang="ja-JP" altLang="en-US">
                <a:latin typeface="Hiragino Sans W4" panose="020B0400000000000000" pitchFamily="34" charset="-128"/>
                <a:ea typeface="Hiragino Sans W4" panose="020B0400000000000000" pitchFamily="34" charset="-128"/>
              </a:rPr>
              <a:t>分程度でレポートシート記入</a:t>
            </a:r>
            <a:endParaRPr lang="en-US" altLang="ja-JP" dirty="0">
              <a:latin typeface="Hiragino Sans W4" panose="020B0400000000000000" pitchFamily="34" charset="-128"/>
              <a:ea typeface="Hiragino Sans W4" panose="020B0400000000000000" pitchFamily="34" charset="-128"/>
            </a:endParaRPr>
          </a:p>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プロデューサーとのセッション</a:t>
            </a:r>
            <a:r>
              <a:rPr lang="en-US" altLang="ja-JP" dirty="0">
                <a:latin typeface="Hiragino Sans W4" panose="020B0400000000000000" pitchFamily="34" charset="-128"/>
                <a:ea typeface="Hiragino Sans W4" panose="020B0400000000000000" pitchFamily="34" charset="-128"/>
              </a:rPr>
              <a:t>(60</a:t>
            </a:r>
            <a:r>
              <a:rPr lang="ja-JP" altLang="en-US">
                <a:latin typeface="Hiragino Sans W4" panose="020B0400000000000000" pitchFamily="34" charset="-128"/>
                <a:ea typeface="Hiragino Sans W4" panose="020B0400000000000000" pitchFamily="34" charset="-128"/>
              </a:rPr>
              <a:t>分程度）</a:t>
            </a:r>
            <a:endParaRPr lang="en-US" altLang="ja-JP" dirty="0">
              <a:latin typeface="Hiragino Sans W4" panose="020B0400000000000000" pitchFamily="34" charset="-128"/>
              <a:ea typeface="Hiragino Sans W4" panose="020B0400000000000000" pitchFamily="34" charset="-128"/>
            </a:endParaRPr>
          </a:p>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同じコンテンツで企画書を書く</a:t>
            </a:r>
            <a:endParaRPr lang="en-US" altLang="ja-JP" dirty="0">
              <a:latin typeface="Hiragino Sans W4" panose="020B0400000000000000" pitchFamily="34" charset="-128"/>
              <a:ea typeface="Hiragino Sans W4" panose="020B0400000000000000" pitchFamily="34" charset="-128"/>
            </a:endParaRPr>
          </a:p>
        </p:txBody>
      </p:sp>
      <p:sp>
        <p:nvSpPr>
          <p:cNvPr id="7" name="テキスト ボックス 6">
            <a:extLst>
              <a:ext uri="{FF2B5EF4-FFF2-40B4-BE49-F238E27FC236}">
                <a16:creationId xmlns:a16="http://schemas.microsoft.com/office/drawing/2014/main" id="{F9012A52-39A3-482A-52D0-9D35DBC329AB}"/>
              </a:ext>
            </a:extLst>
          </p:cNvPr>
          <p:cNvSpPr txBox="1"/>
          <p:nvPr/>
        </p:nvSpPr>
        <p:spPr>
          <a:xfrm>
            <a:off x="6063570" y="1378466"/>
            <a:ext cx="3223959" cy="1384995"/>
          </a:xfrm>
          <a:prstGeom prst="rect">
            <a:avLst/>
          </a:prstGeom>
          <a:noFill/>
          <a:ln>
            <a:solidFill>
              <a:srgbClr val="C00000"/>
            </a:solidFill>
          </a:ln>
        </p:spPr>
        <p:txBody>
          <a:bodyPr wrap="none" rtlCol="0">
            <a:spAutoFit/>
          </a:bodyPr>
          <a:lstStyle/>
          <a:p>
            <a:r>
              <a:rPr lang="ja-JP" altLang="en-US" sz="1400">
                <a:latin typeface="Hiragino Sans W4" panose="020B0400000000000000" pitchFamily="34" charset="-128"/>
                <a:ea typeface="Hiragino Sans W4" panose="020B0400000000000000" pitchFamily="34" charset="-128"/>
              </a:rPr>
              <a:t>予算配分</a:t>
            </a:r>
          </a:p>
          <a:p>
            <a:r>
              <a:rPr lang="ja-JP" altLang="en-US" sz="1400">
                <a:latin typeface="Hiragino Sans W4" panose="020B0400000000000000" pitchFamily="34" charset="-128"/>
                <a:ea typeface="Hiragino Sans W4" panose="020B0400000000000000" pitchFamily="34" charset="-128"/>
              </a:rPr>
              <a:t>作品から想像されるターゲット</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（実際の客席の様子）</a:t>
            </a:r>
          </a:p>
          <a:p>
            <a:r>
              <a:rPr lang="ja-JP" altLang="en-US" sz="1400">
                <a:latin typeface="Hiragino Sans W4" panose="020B0400000000000000" pitchFamily="34" charset="-128"/>
                <a:ea typeface="Hiragino Sans W4" panose="020B0400000000000000" pitchFamily="34" charset="-128"/>
              </a:rPr>
              <a:t>適切なチケット料金</a:t>
            </a:r>
          </a:p>
          <a:p>
            <a:r>
              <a:rPr lang="ja-JP" altLang="en-US" sz="1400">
                <a:latin typeface="Hiragino Sans W4" panose="020B0400000000000000" pitchFamily="34" charset="-128"/>
                <a:ea typeface="Hiragino Sans W4" panose="020B0400000000000000" pitchFamily="34" charset="-128"/>
              </a:rPr>
              <a:t>公演のキャッチコピー</a:t>
            </a:r>
          </a:p>
          <a:p>
            <a:r>
              <a:rPr lang="ja-JP" altLang="en-US" sz="1400">
                <a:latin typeface="Hiragino Sans W4" panose="020B0400000000000000" pitchFamily="34" charset="-128"/>
                <a:ea typeface="Hiragino Sans W4" panose="020B0400000000000000" pitchFamily="34" charset="-128"/>
              </a:rPr>
              <a:t>次なる展開案</a:t>
            </a:r>
            <a:r>
              <a:rPr lang="ja-JP" altLang="en-US" sz="900">
                <a:latin typeface="Hiragino Sans W4" panose="020B0400000000000000" pitchFamily="34" charset="-128"/>
                <a:ea typeface="Hiragino Sans W4" panose="020B0400000000000000" pitchFamily="34" charset="-128"/>
              </a:rPr>
              <a:t>（海外、地方公演、トークショウ等）</a:t>
            </a:r>
          </a:p>
        </p:txBody>
      </p:sp>
      <p:cxnSp>
        <p:nvCxnSpPr>
          <p:cNvPr id="9" name="直線矢印コネクタ 8">
            <a:extLst>
              <a:ext uri="{FF2B5EF4-FFF2-40B4-BE49-F238E27FC236}">
                <a16:creationId xmlns:a16="http://schemas.microsoft.com/office/drawing/2014/main" id="{965B2E2E-E525-DDF3-ACE3-1905D40BD893}"/>
              </a:ext>
            </a:extLst>
          </p:cNvPr>
          <p:cNvCxnSpPr>
            <a:cxnSpLocks/>
            <a:endCxn id="7" idx="1"/>
          </p:cNvCxnSpPr>
          <p:nvPr/>
        </p:nvCxnSpPr>
        <p:spPr>
          <a:xfrm>
            <a:off x="5346681" y="2059240"/>
            <a:ext cx="716889" cy="11724"/>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E40F39A4-9F47-FBF6-D87C-96A4327FDAC3}"/>
              </a:ext>
            </a:extLst>
          </p:cNvPr>
          <p:cNvSpPr txBox="1"/>
          <p:nvPr/>
        </p:nvSpPr>
        <p:spPr>
          <a:xfrm>
            <a:off x="684423" y="3337412"/>
            <a:ext cx="4578497" cy="400110"/>
          </a:xfrm>
          <a:prstGeom prst="rect">
            <a:avLst/>
          </a:prstGeom>
          <a:noFill/>
        </p:spPr>
        <p:txBody>
          <a:bodyPr wrap="none" rtlCol="0">
            <a:spAutoFit/>
          </a:bodyPr>
          <a:lstStyle/>
          <a:p>
            <a:r>
              <a:rPr kumimoji="1" lang="en-US" altLang="ja-JP" sz="2000" b="1" dirty="0">
                <a:solidFill>
                  <a:srgbClr val="C00000"/>
                </a:solidFill>
                <a:latin typeface="Hiragino Sans W8" panose="020B0400000000000000" pitchFamily="34" charset="-128"/>
                <a:ea typeface="Hiragino Sans W8" panose="020B0400000000000000" pitchFamily="34" charset="-128"/>
              </a:rPr>
              <a:t>TOEIC</a:t>
            </a:r>
            <a:r>
              <a:rPr kumimoji="1" lang="ja-JP" altLang="en-US" sz="2000" b="1">
                <a:solidFill>
                  <a:srgbClr val="C00000"/>
                </a:solidFill>
                <a:latin typeface="Hiragino Sans W8" panose="020B0400000000000000" pitchFamily="34" charset="-128"/>
                <a:ea typeface="Hiragino Sans W8" panose="020B0400000000000000" pitchFamily="34" charset="-128"/>
              </a:rPr>
              <a:t>的なテストの施行と教材作り</a:t>
            </a:r>
          </a:p>
        </p:txBody>
      </p:sp>
      <p:sp>
        <p:nvSpPr>
          <p:cNvPr id="12" name="テキスト ボックス 11">
            <a:extLst>
              <a:ext uri="{FF2B5EF4-FFF2-40B4-BE49-F238E27FC236}">
                <a16:creationId xmlns:a16="http://schemas.microsoft.com/office/drawing/2014/main" id="{2AE0B7DA-EDE1-3788-B236-F99E8727EDF3}"/>
              </a:ext>
            </a:extLst>
          </p:cNvPr>
          <p:cNvSpPr txBox="1"/>
          <p:nvPr/>
        </p:nvSpPr>
        <p:spPr>
          <a:xfrm>
            <a:off x="967318" y="3794686"/>
            <a:ext cx="4628190" cy="646331"/>
          </a:xfrm>
          <a:prstGeom prst="rect">
            <a:avLst/>
          </a:prstGeom>
          <a:noFill/>
        </p:spPr>
        <p:txBody>
          <a:bodyPr wrap="none" rtlCol="0">
            <a:spAutoFit/>
          </a:bodyPr>
          <a:lstStyle/>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座学を通じた教材作りのための知見収集</a:t>
            </a:r>
          </a:p>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効果測定と検証</a:t>
            </a:r>
            <a:endParaRPr lang="en-US" altLang="ja-JP" dirty="0">
              <a:latin typeface="Hiragino Sans W4" panose="020B0400000000000000" pitchFamily="34" charset="-128"/>
              <a:ea typeface="Hiragino Sans W4" panose="020B0400000000000000" pitchFamily="34" charset="-128"/>
            </a:endParaRPr>
          </a:p>
        </p:txBody>
      </p:sp>
      <p:sp>
        <p:nvSpPr>
          <p:cNvPr id="13" name="テキスト ボックス 12">
            <a:extLst>
              <a:ext uri="{FF2B5EF4-FFF2-40B4-BE49-F238E27FC236}">
                <a16:creationId xmlns:a16="http://schemas.microsoft.com/office/drawing/2014/main" id="{BF9E5242-6D8F-B82E-EA08-CE4AFC13F1DF}"/>
              </a:ext>
            </a:extLst>
          </p:cNvPr>
          <p:cNvSpPr txBox="1"/>
          <p:nvPr/>
        </p:nvSpPr>
        <p:spPr>
          <a:xfrm>
            <a:off x="684423" y="5002480"/>
            <a:ext cx="3775393" cy="400110"/>
          </a:xfrm>
          <a:prstGeom prst="rect">
            <a:avLst/>
          </a:prstGeom>
          <a:noFill/>
        </p:spPr>
        <p:txBody>
          <a:bodyPr wrap="none" rtlCol="0">
            <a:spAutoFit/>
          </a:bodyPr>
          <a:lstStyle/>
          <a:p>
            <a:r>
              <a:rPr kumimoji="1" lang="ja-JP" altLang="en-US" sz="2000" b="1">
                <a:solidFill>
                  <a:srgbClr val="C00000"/>
                </a:solidFill>
                <a:latin typeface="Hiragino Sans W8" panose="020B0400000000000000" pitchFamily="34" charset="-128"/>
                <a:ea typeface="Hiragino Sans W8" panose="020B0400000000000000" pitchFamily="34" charset="-128"/>
              </a:rPr>
              <a:t>プロデューサー版しくじり先生</a:t>
            </a:r>
          </a:p>
        </p:txBody>
      </p:sp>
      <p:sp>
        <p:nvSpPr>
          <p:cNvPr id="14" name="テキスト ボックス 13">
            <a:extLst>
              <a:ext uri="{FF2B5EF4-FFF2-40B4-BE49-F238E27FC236}">
                <a16:creationId xmlns:a16="http://schemas.microsoft.com/office/drawing/2014/main" id="{193F99E8-73CD-398D-FEF2-2A16F867ECCA}"/>
              </a:ext>
            </a:extLst>
          </p:cNvPr>
          <p:cNvSpPr txBox="1"/>
          <p:nvPr/>
        </p:nvSpPr>
        <p:spPr>
          <a:xfrm>
            <a:off x="967318" y="5459754"/>
            <a:ext cx="4628190" cy="369332"/>
          </a:xfrm>
          <a:prstGeom prst="rect">
            <a:avLst/>
          </a:prstGeom>
          <a:noFill/>
        </p:spPr>
        <p:txBody>
          <a:bodyPr wrap="none" rtlCol="0">
            <a:spAutoFit/>
          </a:bodyPr>
          <a:lstStyle/>
          <a:p>
            <a:pPr marL="285750" indent="-285750">
              <a:buFont typeface="Wingdings" pitchFamily="2" charset="2"/>
              <a:buChar char="l"/>
            </a:pPr>
            <a:r>
              <a:rPr lang="ja-JP" altLang="en-US">
                <a:latin typeface="Hiragino Sans W4" panose="020B0400000000000000" pitchFamily="34" charset="-128"/>
                <a:ea typeface="Hiragino Sans W4" panose="020B0400000000000000" pitchFamily="34" charset="-128"/>
              </a:rPr>
              <a:t>海外展開における失敗例を徹底的に聞く</a:t>
            </a:r>
            <a:endParaRPr lang="en-US" altLang="ja-JP" dirty="0">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3618611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076628-129C-F028-15DE-EAADAF82B7F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BD19977-9AA0-2BFA-BC46-14AAAEA55517}"/>
              </a:ext>
            </a:extLst>
          </p:cNvPr>
          <p:cNvSpPr txBox="1"/>
          <p:nvPr/>
        </p:nvSpPr>
        <p:spPr>
          <a:xfrm>
            <a:off x="367900" y="334240"/>
            <a:ext cx="5461752"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　座学オープン講座（９月</a:t>
            </a:r>
            <a:r>
              <a:rPr kumimoji="1" lang="en-US" altLang="ja-JP" b="1" dirty="0">
                <a:latin typeface="Hiragino Sans W6" panose="020B0400000000000000" pitchFamily="34" charset="-128"/>
                <a:ea typeface="Hiragino Sans W6" panose="020B0400000000000000" pitchFamily="34" charset="-128"/>
              </a:rPr>
              <a:t>〜</a:t>
            </a:r>
            <a:r>
              <a:rPr kumimoji="1" lang="ja-JP" altLang="en-US" b="1">
                <a:latin typeface="Hiragino Sans W6" panose="020B0400000000000000" pitchFamily="34" charset="-128"/>
                <a:ea typeface="Hiragino Sans W6" panose="020B0400000000000000" pitchFamily="34" charset="-128"/>
              </a:rPr>
              <a:t>１０月）</a:t>
            </a:r>
          </a:p>
        </p:txBody>
      </p:sp>
      <p:cxnSp>
        <p:nvCxnSpPr>
          <p:cNvPr id="37" name="直線コネクタ 36">
            <a:extLst>
              <a:ext uri="{FF2B5EF4-FFF2-40B4-BE49-F238E27FC236}">
                <a16:creationId xmlns:a16="http://schemas.microsoft.com/office/drawing/2014/main" id="{27B1C582-2A4C-98DD-8D76-9F7678C2D800}"/>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24" name="Shape 3">
            <a:extLst>
              <a:ext uri="{FF2B5EF4-FFF2-40B4-BE49-F238E27FC236}">
                <a16:creationId xmlns:a16="http://schemas.microsoft.com/office/drawing/2014/main" id="{CEA1ABF3-E5C6-3A50-1075-7DF3235102A3}"/>
              </a:ext>
            </a:extLst>
          </p:cNvPr>
          <p:cNvSpPr/>
          <p:nvPr/>
        </p:nvSpPr>
        <p:spPr>
          <a:xfrm>
            <a:off x="456887" y="1783551"/>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26" name="Shape 4">
            <a:extLst>
              <a:ext uri="{FF2B5EF4-FFF2-40B4-BE49-F238E27FC236}">
                <a16:creationId xmlns:a16="http://schemas.microsoft.com/office/drawing/2014/main" id="{2E04C6BE-664E-E4E2-4FE6-52AF08048F1B}"/>
              </a:ext>
            </a:extLst>
          </p:cNvPr>
          <p:cNvSpPr/>
          <p:nvPr/>
        </p:nvSpPr>
        <p:spPr>
          <a:xfrm>
            <a:off x="456886" y="1783551"/>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27" name="Text 5">
            <a:extLst>
              <a:ext uri="{FF2B5EF4-FFF2-40B4-BE49-F238E27FC236}">
                <a16:creationId xmlns:a16="http://schemas.microsoft.com/office/drawing/2014/main" id="{F8DFD6A8-2950-D973-045E-6ECA19447151}"/>
              </a:ext>
            </a:extLst>
          </p:cNvPr>
          <p:cNvSpPr/>
          <p:nvPr/>
        </p:nvSpPr>
        <p:spPr>
          <a:xfrm>
            <a:off x="639767" y="1856703"/>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01 舞台芸術プロデューサーの役割と歴史</a:t>
            </a:r>
            <a:endParaRPr lang="en-US" sz="1200" dirty="0">
              <a:latin typeface="Hiragino Sans W5" panose="020B0400000000000000" pitchFamily="34" charset="-128"/>
              <a:ea typeface="Hiragino Sans W5" panose="020B0400000000000000" pitchFamily="34" charset="-128"/>
            </a:endParaRPr>
          </a:p>
        </p:txBody>
      </p:sp>
      <p:sp>
        <p:nvSpPr>
          <p:cNvPr id="35" name="Shape 12">
            <a:extLst>
              <a:ext uri="{FF2B5EF4-FFF2-40B4-BE49-F238E27FC236}">
                <a16:creationId xmlns:a16="http://schemas.microsoft.com/office/drawing/2014/main" id="{EBCB8B3F-2805-6D96-F2E3-1342C21F18C7}"/>
              </a:ext>
            </a:extLst>
          </p:cNvPr>
          <p:cNvSpPr/>
          <p:nvPr/>
        </p:nvSpPr>
        <p:spPr>
          <a:xfrm>
            <a:off x="452255" y="4357372"/>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36" name="Shape 13">
            <a:extLst>
              <a:ext uri="{FF2B5EF4-FFF2-40B4-BE49-F238E27FC236}">
                <a16:creationId xmlns:a16="http://schemas.microsoft.com/office/drawing/2014/main" id="{717A88F8-AD46-56A3-EBC3-B4F5DEC1B1E4}"/>
              </a:ext>
            </a:extLst>
          </p:cNvPr>
          <p:cNvSpPr/>
          <p:nvPr/>
        </p:nvSpPr>
        <p:spPr>
          <a:xfrm>
            <a:off x="452254" y="4357372"/>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40" name="Text 14">
            <a:extLst>
              <a:ext uri="{FF2B5EF4-FFF2-40B4-BE49-F238E27FC236}">
                <a16:creationId xmlns:a16="http://schemas.microsoft.com/office/drawing/2014/main" id="{A47EDFA4-1458-2BF2-5D8D-695915487C8E}"/>
              </a:ext>
            </a:extLst>
          </p:cNvPr>
          <p:cNvSpPr/>
          <p:nvPr/>
        </p:nvSpPr>
        <p:spPr>
          <a:xfrm>
            <a:off x="635135" y="4430524"/>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05 資金調達（助成金・スポンサー・CF）</a:t>
            </a:r>
            <a:endParaRPr lang="en-US" sz="1200" dirty="0">
              <a:latin typeface="Hiragino Sans W5" panose="020B0400000000000000" pitchFamily="34" charset="-128"/>
              <a:ea typeface="Hiragino Sans W5" panose="020B0400000000000000" pitchFamily="34" charset="-128"/>
            </a:endParaRPr>
          </a:p>
        </p:txBody>
      </p:sp>
      <p:sp>
        <p:nvSpPr>
          <p:cNvPr id="42" name="Shape 15">
            <a:extLst>
              <a:ext uri="{FF2B5EF4-FFF2-40B4-BE49-F238E27FC236}">
                <a16:creationId xmlns:a16="http://schemas.microsoft.com/office/drawing/2014/main" id="{8EF9AE3B-B814-57A8-C6B2-E0034BCD64E4}"/>
              </a:ext>
            </a:extLst>
          </p:cNvPr>
          <p:cNvSpPr/>
          <p:nvPr/>
        </p:nvSpPr>
        <p:spPr>
          <a:xfrm>
            <a:off x="456887" y="2423631"/>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45" name="Shape 16">
            <a:extLst>
              <a:ext uri="{FF2B5EF4-FFF2-40B4-BE49-F238E27FC236}">
                <a16:creationId xmlns:a16="http://schemas.microsoft.com/office/drawing/2014/main" id="{B13C7D5C-EB8A-9652-B890-30B2C81156CD}"/>
              </a:ext>
            </a:extLst>
          </p:cNvPr>
          <p:cNvSpPr/>
          <p:nvPr/>
        </p:nvSpPr>
        <p:spPr>
          <a:xfrm>
            <a:off x="456886" y="2423631"/>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46" name="Text 17">
            <a:extLst>
              <a:ext uri="{FF2B5EF4-FFF2-40B4-BE49-F238E27FC236}">
                <a16:creationId xmlns:a16="http://schemas.microsoft.com/office/drawing/2014/main" id="{28CC0F22-4AE0-2B00-BD73-AB1423EA61F3}"/>
              </a:ext>
            </a:extLst>
          </p:cNvPr>
          <p:cNvSpPr/>
          <p:nvPr/>
        </p:nvSpPr>
        <p:spPr>
          <a:xfrm>
            <a:off x="639767" y="2496783"/>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02 著作権・契約・IP基礎</a:t>
            </a:r>
            <a:endParaRPr lang="en-US" sz="1200" dirty="0">
              <a:latin typeface="Hiragino Sans W5" panose="020B0400000000000000" pitchFamily="34" charset="-128"/>
              <a:ea typeface="Hiragino Sans W5" panose="020B0400000000000000" pitchFamily="34" charset="-128"/>
            </a:endParaRPr>
          </a:p>
        </p:txBody>
      </p:sp>
      <p:sp>
        <p:nvSpPr>
          <p:cNvPr id="50" name="Shape 21">
            <a:extLst>
              <a:ext uri="{FF2B5EF4-FFF2-40B4-BE49-F238E27FC236}">
                <a16:creationId xmlns:a16="http://schemas.microsoft.com/office/drawing/2014/main" id="{7D1AA878-036C-534F-0212-4CE82E2323E0}"/>
              </a:ext>
            </a:extLst>
          </p:cNvPr>
          <p:cNvSpPr/>
          <p:nvPr/>
        </p:nvSpPr>
        <p:spPr>
          <a:xfrm>
            <a:off x="456887" y="3054567"/>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51" name="Shape 22">
            <a:extLst>
              <a:ext uri="{FF2B5EF4-FFF2-40B4-BE49-F238E27FC236}">
                <a16:creationId xmlns:a16="http://schemas.microsoft.com/office/drawing/2014/main" id="{42A1E1FB-8CE3-E7C2-85DC-11C760F232AB}"/>
              </a:ext>
            </a:extLst>
          </p:cNvPr>
          <p:cNvSpPr/>
          <p:nvPr/>
        </p:nvSpPr>
        <p:spPr>
          <a:xfrm>
            <a:off x="456886" y="3054567"/>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52" name="Text 23">
            <a:extLst>
              <a:ext uri="{FF2B5EF4-FFF2-40B4-BE49-F238E27FC236}">
                <a16:creationId xmlns:a16="http://schemas.microsoft.com/office/drawing/2014/main" id="{7804E332-D7D9-00CA-0431-82E6DAB4F035}"/>
              </a:ext>
            </a:extLst>
          </p:cNvPr>
          <p:cNvSpPr/>
          <p:nvPr/>
        </p:nvSpPr>
        <p:spPr>
          <a:xfrm>
            <a:off x="639767" y="3127719"/>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03 </a:t>
            </a:r>
            <a:r>
              <a:rPr lang="en-US" sz="1200" dirty="0" err="1">
                <a:solidFill>
                  <a:srgbClr val="111827"/>
                </a:solidFill>
                <a:latin typeface="Hiragino Sans W5" panose="020B0400000000000000" pitchFamily="34" charset="-128"/>
                <a:ea typeface="Hiragino Sans W5" panose="020B0400000000000000" pitchFamily="34" charset="-128"/>
              </a:rPr>
              <a:t>海外展開の法務・税務</a:t>
            </a:r>
            <a:endParaRPr lang="en-US" sz="1200" dirty="0">
              <a:latin typeface="Hiragino Sans W5" panose="020B0400000000000000" pitchFamily="34" charset="-128"/>
              <a:ea typeface="Hiragino Sans W5" panose="020B0400000000000000" pitchFamily="34" charset="-128"/>
            </a:endParaRPr>
          </a:p>
        </p:txBody>
      </p:sp>
      <p:sp>
        <p:nvSpPr>
          <p:cNvPr id="53" name="Shape 24">
            <a:extLst>
              <a:ext uri="{FF2B5EF4-FFF2-40B4-BE49-F238E27FC236}">
                <a16:creationId xmlns:a16="http://schemas.microsoft.com/office/drawing/2014/main" id="{048318B2-B934-588D-596F-B6530CB88097}"/>
              </a:ext>
            </a:extLst>
          </p:cNvPr>
          <p:cNvSpPr/>
          <p:nvPr/>
        </p:nvSpPr>
        <p:spPr>
          <a:xfrm>
            <a:off x="456886" y="3724692"/>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55" name="Text 26">
            <a:extLst>
              <a:ext uri="{FF2B5EF4-FFF2-40B4-BE49-F238E27FC236}">
                <a16:creationId xmlns:a16="http://schemas.microsoft.com/office/drawing/2014/main" id="{1D62E0A6-BC59-1106-C947-515CCF01F920}"/>
              </a:ext>
            </a:extLst>
          </p:cNvPr>
          <p:cNvSpPr/>
          <p:nvPr/>
        </p:nvSpPr>
        <p:spPr>
          <a:xfrm>
            <a:off x="639766" y="3797844"/>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04 アクセシビリティと多様性</a:t>
            </a:r>
            <a:endParaRPr lang="en-US" sz="1200" dirty="0">
              <a:latin typeface="Hiragino Sans W5" panose="020B0400000000000000" pitchFamily="34" charset="-128"/>
              <a:ea typeface="Hiragino Sans W5" panose="020B0400000000000000" pitchFamily="34" charset="-128"/>
            </a:endParaRPr>
          </a:p>
        </p:txBody>
      </p:sp>
      <p:sp>
        <p:nvSpPr>
          <p:cNvPr id="56" name="Shape 27">
            <a:extLst>
              <a:ext uri="{FF2B5EF4-FFF2-40B4-BE49-F238E27FC236}">
                <a16:creationId xmlns:a16="http://schemas.microsoft.com/office/drawing/2014/main" id="{2BD1B910-3F6E-CB7E-17F9-8A67846F4092}"/>
              </a:ext>
            </a:extLst>
          </p:cNvPr>
          <p:cNvSpPr/>
          <p:nvPr/>
        </p:nvSpPr>
        <p:spPr>
          <a:xfrm>
            <a:off x="456885" y="5027497"/>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57" name="Shape 28">
            <a:extLst>
              <a:ext uri="{FF2B5EF4-FFF2-40B4-BE49-F238E27FC236}">
                <a16:creationId xmlns:a16="http://schemas.microsoft.com/office/drawing/2014/main" id="{C21F3F46-4D58-5E12-B00E-D7CAB48FC9A9}"/>
              </a:ext>
            </a:extLst>
          </p:cNvPr>
          <p:cNvSpPr/>
          <p:nvPr/>
        </p:nvSpPr>
        <p:spPr>
          <a:xfrm>
            <a:off x="456885" y="3710761"/>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58" name="Text 29">
            <a:extLst>
              <a:ext uri="{FF2B5EF4-FFF2-40B4-BE49-F238E27FC236}">
                <a16:creationId xmlns:a16="http://schemas.microsoft.com/office/drawing/2014/main" id="{B7FEEEA4-60C2-72F9-A434-60660B743E76}"/>
              </a:ext>
            </a:extLst>
          </p:cNvPr>
          <p:cNvSpPr/>
          <p:nvPr/>
        </p:nvSpPr>
        <p:spPr>
          <a:xfrm>
            <a:off x="639765" y="5100649"/>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06 マーケティングと観客開発</a:t>
            </a:r>
            <a:endParaRPr lang="en-US" sz="1200" dirty="0">
              <a:latin typeface="Hiragino Sans W5" panose="020B0400000000000000" pitchFamily="34" charset="-128"/>
              <a:ea typeface="Hiragino Sans W5" panose="020B0400000000000000" pitchFamily="34" charset="-128"/>
            </a:endParaRPr>
          </a:p>
        </p:txBody>
      </p:sp>
      <p:sp>
        <p:nvSpPr>
          <p:cNvPr id="60" name="Shape 31">
            <a:extLst>
              <a:ext uri="{FF2B5EF4-FFF2-40B4-BE49-F238E27FC236}">
                <a16:creationId xmlns:a16="http://schemas.microsoft.com/office/drawing/2014/main" id="{1D4F388F-5AE1-13BF-E224-179405FD80DD}"/>
              </a:ext>
            </a:extLst>
          </p:cNvPr>
          <p:cNvSpPr/>
          <p:nvPr/>
        </p:nvSpPr>
        <p:spPr>
          <a:xfrm>
            <a:off x="456884" y="5013566"/>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62" name="Shape 33">
            <a:extLst>
              <a:ext uri="{FF2B5EF4-FFF2-40B4-BE49-F238E27FC236}">
                <a16:creationId xmlns:a16="http://schemas.microsoft.com/office/drawing/2014/main" id="{797919EE-0024-06AA-CBA7-09F68D585425}"/>
              </a:ext>
            </a:extLst>
          </p:cNvPr>
          <p:cNvSpPr/>
          <p:nvPr/>
        </p:nvSpPr>
        <p:spPr>
          <a:xfrm>
            <a:off x="5078688" y="1783550"/>
            <a:ext cx="4370425" cy="183794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64" name="Text 35">
            <a:extLst>
              <a:ext uri="{FF2B5EF4-FFF2-40B4-BE49-F238E27FC236}">
                <a16:creationId xmlns:a16="http://schemas.microsoft.com/office/drawing/2014/main" id="{DF3CD8D1-6883-14AC-884B-C0AD8B2AA9FC}"/>
              </a:ext>
            </a:extLst>
          </p:cNvPr>
          <p:cNvSpPr/>
          <p:nvPr/>
        </p:nvSpPr>
        <p:spPr>
          <a:xfrm>
            <a:off x="5261568" y="1856703"/>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A</a:t>
            </a:r>
            <a:r>
              <a:rPr lang="ja-JP" altLang="en-US" sz="1200">
                <a:solidFill>
                  <a:srgbClr val="111827"/>
                </a:solidFill>
                <a:latin typeface="Hiragino Sans W5" panose="020B0400000000000000" pitchFamily="34" charset="-128"/>
                <a:ea typeface="Hiragino Sans W5" panose="020B0400000000000000" pitchFamily="34" charset="-128"/>
              </a:rPr>
              <a:t> 先輩プロデューサーから学ぶ</a:t>
            </a:r>
            <a:r>
              <a:rPr lang="ja-JP" altLang="en-US" sz="900">
                <a:solidFill>
                  <a:srgbClr val="111827"/>
                </a:solidFill>
                <a:latin typeface="Hiragino Sans W5" panose="020B0400000000000000" pitchFamily="34" charset="-128"/>
                <a:ea typeface="Hiragino Sans W5" panose="020B0400000000000000" pitchFamily="34" charset="-128"/>
              </a:rPr>
              <a:t>（質疑含む</a:t>
            </a:r>
            <a:r>
              <a:rPr lang="en-US" altLang="ja-JP" sz="900" dirty="0">
                <a:solidFill>
                  <a:srgbClr val="111827"/>
                </a:solidFill>
                <a:latin typeface="Hiragino Sans W5" panose="020B0400000000000000" pitchFamily="34" charset="-128"/>
                <a:ea typeface="Hiragino Sans W5" panose="020B0400000000000000" pitchFamily="34" charset="-128"/>
              </a:rPr>
              <a:t>90</a:t>
            </a:r>
            <a:r>
              <a:rPr lang="ja-JP" altLang="en-US" sz="900">
                <a:solidFill>
                  <a:srgbClr val="111827"/>
                </a:solidFill>
                <a:latin typeface="Hiragino Sans W5" panose="020B0400000000000000" pitchFamily="34" charset="-128"/>
                <a:ea typeface="Hiragino Sans W5" panose="020B0400000000000000" pitchFamily="34" charset="-128"/>
              </a:rPr>
              <a:t>分）</a:t>
            </a:r>
            <a:endParaRPr lang="en-US" altLang="ja-JP" sz="900" dirty="0">
              <a:solidFill>
                <a:srgbClr val="111827"/>
              </a:solidFill>
              <a:latin typeface="Hiragino Sans W5" panose="020B0400000000000000" pitchFamily="34" charset="-128"/>
              <a:ea typeface="Hiragino Sans W5" panose="020B0400000000000000" pitchFamily="34" charset="-128"/>
            </a:endParaRPr>
          </a:p>
        </p:txBody>
      </p:sp>
      <p:sp>
        <p:nvSpPr>
          <p:cNvPr id="66" name="Shape 37">
            <a:extLst>
              <a:ext uri="{FF2B5EF4-FFF2-40B4-BE49-F238E27FC236}">
                <a16:creationId xmlns:a16="http://schemas.microsoft.com/office/drawing/2014/main" id="{302213BA-A801-C555-F486-060DD20DBFDD}"/>
              </a:ext>
            </a:extLst>
          </p:cNvPr>
          <p:cNvSpPr/>
          <p:nvPr/>
        </p:nvSpPr>
        <p:spPr>
          <a:xfrm>
            <a:off x="5078687" y="1783550"/>
            <a:ext cx="97557" cy="1827730"/>
          </a:xfrm>
          <a:prstGeom prst="rect">
            <a:avLst/>
          </a:prstGeom>
          <a:solidFill>
            <a:srgbClr val="C9A84C"/>
          </a:solidFill>
          <a:ln w="12700">
            <a:solidFill>
              <a:srgbClr val="C9A84C"/>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68" name="Shape 33">
            <a:extLst>
              <a:ext uri="{FF2B5EF4-FFF2-40B4-BE49-F238E27FC236}">
                <a16:creationId xmlns:a16="http://schemas.microsoft.com/office/drawing/2014/main" id="{82003C9D-8353-DBA5-EEA1-7068B80B1465}"/>
              </a:ext>
            </a:extLst>
          </p:cNvPr>
          <p:cNvSpPr/>
          <p:nvPr/>
        </p:nvSpPr>
        <p:spPr>
          <a:xfrm>
            <a:off x="5078688" y="3736083"/>
            <a:ext cx="4370425" cy="183794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69" name="Shape 37">
            <a:extLst>
              <a:ext uri="{FF2B5EF4-FFF2-40B4-BE49-F238E27FC236}">
                <a16:creationId xmlns:a16="http://schemas.microsoft.com/office/drawing/2014/main" id="{83AA79CF-88F3-5893-8551-C5DB3C830EE3}"/>
              </a:ext>
            </a:extLst>
          </p:cNvPr>
          <p:cNvSpPr/>
          <p:nvPr/>
        </p:nvSpPr>
        <p:spPr>
          <a:xfrm>
            <a:off x="5078687" y="3736083"/>
            <a:ext cx="97557" cy="1827730"/>
          </a:xfrm>
          <a:prstGeom prst="rect">
            <a:avLst/>
          </a:prstGeom>
          <a:solidFill>
            <a:srgbClr val="C9A84C"/>
          </a:solidFill>
          <a:ln w="12700">
            <a:solidFill>
              <a:srgbClr val="C9A84C"/>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70" name="Text 35">
            <a:extLst>
              <a:ext uri="{FF2B5EF4-FFF2-40B4-BE49-F238E27FC236}">
                <a16:creationId xmlns:a16="http://schemas.microsoft.com/office/drawing/2014/main" id="{FEAAE332-C65D-BBB0-3623-681F34D60D95}"/>
              </a:ext>
            </a:extLst>
          </p:cNvPr>
          <p:cNvSpPr/>
          <p:nvPr/>
        </p:nvSpPr>
        <p:spPr>
          <a:xfrm>
            <a:off x="5290636" y="3770481"/>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ja-JP" sz="1200" dirty="0">
                <a:solidFill>
                  <a:srgbClr val="111827"/>
                </a:solidFill>
                <a:latin typeface="Hiragino Sans W5" panose="020B0400000000000000" pitchFamily="34" charset="-128"/>
                <a:ea typeface="Hiragino Sans W5" panose="020B0400000000000000" pitchFamily="34" charset="-128"/>
              </a:rPr>
              <a:t>B</a:t>
            </a:r>
            <a:r>
              <a:rPr lang="ja-JP" altLang="en-US" sz="1200">
                <a:solidFill>
                  <a:srgbClr val="111827"/>
                </a:solidFill>
                <a:latin typeface="Hiragino Sans W5" panose="020B0400000000000000" pitchFamily="34" charset="-128"/>
                <a:ea typeface="Hiragino Sans W5" panose="020B0400000000000000" pitchFamily="34" charset="-128"/>
              </a:rPr>
              <a:t> 海外プロデューサーの日本への期待値を知る</a:t>
            </a:r>
            <a:r>
              <a:rPr lang="ja-JP" altLang="en-US" sz="900">
                <a:solidFill>
                  <a:srgbClr val="111827"/>
                </a:solidFill>
                <a:latin typeface="Hiragino Sans W5" panose="020B0400000000000000" pitchFamily="34" charset="-128"/>
                <a:ea typeface="Hiragino Sans W5" panose="020B0400000000000000" pitchFamily="34" charset="-128"/>
              </a:rPr>
              <a:t>（質疑含む</a:t>
            </a:r>
            <a:r>
              <a:rPr lang="en-US" altLang="ja-JP" sz="900" dirty="0">
                <a:solidFill>
                  <a:srgbClr val="111827"/>
                </a:solidFill>
                <a:latin typeface="Hiragino Sans W5" panose="020B0400000000000000" pitchFamily="34" charset="-128"/>
                <a:ea typeface="Hiragino Sans W5" panose="020B0400000000000000" pitchFamily="34" charset="-128"/>
              </a:rPr>
              <a:t>90</a:t>
            </a:r>
            <a:r>
              <a:rPr lang="ja-JP" altLang="en-US" sz="900">
                <a:solidFill>
                  <a:srgbClr val="111827"/>
                </a:solidFill>
                <a:latin typeface="Hiragino Sans W5" panose="020B0400000000000000" pitchFamily="34" charset="-128"/>
                <a:ea typeface="Hiragino Sans W5" panose="020B0400000000000000" pitchFamily="34" charset="-128"/>
              </a:rPr>
              <a:t>分）</a:t>
            </a:r>
            <a:endParaRPr lang="en-US" sz="900" dirty="0">
              <a:latin typeface="Hiragino Sans W5" panose="020B0400000000000000" pitchFamily="34" charset="-128"/>
              <a:ea typeface="Hiragino Sans W5" panose="020B0400000000000000" pitchFamily="34" charset="-128"/>
            </a:endParaRPr>
          </a:p>
        </p:txBody>
      </p:sp>
      <p:sp>
        <p:nvSpPr>
          <p:cNvPr id="72" name="角丸四角形 71">
            <a:extLst>
              <a:ext uri="{FF2B5EF4-FFF2-40B4-BE49-F238E27FC236}">
                <a16:creationId xmlns:a16="http://schemas.microsoft.com/office/drawing/2014/main" id="{3A1BDA8F-53F3-EB20-530C-5822AC4F0326}"/>
              </a:ext>
            </a:extLst>
          </p:cNvPr>
          <p:cNvSpPr/>
          <p:nvPr/>
        </p:nvSpPr>
        <p:spPr>
          <a:xfrm>
            <a:off x="5508545" y="2244434"/>
            <a:ext cx="3242508" cy="1274413"/>
          </a:xfrm>
          <a:prstGeom prst="roundRect">
            <a:avLst>
              <a:gd name="adj" fmla="val 10495"/>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ja-JP" altLang="en-US" sz="1400">
                <a:latin typeface="Hiragino Sans W5" panose="020B0400000000000000" pitchFamily="34" charset="-128"/>
                <a:ea typeface="Hiragino Sans W5" panose="020B0400000000000000" pitchFamily="34" charset="-128"/>
              </a:rPr>
              <a:t>福田博之</a:t>
            </a:r>
            <a:endParaRPr kumimoji="1" lang="en-US" altLang="ja-JP" sz="14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400">
                <a:latin typeface="Hiragino Sans W5" panose="020B0400000000000000" pitchFamily="34" charset="-128"/>
                <a:ea typeface="Hiragino Sans W5" panose="020B0400000000000000" pitchFamily="34" charset="-128"/>
              </a:rPr>
              <a:t>松田誠</a:t>
            </a:r>
            <a:endParaRPr kumimoji="1" lang="en-US" altLang="ja-JP" sz="14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400">
                <a:latin typeface="Hiragino Sans W5" panose="020B0400000000000000" pitchFamily="34" charset="-128"/>
                <a:ea typeface="Hiragino Sans W5" panose="020B0400000000000000" pitchFamily="34" charset="-128"/>
              </a:rPr>
              <a:t>尾木晴佳</a:t>
            </a:r>
            <a:endParaRPr kumimoji="1" lang="en-US" altLang="ja-JP" sz="14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400">
                <a:latin typeface="Hiragino Sans W5" panose="020B0400000000000000" pitchFamily="34" charset="-128"/>
                <a:ea typeface="Hiragino Sans W5" panose="020B0400000000000000" pitchFamily="34" charset="-128"/>
              </a:rPr>
              <a:t>西野亮廣</a:t>
            </a:r>
          </a:p>
        </p:txBody>
      </p:sp>
      <p:sp>
        <p:nvSpPr>
          <p:cNvPr id="73" name="角丸四角形 72">
            <a:extLst>
              <a:ext uri="{FF2B5EF4-FFF2-40B4-BE49-F238E27FC236}">
                <a16:creationId xmlns:a16="http://schemas.microsoft.com/office/drawing/2014/main" id="{ADC4B4CE-6692-A2B5-9277-9B4AFA082C7D}"/>
              </a:ext>
            </a:extLst>
          </p:cNvPr>
          <p:cNvSpPr/>
          <p:nvPr/>
        </p:nvSpPr>
        <p:spPr>
          <a:xfrm>
            <a:off x="3765919" y="2500062"/>
            <a:ext cx="1113018" cy="439099"/>
          </a:xfrm>
          <a:prstGeom prst="roundRect">
            <a:avLst>
              <a:gd name="adj" fmla="val 3736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骨董通り</a:t>
            </a:r>
            <a:endParaRPr kumimoji="1" lang="en-US" altLang="ja-JP" sz="1400" b="1" dirty="0">
              <a:latin typeface="Hiragino Sans W6" panose="020B0400000000000000" pitchFamily="34" charset="-128"/>
              <a:ea typeface="Hiragino Sans W6" panose="020B0400000000000000" pitchFamily="34" charset="-128"/>
            </a:endParaRPr>
          </a:p>
          <a:p>
            <a:pPr algn="ctr"/>
            <a:r>
              <a:rPr kumimoji="1" lang="ja-JP" altLang="en-US" sz="1400" b="1">
                <a:latin typeface="Hiragino Sans W6" panose="020B0400000000000000" pitchFamily="34" charset="-128"/>
                <a:ea typeface="Hiragino Sans W6" panose="020B0400000000000000" pitchFamily="34" charset="-128"/>
              </a:rPr>
              <a:t>法律事務所</a:t>
            </a:r>
          </a:p>
        </p:txBody>
      </p:sp>
      <p:sp>
        <p:nvSpPr>
          <p:cNvPr id="74" name="角丸四角形 73">
            <a:extLst>
              <a:ext uri="{FF2B5EF4-FFF2-40B4-BE49-F238E27FC236}">
                <a16:creationId xmlns:a16="http://schemas.microsoft.com/office/drawing/2014/main" id="{C61646DD-FFDD-907A-922D-63F945A57214}"/>
              </a:ext>
            </a:extLst>
          </p:cNvPr>
          <p:cNvSpPr/>
          <p:nvPr/>
        </p:nvSpPr>
        <p:spPr>
          <a:xfrm>
            <a:off x="3765919" y="3127719"/>
            <a:ext cx="1113018" cy="439099"/>
          </a:xfrm>
          <a:prstGeom prst="roundRect">
            <a:avLst>
              <a:gd name="adj" fmla="val 3736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骨董通り</a:t>
            </a:r>
            <a:endParaRPr kumimoji="1" lang="en-US" altLang="ja-JP" sz="1400" b="1" dirty="0">
              <a:latin typeface="Hiragino Sans W6" panose="020B0400000000000000" pitchFamily="34" charset="-128"/>
              <a:ea typeface="Hiragino Sans W6" panose="020B0400000000000000" pitchFamily="34" charset="-128"/>
            </a:endParaRPr>
          </a:p>
          <a:p>
            <a:pPr algn="ctr"/>
            <a:r>
              <a:rPr kumimoji="1" lang="ja-JP" altLang="en-US" sz="1400" b="1">
                <a:latin typeface="Hiragino Sans W6" panose="020B0400000000000000" pitchFamily="34" charset="-128"/>
                <a:ea typeface="Hiragino Sans W6" panose="020B0400000000000000" pitchFamily="34" charset="-128"/>
              </a:rPr>
              <a:t>法律事務所</a:t>
            </a:r>
          </a:p>
        </p:txBody>
      </p:sp>
      <p:sp>
        <p:nvSpPr>
          <p:cNvPr id="75" name="角丸四角形 74">
            <a:extLst>
              <a:ext uri="{FF2B5EF4-FFF2-40B4-BE49-F238E27FC236}">
                <a16:creationId xmlns:a16="http://schemas.microsoft.com/office/drawing/2014/main" id="{E298D7F4-C69F-CCAA-BB55-33963768386A}"/>
              </a:ext>
            </a:extLst>
          </p:cNvPr>
          <p:cNvSpPr/>
          <p:nvPr/>
        </p:nvSpPr>
        <p:spPr>
          <a:xfrm>
            <a:off x="3765919" y="3792324"/>
            <a:ext cx="1113018" cy="439099"/>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田中みゆき</a:t>
            </a:r>
          </a:p>
        </p:txBody>
      </p:sp>
      <p:sp>
        <p:nvSpPr>
          <p:cNvPr id="76" name="角丸四角形 75">
            <a:extLst>
              <a:ext uri="{FF2B5EF4-FFF2-40B4-BE49-F238E27FC236}">
                <a16:creationId xmlns:a16="http://schemas.microsoft.com/office/drawing/2014/main" id="{209767C3-DD6D-EA00-426F-34FDD6D4DAB0}"/>
              </a:ext>
            </a:extLst>
          </p:cNvPr>
          <p:cNvSpPr/>
          <p:nvPr/>
        </p:nvSpPr>
        <p:spPr>
          <a:xfrm>
            <a:off x="3765919" y="4425980"/>
            <a:ext cx="1113018" cy="439099"/>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海外？</a:t>
            </a:r>
          </a:p>
        </p:txBody>
      </p:sp>
      <p:sp>
        <p:nvSpPr>
          <p:cNvPr id="77" name="角丸四角形 76">
            <a:extLst>
              <a:ext uri="{FF2B5EF4-FFF2-40B4-BE49-F238E27FC236}">
                <a16:creationId xmlns:a16="http://schemas.microsoft.com/office/drawing/2014/main" id="{069C5B54-A40F-0E2E-8CDA-2827096B90CC}"/>
              </a:ext>
            </a:extLst>
          </p:cNvPr>
          <p:cNvSpPr/>
          <p:nvPr/>
        </p:nvSpPr>
        <p:spPr>
          <a:xfrm>
            <a:off x="3765919" y="5097516"/>
            <a:ext cx="1113018" cy="439099"/>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海外？</a:t>
            </a:r>
          </a:p>
        </p:txBody>
      </p:sp>
      <p:sp>
        <p:nvSpPr>
          <p:cNvPr id="78" name="角丸四角形 77">
            <a:extLst>
              <a:ext uri="{FF2B5EF4-FFF2-40B4-BE49-F238E27FC236}">
                <a16:creationId xmlns:a16="http://schemas.microsoft.com/office/drawing/2014/main" id="{95C32705-9127-2CE5-824D-AC4D8BF90E5E}"/>
              </a:ext>
            </a:extLst>
          </p:cNvPr>
          <p:cNvSpPr/>
          <p:nvPr/>
        </p:nvSpPr>
        <p:spPr>
          <a:xfrm>
            <a:off x="3769184" y="1857555"/>
            <a:ext cx="1113018" cy="439099"/>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a:latin typeface="Hiragino Sans W6" panose="020B0400000000000000" pitchFamily="34" charset="-128"/>
                <a:ea typeface="Hiragino Sans W6" panose="020B0400000000000000" pitchFamily="34" charset="-128"/>
              </a:rPr>
              <a:t>伊藤さん？</a:t>
            </a:r>
          </a:p>
        </p:txBody>
      </p:sp>
      <p:sp>
        <p:nvSpPr>
          <p:cNvPr id="79" name="角丸四角形 78">
            <a:extLst>
              <a:ext uri="{FF2B5EF4-FFF2-40B4-BE49-F238E27FC236}">
                <a16:creationId xmlns:a16="http://schemas.microsoft.com/office/drawing/2014/main" id="{CF77FA2C-4901-62AE-DEED-FD1ABE723CB5}"/>
              </a:ext>
            </a:extLst>
          </p:cNvPr>
          <p:cNvSpPr/>
          <p:nvPr/>
        </p:nvSpPr>
        <p:spPr>
          <a:xfrm>
            <a:off x="5508545" y="4151777"/>
            <a:ext cx="3242508" cy="1274413"/>
          </a:xfrm>
          <a:prstGeom prst="roundRect">
            <a:avLst>
              <a:gd name="adj" fmla="val 10495"/>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４各国程度／相談したい</a:t>
            </a:r>
          </a:p>
        </p:txBody>
      </p:sp>
      <p:sp>
        <p:nvSpPr>
          <p:cNvPr id="80" name="角丸四角形 79">
            <a:extLst>
              <a:ext uri="{FF2B5EF4-FFF2-40B4-BE49-F238E27FC236}">
                <a16:creationId xmlns:a16="http://schemas.microsoft.com/office/drawing/2014/main" id="{19FF251F-407D-5476-36E4-776E57C0F4AF}"/>
              </a:ext>
            </a:extLst>
          </p:cNvPr>
          <p:cNvSpPr/>
          <p:nvPr/>
        </p:nvSpPr>
        <p:spPr>
          <a:xfrm>
            <a:off x="1573249" y="1261377"/>
            <a:ext cx="2367574" cy="462953"/>
          </a:xfrm>
          <a:prstGeom prst="roundRect">
            <a:avLst>
              <a:gd name="adj" fmla="val 5000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ysClr val="windowText" lastClr="000000"/>
                </a:solidFill>
                <a:latin typeface="Hiragino Sans W6" panose="020B0400000000000000" pitchFamily="34" charset="-128"/>
                <a:ea typeface="Hiragino Sans W6" panose="020B0400000000000000" pitchFamily="34" charset="-128"/>
              </a:rPr>
              <a:t>知識・教養</a:t>
            </a:r>
          </a:p>
        </p:txBody>
      </p:sp>
      <p:sp>
        <p:nvSpPr>
          <p:cNvPr id="81" name="角丸四角形 80">
            <a:extLst>
              <a:ext uri="{FF2B5EF4-FFF2-40B4-BE49-F238E27FC236}">
                <a16:creationId xmlns:a16="http://schemas.microsoft.com/office/drawing/2014/main" id="{41246709-8395-6DFB-F711-68D536D9E394}"/>
              </a:ext>
            </a:extLst>
          </p:cNvPr>
          <p:cNvSpPr/>
          <p:nvPr/>
        </p:nvSpPr>
        <p:spPr>
          <a:xfrm>
            <a:off x="6337764" y="1261377"/>
            <a:ext cx="1852271" cy="462953"/>
          </a:xfrm>
          <a:prstGeom prst="roundRect">
            <a:avLst>
              <a:gd name="adj" fmla="val 50000"/>
            </a:avLst>
          </a:prstGeom>
          <a:solidFill>
            <a:srgbClr val="F8BB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ysClr val="windowText" lastClr="000000"/>
                </a:solidFill>
                <a:latin typeface="Hiragino Sans W6" panose="020B0400000000000000" pitchFamily="34" charset="-128"/>
                <a:ea typeface="Hiragino Sans W6" panose="020B0400000000000000" pitchFamily="34" charset="-128"/>
              </a:rPr>
              <a:t>マインド</a:t>
            </a:r>
          </a:p>
        </p:txBody>
      </p:sp>
      <p:sp>
        <p:nvSpPr>
          <p:cNvPr id="82" name="右中かっこ 81">
            <a:extLst>
              <a:ext uri="{FF2B5EF4-FFF2-40B4-BE49-F238E27FC236}">
                <a16:creationId xmlns:a16="http://schemas.microsoft.com/office/drawing/2014/main" id="{01756552-EE71-5BB0-3623-1F21163F846C}"/>
              </a:ext>
            </a:extLst>
          </p:cNvPr>
          <p:cNvSpPr/>
          <p:nvPr/>
        </p:nvSpPr>
        <p:spPr>
          <a:xfrm rot="5400000">
            <a:off x="2588312" y="3775877"/>
            <a:ext cx="242674" cy="4377904"/>
          </a:xfrm>
          <a:prstGeom prst="rightBrace">
            <a:avLst/>
          </a:prstGeom>
          <a:ln w="38100">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83" name="右中かっこ 82">
            <a:extLst>
              <a:ext uri="{FF2B5EF4-FFF2-40B4-BE49-F238E27FC236}">
                <a16:creationId xmlns:a16="http://schemas.microsoft.com/office/drawing/2014/main" id="{9C96342D-D9CA-5225-2AAC-4689F4619926}"/>
              </a:ext>
            </a:extLst>
          </p:cNvPr>
          <p:cNvSpPr/>
          <p:nvPr/>
        </p:nvSpPr>
        <p:spPr>
          <a:xfrm rot="5400000">
            <a:off x="7164054" y="3782846"/>
            <a:ext cx="242674" cy="4377904"/>
          </a:xfrm>
          <a:prstGeom prst="rightBrace">
            <a:avLst/>
          </a:prstGeom>
          <a:ln w="38100">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85" name="テキスト ボックス 84">
            <a:extLst>
              <a:ext uri="{FF2B5EF4-FFF2-40B4-BE49-F238E27FC236}">
                <a16:creationId xmlns:a16="http://schemas.microsoft.com/office/drawing/2014/main" id="{EE2C05BF-6F38-0284-27E4-93B25B55EDB8}"/>
              </a:ext>
            </a:extLst>
          </p:cNvPr>
          <p:cNvSpPr txBox="1"/>
          <p:nvPr/>
        </p:nvSpPr>
        <p:spPr>
          <a:xfrm>
            <a:off x="676125" y="6230161"/>
            <a:ext cx="4083169" cy="338554"/>
          </a:xfrm>
          <a:prstGeom prst="rect">
            <a:avLst/>
          </a:prstGeom>
          <a:noFill/>
        </p:spPr>
        <p:txBody>
          <a:bodyPr wrap="none" rtlCol="0">
            <a:spAutoFit/>
          </a:bodyPr>
          <a:lstStyle/>
          <a:p>
            <a:pPr algn="ctr"/>
            <a:r>
              <a:rPr kumimoji="1" lang="ja-JP" altLang="en-US" sz="1600">
                <a:solidFill>
                  <a:srgbClr val="C00000"/>
                </a:solidFill>
                <a:latin typeface="Hiragino Sans W5" panose="020B0400000000000000" pitchFamily="34" charset="-128"/>
                <a:ea typeface="Hiragino Sans W5" panose="020B0400000000000000" pitchFamily="34" charset="-128"/>
              </a:rPr>
              <a:t>実践編の選考で出題される筆記テスト範囲</a:t>
            </a:r>
            <a:endParaRPr kumimoji="1" lang="en-US" altLang="ja-JP" sz="1600" dirty="0">
              <a:solidFill>
                <a:srgbClr val="C00000"/>
              </a:solidFill>
              <a:latin typeface="Hiragino Sans W5" panose="020B0400000000000000" pitchFamily="34" charset="-128"/>
              <a:ea typeface="Hiragino Sans W5" panose="020B0400000000000000" pitchFamily="34" charset="-128"/>
            </a:endParaRPr>
          </a:p>
        </p:txBody>
      </p:sp>
      <p:sp>
        <p:nvSpPr>
          <p:cNvPr id="86" name="テキスト ボックス 85">
            <a:extLst>
              <a:ext uri="{FF2B5EF4-FFF2-40B4-BE49-F238E27FC236}">
                <a16:creationId xmlns:a16="http://schemas.microsoft.com/office/drawing/2014/main" id="{2EC659B3-4DCE-E6F4-A6ED-734D987E0D34}"/>
              </a:ext>
            </a:extLst>
          </p:cNvPr>
          <p:cNvSpPr txBox="1"/>
          <p:nvPr/>
        </p:nvSpPr>
        <p:spPr>
          <a:xfrm>
            <a:off x="6514525" y="6230161"/>
            <a:ext cx="1415772" cy="338554"/>
          </a:xfrm>
          <a:prstGeom prst="rect">
            <a:avLst/>
          </a:prstGeom>
          <a:noFill/>
        </p:spPr>
        <p:txBody>
          <a:bodyPr wrap="none" rtlCol="0">
            <a:spAutoFit/>
          </a:bodyPr>
          <a:lstStyle/>
          <a:p>
            <a:pPr algn="ctr"/>
            <a:r>
              <a:rPr kumimoji="1" lang="ja-JP" altLang="en-US" sz="1600">
                <a:solidFill>
                  <a:srgbClr val="C00000"/>
                </a:solidFill>
                <a:latin typeface="Hiragino Sans W5" panose="020B0400000000000000" pitchFamily="34" charset="-128"/>
                <a:ea typeface="Hiragino Sans W5" panose="020B0400000000000000" pitchFamily="34" charset="-128"/>
              </a:rPr>
              <a:t>面接の評価軸</a:t>
            </a:r>
            <a:endParaRPr kumimoji="1" lang="en-US" altLang="ja-JP" sz="1600" dirty="0">
              <a:solidFill>
                <a:srgbClr val="C00000"/>
              </a:solidFill>
              <a:latin typeface="Hiragino Sans W5" panose="020B0400000000000000" pitchFamily="34" charset="-128"/>
              <a:ea typeface="Hiragino Sans W5" panose="020B0400000000000000" pitchFamily="34" charset="-128"/>
            </a:endParaRPr>
          </a:p>
        </p:txBody>
      </p:sp>
      <p:sp>
        <p:nvSpPr>
          <p:cNvPr id="87" name="テキスト ボックス 86">
            <a:extLst>
              <a:ext uri="{FF2B5EF4-FFF2-40B4-BE49-F238E27FC236}">
                <a16:creationId xmlns:a16="http://schemas.microsoft.com/office/drawing/2014/main" id="{3B1BB9C0-7999-ED94-1A95-C7FF65067066}"/>
              </a:ext>
            </a:extLst>
          </p:cNvPr>
          <p:cNvSpPr txBox="1"/>
          <p:nvPr/>
        </p:nvSpPr>
        <p:spPr>
          <a:xfrm>
            <a:off x="367900" y="823145"/>
            <a:ext cx="6882012" cy="307777"/>
          </a:xfrm>
          <a:prstGeom prst="rect">
            <a:avLst/>
          </a:prstGeom>
          <a:noFill/>
        </p:spPr>
        <p:txBody>
          <a:bodyPr wrap="none" rtlCol="0">
            <a:spAutoFit/>
          </a:bodyPr>
          <a:lstStyle/>
          <a:p>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実施方法</a:t>
            </a:r>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オンラインと対面のアイブリット</a:t>
            </a:r>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定員</a:t>
            </a:r>
            <a:r>
              <a:rPr kumimoji="1" lang="en-US" altLang="ja-JP" sz="1400" dirty="0">
                <a:latin typeface="Hiragino Sans W5" panose="020B0400000000000000" pitchFamily="34" charset="-128"/>
                <a:ea typeface="Hiragino Sans W5" panose="020B0400000000000000" pitchFamily="34" charset="-128"/>
              </a:rPr>
              <a:t>】20</a:t>
            </a:r>
            <a:r>
              <a:rPr kumimoji="1" lang="ja-JP" altLang="en-US" sz="1400">
                <a:latin typeface="Hiragino Sans W5" panose="020B0400000000000000" pitchFamily="34" charset="-128"/>
                <a:ea typeface="Hiragino Sans W5" panose="020B0400000000000000" pitchFamily="34" charset="-128"/>
              </a:rPr>
              <a:t>名　＊旅費補助制度検討</a:t>
            </a:r>
            <a:endParaRPr kumimoji="1" lang="en-US" altLang="ja-JP" sz="1400" dirty="0">
              <a:latin typeface="Hiragino Sans W5" panose="020B0400000000000000" pitchFamily="34" charset="-128"/>
              <a:ea typeface="Hiragino Sans W5" panose="020B0400000000000000" pitchFamily="34" charset="-128"/>
            </a:endParaRPr>
          </a:p>
        </p:txBody>
      </p:sp>
      <p:cxnSp>
        <p:nvCxnSpPr>
          <p:cNvPr id="5" name="直線コネクタ 4">
            <a:extLst>
              <a:ext uri="{FF2B5EF4-FFF2-40B4-BE49-F238E27FC236}">
                <a16:creationId xmlns:a16="http://schemas.microsoft.com/office/drawing/2014/main" id="{22213DCA-4D58-0B5E-8238-3E5EA23291BE}"/>
              </a:ext>
            </a:extLst>
          </p:cNvPr>
          <p:cNvCxnSpPr/>
          <p:nvPr/>
        </p:nvCxnSpPr>
        <p:spPr>
          <a:xfrm flipH="1">
            <a:off x="5533097" y="4191105"/>
            <a:ext cx="3217956" cy="118644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角丸四角形吹き出し 5">
            <a:extLst>
              <a:ext uri="{FF2B5EF4-FFF2-40B4-BE49-F238E27FC236}">
                <a16:creationId xmlns:a16="http://schemas.microsoft.com/office/drawing/2014/main" id="{A3B71567-2854-1D80-9135-B5985FF1248C}"/>
              </a:ext>
            </a:extLst>
          </p:cNvPr>
          <p:cNvSpPr/>
          <p:nvPr/>
        </p:nvSpPr>
        <p:spPr>
          <a:xfrm>
            <a:off x="8529672" y="4438754"/>
            <a:ext cx="1140823" cy="671536"/>
          </a:xfrm>
          <a:prstGeom prst="wedgeRoundRectCallout">
            <a:avLst>
              <a:gd name="adj1" fmla="val -76558"/>
              <a:gd name="adj2" fmla="val 40454"/>
              <a:gd name="adj3" fmla="val 16667"/>
            </a:avLst>
          </a:prstGeom>
          <a:solidFill>
            <a:srgbClr val="F8E9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rPr>
              <a:t>一般教養と重なる？</a:t>
            </a:r>
          </a:p>
        </p:txBody>
      </p:sp>
    </p:spTree>
    <p:extLst>
      <p:ext uri="{BB962C8B-B14F-4D97-AF65-F5344CB8AC3E}">
        <p14:creationId xmlns:p14="http://schemas.microsoft.com/office/powerpoint/2010/main" val="3669971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758B1A-CBC4-85F8-5631-4C3B70436E6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45596D4-3C4B-2A93-BFAC-9D5A3DD00A55}"/>
              </a:ext>
            </a:extLst>
          </p:cNvPr>
          <p:cNvSpPr txBox="1"/>
          <p:nvPr/>
        </p:nvSpPr>
        <p:spPr>
          <a:xfrm>
            <a:off x="367900" y="334240"/>
            <a:ext cx="7273145"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プログラム案｜プロデューサーが企画の種を育てる（１月</a:t>
            </a:r>
            <a:r>
              <a:rPr kumimoji="1" lang="en-US" altLang="ja-JP" b="1" dirty="0">
                <a:latin typeface="Hiragino Sans W6" panose="020B0400000000000000" pitchFamily="34" charset="-128"/>
                <a:ea typeface="Hiragino Sans W6" panose="020B0400000000000000" pitchFamily="34" charset="-128"/>
              </a:rPr>
              <a:t>〜</a:t>
            </a:r>
            <a:r>
              <a:rPr kumimoji="1" lang="ja-JP" altLang="en-US" b="1">
                <a:latin typeface="Hiragino Sans W6" panose="020B0400000000000000" pitchFamily="34" charset="-128"/>
                <a:ea typeface="Hiragino Sans W6" panose="020B0400000000000000" pitchFamily="34" charset="-128"/>
              </a:rPr>
              <a:t>２月）</a:t>
            </a:r>
          </a:p>
        </p:txBody>
      </p:sp>
      <p:cxnSp>
        <p:nvCxnSpPr>
          <p:cNvPr id="37" name="直線コネクタ 36">
            <a:extLst>
              <a:ext uri="{FF2B5EF4-FFF2-40B4-BE49-F238E27FC236}">
                <a16:creationId xmlns:a16="http://schemas.microsoft.com/office/drawing/2014/main" id="{C03C9C1D-3B31-C35A-6BCB-04B857291517}"/>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87" name="テキスト ボックス 86">
            <a:extLst>
              <a:ext uri="{FF2B5EF4-FFF2-40B4-BE49-F238E27FC236}">
                <a16:creationId xmlns:a16="http://schemas.microsoft.com/office/drawing/2014/main" id="{03672157-B884-685A-1E71-12A73B7552A3}"/>
              </a:ext>
            </a:extLst>
          </p:cNvPr>
          <p:cNvSpPr txBox="1"/>
          <p:nvPr/>
        </p:nvSpPr>
        <p:spPr>
          <a:xfrm>
            <a:off x="367900" y="823145"/>
            <a:ext cx="6211957" cy="307777"/>
          </a:xfrm>
          <a:prstGeom prst="rect">
            <a:avLst/>
          </a:prstGeom>
          <a:noFill/>
        </p:spPr>
        <p:txBody>
          <a:bodyPr wrap="none" rtlCol="0">
            <a:spAutoFit/>
          </a:bodyPr>
          <a:lstStyle/>
          <a:p>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実施方法</a:t>
            </a:r>
            <a:r>
              <a:rPr kumimoji="1" lang="en-US" altLang="ja-JP" sz="1400" dirty="0">
                <a:latin typeface="Hiragino Sans W5" panose="020B0400000000000000" pitchFamily="34" charset="-128"/>
                <a:ea typeface="Hiragino Sans W5" panose="020B0400000000000000" pitchFamily="34" charset="-128"/>
              </a:rPr>
              <a:t>】</a:t>
            </a:r>
            <a:r>
              <a:rPr kumimoji="1" lang="ja-JP" altLang="en-US" sz="1400">
                <a:latin typeface="Hiragino Sans W5" panose="020B0400000000000000" pitchFamily="34" charset="-128"/>
                <a:ea typeface="Hiragino Sans W5" panose="020B0400000000000000" pitchFamily="34" charset="-128"/>
              </a:rPr>
              <a:t>リサーチャーに協力を仰ぎ、メンターセッション形式で実施</a:t>
            </a:r>
            <a:endParaRPr kumimoji="1" lang="en-US" altLang="ja-JP" sz="1400" dirty="0">
              <a:latin typeface="Hiragino Sans W5" panose="020B0400000000000000" pitchFamily="34" charset="-128"/>
              <a:ea typeface="Hiragino Sans W5" panose="020B0400000000000000" pitchFamily="34" charset="-128"/>
            </a:endParaRPr>
          </a:p>
        </p:txBody>
      </p:sp>
      <p:sp>
        <p:nvSpPr>
          <p:cNvPr id="2" name="角丸四角形 1">
            <a:extLst>
              <a:ext uri="{FF2B5EF4-FFF2-40B4-BE49-F238E27FC236}">
                <a16:creationId xmlns:a16="http://schemas.microsoft.com/office/drawing/2014/main" id="{6E4D06E6-23B7-1D91-0479-4A4166472F48}"/>
              </a:ext>
            </a:extLst>
          </p:cNvPr>
          <p:cNvSpPr/>
          <p:nvPr/>
        </p:nvSpPr>
        <p:spPr>
          <a:xfrm>
            <a:off x="4019479" y="1582282"/>
            <a:ext cx="2276272" cy="592159"/>
          </a:xfrm>
          <a:prstGeom prst="roundRect">
            <a:avLst>
              <a:gd name="adj" fmla="val 50000"/>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Hiragino Sans W6" panose="020B0400000000000000" pitchFamily="34" charset="-128"/>
                <a:ea typeface="Hiragino Sans W6" panose="020B0400000000000000" pitchFamily="34" charset="-128"/>
              </a:rPr>
              <a:t>東宝</a:t>
            </a:r>
            <a:endParaRPr kumimoji="1" lang="en-US" altLang="ja-JP" sz="1600" b="1" dirty="0">
              <a:latin typeface="Hiragino Sans W6" panose="020B0400000000000000" pitchFamily="34" charset="-128"/>
              <a:ea typeface="Hiragino Sans W6" panose="020B0400000000000000" pitchFamily="34" charset="-128"/>
            </a:endParaRPr>
          </a:p>
          <a:p>
            <a:pPr algn="ctr"/>
            <a:r>
              <a:rPr kumimoji="1" lang="ja-JP" altLang="en-US" sz="1600" b="1">
                <a:latin typeface="Hiragino Sans W6" panose="020B0400000000000000" pitchFamily="34" charset="-128"/>
                <a:ea typeface="Hiragino Sans W6" panose="020B0400000000000000" pitchFamily="34" charset="-128"/>
              </a:rPr>
              <a:t>小嶋さん</a:t>
            </a:r>
          </a:p>
        </p:txBody>
      </p:sp>
      <p:sp>
        <p:nvSpPr>
          <p:cNvPr id="3" name="角丸四角形 2">
            <a:extLst>
              <a:ext uri="{FF2B5EF4-FFF2-40B4-BE49-F238E27FC236}">
                <a16:creationId xmlns:a16="http://schemas.microsoft.com/office/drawing/2014/main" id="{38D11B59-109C-4093-A7C1-031EDD92983A}"/>
              </a:ext>
            </a:extLst>
          </p:cNvPr>
          <p:cNvSpPr/>
          <p:nvPr/>
        </p:nvSpPr>
        <p:spPr>
          <a:xfrm>
            <a:off x="4019479" y="3035369"/>
            <a:ext cx="2276272" cy="592159"/>
          </a:xfrm>
          <a:prstGeom prst="roundRect">
            <a:avLst>
              <a:gd name="adj" fmla="val 50000"/>
            </a:avLst>
          </a:prstGeom>
          <a:solidFill>
            <a:srgbClr val="F8BB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Hiragino Sans W6" panose="020B0400000000000000" pitchFamily="34" charset="-128"/>
                <a:ea typeface="Hiragino Sans W6" panose="020B0400000000000000" pitchFamily="34" charset="-128"/>
              </a:rPr>
              <a:t>ホリプロ</a:t>
            </a:r>
            <a:endParaRPr kumimoji="1" lang="en-US" altLang="ja-JP" sz="1600" b="1" dirty="0">
              <a:latin typeface="Hiragino Sans W6" panose="020B0400000000000000" pitchFamily="34" charset="-128"/>
              <a:ea typeface="Hiragino Sans W6" panose="020B0400000000000000" pitchFamily="34" charset="-128"/>
            </a:endParaRPr>
          </a:p>
          <a:p>
            <a:pPr algn="ctr"/>
            <a:r>
              <a:rPr kumimoji="1" lang="ja-JP" altLang="en-US" sz="1600" b="1">
                <a:latin typeface="Hiragino Sans W6" panose="020B0400000000000000" pitchFamily="34" charset="-128"/>
                <a:ea typeface="Hiragino Sans W6" panose="020B0400000000000000" pitchFamily="34" charset="-128"/>
              </a:rPr>
              <a:t>井川さん</a:t>
            </a:r>
          </a:p>
        </p:txBody>
      </p:sp>
      <p:sp>
        <p:nvSpPr>
          <p:cNvPr id="7" name="角丸四角形 6">
            <a:extLst>
              <a:ext uri="{FF2B5EF4-FFF2-40B4-BE49-F238E27FC236}">
                <a16:creationId xmlns:a16="http://schemas.microsoft.com/office/drawing/2014/main" id="{900E9756-7F2B-7960-2818-CC883B92FEFC}"/>
              </a:ext>
            </a:extLst>
          </p:cNvPr>
          <p:cNvSpPr/>
          <p:nvPr/>
        </p:nvSpPr>
        <p:spPr>
          <a:xfrm>
            <a:off x="4019479" y="4547795"/>
            <a:ext cx="2276272" cy="592159"/>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Hiragino Sans W6" panose="020B0400000000000000" pitchFamily="34" charset="-128"/>
                <a:ea typeface="Hiragino Sans W6" panose="020B0400000000000000" pitchFamily="34" charset="-128"/>
              </a:rPr>
              <a:t>ゴーチ</a:t>
            </a:r>
            <a:endParaRPr kumimoji="1" lang="en-US" altLang="ja-JP" sz="1600" b="1" dirty="0">
              <a:latin typeface="Hiragino Sans W6" panose="020B0400000000000000" pitchFamily="34" charset="-128"/>
              <a:ea typeface="Hiragino Sans W6" panose="020B0400000000000000" pitchFamily="34" charset="-128"/>
            </a:endParaRPr>
          </a:p>
          <a:p>
            <a:pPr algn="ctr"/>
            <a:r>
              <a:rPr kumimoji="1" lang="ja-JP" altLang="en-US" sz="1600" b="1">
                <a:latin typeface="Hiragino Sans W6" panose="020B0400000000000000" pitchFamily="34" charset="-128"/>
                <a:ea typeface="Hiragino Sans W6" panose="020B0400000000000000" pitchFamily="34" charset="-128"/>
              </a:rPr>
              <a:t>時田さん</a:t>
            </a:r>
          </a:p>
        </p:txBody>
      </p:sp>
      <p:pic>
        <p:nvPicPr>
          <p:cNvPr id="9" name="図 8">
            <a:extLst>
              <a:ext uri="{FF2B5EF4-FFF2-40B4-BE49-F238E27FC236}">
                <a16:creationId xmlns:a16="http://schemas.microsoft.com/office/drawing/2014/main" id="{863E9CA2-7ECE-8C56-1095-92E30CF65A5E}"/>
              </a:ext>
            </a:extLst>
          </p:cNvPr>
          <p:cNvPicPr>
            <a:picLocks noChangeAspect="1"/>
          </p:cNvPicPr>
          <p:nvPr/>
        </p:nvPicPr>
        <p:blipFill>
          <a:blip r:embed="rId2"/>
          <a:stretch>
            <a:fillRect/>
          </a:stretch>
        </p:blipFill>
        <p:spPr>
          <a:xfrm>
            <a:off x="4295805" y="2240537"/>
            <a:ext cx="432172" cy="592159"/>
          </a:xfrm>
          <a:prstGeom prst="rect">
            <a:avLst/>
          </a:prstGeom>
        </p:spPr>
      </p:pic>
      <p:pic>
        <p:nvPicPr>
          <p:cNvPr id="10" name="図 9">
            <a:extLst>
              <a:ext uri="{FF2B5EF4-FFF2-40B4-BE49-F238E27FC236}">
                <a16:creationId xmlns:a16="http://schemas.microsoft.com/office/drawing/2014/main" id="{2EB33D97-4CC8-5433-383C-497DCB367E5F}"/>
              </a:ext>
            </a:extLst>
          </p:cNvPr>
          <p:cNvPicPr>
            <a:picLocks noChangeAspect="1"/>
          </p:cNvPicPr>
          <p:nvPr/>
        </p:nvPicPr>
        <p:blipFill>
          <a:blip r:embed="rId2"/>
          <a:stretch>
            <a:fillRect/>
          </a:stretch>
        </p:blipFill>
        <p:spPr>
          <a:xfrm>
            <a:off x="4931801" y="2240536"/>
            <a:ext cx="432172" cy="592159"/>
          </a:xfrm>
          <a:prstGeom prst="rect">
            <a:avLst/>
          </a:prstGeom>
        </p:spPr>
      </p:pic>
      <p:pic>
        <p:nvPicPr>
          <p:cNvPr id="11" name="図 10">
            <a:extLst>
              <a:ext uri="{FF2B5EF4-FFF2-40B4-BE49-F238E27FC236}">
                <a16:creationId xmlns:a16="http://schemas.microsoft.com/office/drawing/2014/main" id="{F24B7436-3B0C-4EE3-9BF8-20571FB65453}"/>
              </a:ext>
            </a:extLst>
          </p:cNvPr>
          <p:cNvPicPr>
            <a:picLocks noChangeAspect="1"/>
          </p:cNvPicPr>
          <p:nvPr/>
        </p:nvPicPr>
        <p:blipFill>
          <a:blip r:embed="rId2"/>
          <a:stretch>
            <a:fillRect/>
          </a:stretch>
        </p:blipFill>
        <p:spPr>
          <a:xfrm>
            <a:off x="5558069" y="2237436"/>
            <a:ext cx="432172" cy="592159"/>
          </a:xfrm>
          <a:prstGeom prst="rect">
            <a:avLst/>
          </a:prstGeom>
        </p:spPr>
      </p:pic>
      <p:pic>
        <p:nvPicPr>
          <p:cNvPr id="12" name="図 11">
            <a:extLst>
              <a:ext uri="{FF2B5EF4-FFF2-40B4-BE49-F238E27FC236}">
                <a16:creationId xmlns:a16="http://schemas.microsoft.com/office/drawing/2014/main" id="{365ACF5D-8190-60A1-D34B-5AF639F745E3}"/>
              </a:ext>
            </a:extLst>
          </p:cNvPr>
          <p:cNvPicPr>
            <a:picLocks noChangeAspect="1"/>
          </p:cNvPicPr>
          <p:nvPr/>
        </p:nvPicPr>
        <p:blipFill>
          <a:blip r:embed="rId2"/>
          <a:stretch>
            <a:fillRect/>
          </a:stretch>
        </p:blipFill>
        <p:spPr>
          <a:xfrm>
            <a:off x="4295805" y="3707299"/>
            <a:ext cx="432172" cy="592159"/>
          </a:xfrm>
          <a:prstGeom prst="rect">
            <a:avLst/>
          </a:prstGeom>
        </p:spPr>
      </p:pic>
      <p:pic>
        <p:nvPicPr>
          <p:cNvPr id="13" name="図 12">
            <a:extLst>
              <a:ext uri="{FF2B5EF4-FFF2-40B4-BE49-F238E27FC236}">
                <a16:creationId xmlns:a16="http://schemas.microsoft.com/office/drawing/2014/main" id="{0BCB693F-4AE6-C877-F5D8-405261C653A0}"/>
              </a:ext>
            </a:extLst>
          </p:cNvPr>
          <p:cNvPicPr>
            <a:picLocks noChangeAspect="1"/>
          </p:cNvPicPr>
          <p:nvPr/>
        </p:nvPicPr>
        <p:blipFill>
          <a:blip r:embed="rId2"/>
          <a:stretch>
            <a:fillRect/>
          </a:stretch>
        </p:blipFill>
        <p:spPr>
          <a:xfrm>
            <a:off x="4931801" y="3707298"/>
            <a:ext cx="432172" cy="592159"/>
          </a:xfrm>
          <a:prstGeom prst="rect">
            <a:avLst/>
          </a:prstGeom>
        </p:spPr>
      </p:pic>
      <p:pic>
        <p:nvPicPr>
          <p:cNvPr id="14" name="図 13">
            <a:extLst>
              <a:ext uri="{FF2B5EF4-FFF2-40B4-BE49-F238E27FC236}">
                <a16:creationId xmlns:a16="http://schemas.microsoft.com/office/drawing/2014/main" id="{D9A0977A-A7F8-1AB8-A51C-4B5C5ED132C6}"/>
              </a:ext>
            </a:extLst>
          </p:cNvPr>
          <p:cNvPicPr>
            <a:picLocks noChangeAspect="1"/>
          </p:cNvPicPr>
          <p:nvPr/>
        </p:nvPicPr>
        <p:blipFill>
          <a:blip r:embed="rId2"/>
          <a:stretch>
            <a:fillRect/>
          </a:stretch>
        </p:blipFill>
        <p:spPr>
          <a:xfrm>
            <a:off x="5558069" y="3704198"/>
            <a:ext cx="432172" cy="592159"/>
          </a:xfrm>
          <a:prstGeom prst="rect">
            <a:avLst/>
          </a:prstGeom>
        </p:spPr>
      </p:pic>
      <p:pic>
        <p:nvPicPr>
          <p:cNvPr id="15" name="図 14">
            <a:extLst>
              <a:ext uri="{FF2B5EF4-FFF2-40B4-BE49-F238E27FC236}">
                <a16:creationId xmlns:a16="http://schemas.microsoft.com/office/drawing/2014/main" id="{CF218C81-0542-9458-47F4-B6894F14F570}"/>
              </a:ext>
            </a:extLst>
          </p:cNvPr>
          <p:cNvPicPr>
            <a:picLocks noChangeAspect="1"/>
          </p:cNvPicPr>
          <p:nvPr/>
        </p:nvPicPr>
        <p:blipFill>
          <a:blip r:embed="rId2"/>
          <a:stretch>
            <a:fillRect/>
          </a:stretch>
        </p:blipFill>
        <p:spPr>
          <a:xfrm>
            <a:off x="4305533" y="5216625"/>
            <a:ext cx="432172" cy="592159"/>
          </a:xfrm>
          <a:prstGeom prst="rect">
            <a:avLst/>
          </a:prstGeom>
        </p:spPr>
      </p:pic>
      <p:pic>
        <p:nvPicPr>
          <p:cNvPr id="16" name="図 15">
            <a:extLst>
              <a:ext uri="{FF2B5EF4-FFF2-40B4-BE49-F238E27FC236}">
                <a16:creationId xmlns:a16="http://schemas.microsoft.com/office/drawing/2014/main" id="{FF1B890F-FF64-53F6-D646-FF491D86215F}"/>
              </a:ext>
            </a:extLst>
          </p:cNvPr>
          <p:cNvPicPr>
            <a:picLocks noChangeAspect="1"/>
          </p:cNvPicPr>
          <p:nvPr/>
        </p:nvPicPr>
        <p:blipFill>
          <a:blip r:embed="rId2"/>
          <a:stretch>
            <a:fillRect/>
          </a:stretch>
        </p:blipFill>
        <p:spPr>
          <a:xfrm>
            <a:off x="4941529" y="5216624"/>
            <a:ext cx="432172" cy="592159"/>
          </a:xfrm>
          <a:prstGeom prst="rect">
            <a:avLst/>
          </a:prstGeom>
        </p:spPr>
      </p:pic>
      <p:pic>
        <p:nvPicPr>
          <p:cNvPr id="17" name="図 16">
            <a:extLst>
              <a:ext uri="{FF2B5EF4-FFF2-40B4-BE49-F238E27FC236}">
                <a16:creationId xmlns:a16="http://schemas.microsoft.com/office/drawing/2014/main" id="{30C87235-D61C-7E97-5E21-A191AA21C866}"/>
              </a:ext>
            </a:extLst>
          </p:cNvPr>
          <p:cNvPicPr>
            <a:picLocks noChangeAspect="1"/>
          </p:cNvPicPr>
          <p:nvPr/>
        </p:nvPicPr>
        <p:blipFill>
          <a:blip r:embed="rId2"/>
          <a:stretch>
            <a:fillRect/>
          </a:stretch>
        </p:blipFill>
        <p:spPr>
          <a:xfrm>
            <a:off x="5567797" y="5213524"/>
            <a:ext cx="432172" cy="592159"/>
          </a:xfrm>
          <a:prstGeom prst="rect">
            <a:avLst/>
          </a:prstGeom>
        </p:spPr>
      </p:pic>
      <p:sp>
        <p:nvSpPr>
          <p:cNvPr id="18" name="テキスト ボックス 17">
            <a:extLst>
              <a:ext uri="{FF2B5EF4-FFF2-40B4-BE49-F238E27FC236}">
                <a16:creationId xmlns:a16="http://schemas.microsoft.com/office/drawing/2014/main" id="{E44D88AC-414B-AC7E-B117-12D6D5F026EF}"/>
              </a:ext>
            </a:extLst>
          </p:cNvPr>
          <p:cNvSpPr txBox="1"/>
          <p:nvPr/>
        </p:nvSpPr>
        <p:spPr>
          <a:xfrm>
            <a:off x="4040005" y="6093220"/>
            <a:ext cx="2292615" cy="307777"/>
          </a:xfrm>
          <a:prstGeom prst="rect">
            <a:avLst/>
          </a:prstGeom>
          <a:noFill/>
        </p:spPr>
        <p:txBody>
          <a:bodyPr wrap="none" rtlCol="0">
            <a:spAutoFit/>
          </a:bodyPr>
          <a:lstStyle/>
          <a:p>
            <a:r>
              <a:rPr kumimoji="1" lang="ja-JP" altLang="en-US" sz="1400" b="1">
                <a:latin typeface="Hiragino Sans W6" panose="020B0400000000000000" pitchFamily="34" charset="-128"/>
                <a:ea typeface="Hiragino Sans W6" panose="020B0400000000000000" pitchFamily="34" charset="-128"/>
              </a:rPr>
              <a:t>１メンターあたり</a:t>
            </a:r>
            <a:r>
              <a:rPr kumimoji="1" lang="en-US" altLang="ja-JP" sz="1400" b="1" dirty="0">
                <a:latin typeface="Hiragino Sans W6" panose="020B0400000000000000" pitchFamily="34" charset="-128"/>
                <a:ea typeface="Hiragino Sans W6" panose="020B0400000000000000" pitchFamily="34" charset="-128"/>
              </a:rPr>
              <a:t>3</a:t>
            </a:r>
            <a:r>
              <a:rPr kumimoji="1" lang="ja-JP" altLang="en-US" sz="1400" b="1">
                <a:latin typeface="Hiragino Sans W6" panose="020B0400000000000000" pitchFamily="34" charset="-128"/>
                <a:ea typeface="Hiragino Sans W6" panose="020B0400000000000000" pitchFamily="34" charset="-128"/>
              </a:rPr>
              <a:t>名程度</a:t>
            </a:r>
            <a:endParaRPr kumimoji="1" lang="en-US" altLang="ja-JP" sz="1400" b="1" dirty="0">
              <a:latin typeface="Hiragino Sans W6" panose="020B0400000000000000" pitchFamily="34" charset="-128"/>
              <a:ea typeface="Hiragino Sans W6" panose="020B0400000000000000" pitchFamily="34" charset="-128"/>
            </a:endParaRPr>
          </a:p>
        </p:txBody>
      </p:sp>
      <p:sp>
        <p:nvSpPr>
          <p:cNvPr id="20" name="角丸四角形 19">
            <a:extLst>
              <a:ext uri="{FF2B5EF4-FFF2-40B4-BE49-F238E27FC236}">
                <a16:creationId xmlns:a16="http://schemas.microsoft.com/office/drawing/2014/main" id="{84FFFF89-B732-D3B8-3636-0B7CDDD8BB44}"/>
              </a:ext>
            </a:extLst>
          </p:cNvPr>
          <p:cNvSpPr/>
          <p:nvPr/>
        </p:nvSpPr>
        <p:spPr>
          <a:xfrm>
            <a:off x="507197" y="2564169"/>
            <a:ext cx="2064824" cy="1540296"/>
          </a:xfrm>
          <a:prstGeom prst="roundRect">
            <a:avLst>
              <a:gd name="adj" fmla="val 16667"/>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600" b="1" dirty="0">
              <a:latin typeface="Hiragino Sans W6" panose="020B0400000000000000" pitchFamily="34" charset="-128"/>
              <a:ea typeface="Hiragino Sans W6" panose="020B0400000000000000" pitchFamily="34" charset="-128"/>
            </a:endParaRPr>
          </a:p>
        </p:txBody>
      </p:sp>
      <p:sp>
        <p:nvSpPr>
          <p:cNvPr id="21" name="円/楕円 20">
            <a:extLst>
              <a:ext uri="{FF2B5EF4-FFF2-40B4-BE49-F238E27FC236}">
                <a16:creationId xmlns:a16="http://schemas.microsoft.com/office/drawing/2014/main" id="{9DD5B212-2240-261A-2FF8-98DDC2D7952A}"/>
              </a:ext>
            </a:extLst>
          </p:cNvPr>
          <p:cNvSpPr/>
          <p:nvPr/>
        </p:nvSpPr>
        <p:spPr>
          <a:xfrm>
            <a:off x="507197" y="2335375"/>
            <a:ext cx="661481" cy="66148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28F2E5E5-8B6E-B335-8065-122E5707DED6}"/>
              </a:ext>
            </a:extLst>
          </p:cNvPr>
          <p:cNvPicPr>
            <a:picLocks noChangeAspect="1"/>
          </p:cNvPicPr>
          <p:nvPr/>
        </p:nvPicPr>
        <p:blipFill>
          <a:blip r:embed="rId2"/>
          <a:stretch>
            <a:fillRect/>
          </a:stretch>
        </p:blipFill>
        <p:spPr>
          <a:xfrm>
            <a:off x="673701" y="2264976"/>
            <a:ext cx="436717" cy="598386"/>
          </a:xfrm>
          <a:prstGeom prst="rect">
            <a:avLst/>
          </a:prstGeom>
        </p:spPr>
      </p:pic>
      <p:sp>
        <p:nvSpPr>
          <p:cNvPr id="22" name="テキスト ボックス 21">
            <a:extLst>
              <a:ext uri="{FF2B5EF4-FFF2-40B4-BE49-F238E27FC236}">
                <a16:creationId xmlns:a16="http://schemas.microsoft.com/office/drawing/2014/main" id="{42BC6C27-8945-58E5-C8C3-7B15389CDAA9}"/>
              </a:ext>
            </a:extLst>
          </p:cNvPr>
          <p:cNvSpPr txBox="1"/>
          <p:nvPr/>
        </p:nvSpPr>
        <p:spPr>
          <a:xfrm>
            <a:off x="1158962" y="2410280"/>
            <a:ext cx="723275" cy="307777"/>
          </a:xfrm>
          <a:prstGeom prst="rect">
            <a:avLst/>
          </a:prstGeom>
          <a:solidFill>
            <a:schemeClr val="bg1"/>
          </a:solidFill>
        </p:spPr>
        <p:txBody>
          <a:bodyPr wrap="none" rtlCol="0">
            <a:spAutoFit/>
          </a:bodyPr>
          <a:lstStyle/>
          <a:p>
            <a:r>
              <a:rPr kumimoji="1" lang="ja-JP" altLang="en-US" sz="1400" b="1">
                <a:latin typeface="Hiragino Sans W6" panose="020B0400000000000000" pitchFamily="34" charset="-128"/>
                <a:ea typeface="Hiragino Sans W6" panose="020B0400000000000000" pitchFamily="34" charset="-128"/>
              </a:rPr>
              <a:t>受講生</a:t>
            </a:r>
          </a:p>
        </p:txBody>
      </p:sp>
      <p:sp>
        <p:nvSpPr>
          <p:cNvPr id="23" name="テキスト ボックス 22">
            <a:extLst>
              <a:ext uri="{FF2B5EF4-FFF2-40B4-BE49-F238E27FC236}">
                <a16:creationId xmlns:a16="http://schemas.microsoft.com/office/drawing/2014/main" id="{EE1FB6CB-A4A7-8320-9FD1-42E117702AC8}"/>
              </a:ext>
            </a:extLst>
          </p:cNvPr>
          <p:cNvSpPr txBox="1"/>
          <p:nvPr/>
        </p:nvSpPr>
        <p:spPr>
          <a:xfrm>
            <a:off x="577076" y="3067255"/>
            <a:ext cx="1994945" cy="738664"/>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400" b="1">
                <a:latin typeface="Hiragino Sans W6" panose="020B0400000000000000" pitchFamily="34" charset="-128"/>
                <a:ea typeface="Hiragino Sans W6" panose="020B0400000000000000" pitchFamily="34" charset="-128"/>
              </a:rPr>
              <a:t>海外展開を実現したいアイディアを企画書化</a:t>
            </a:r>
          </a:p>
        </p:txBody>
      </p:sp>
      <p:sp>
        <p:nvSpPr>
          <p:cNvPr id="25" name="右矢印 24">
            <a:extLst>
              <a:ext uri="{FF2B5EF4-FFF2-40B4-BE49-F238E27FC236}">
                <a16:creationId xmlns:a16="http://schemas.microsoft.com/office/drawing/2014/main" id="{DF0DB5E1-7042-66AA-56E7-E680D107EDC3}"/>
              </a:ext>
            </a:extLst>
          </p:cNvPr>
          <p:cNvSpPr/>
          <p:nvPr/>
        </p:nvSpPr>
        <p:spPr>
          <a:xfrm>
            <a:off x="2867733" y="3051797"/>
            <a:ext cx="856034" cy="560273"/>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Hiragino Sans W6" panose="020B0400000000000000" pitchFamily="34" charset="-128"/>
                <a:ea typeface="Hiragino Sans W6" panose="020B0400000000000000" pitchFamily="34" charset="-128"/>
              </a:rPr>
              <a:t>選考</a:t>
            </a:r>
          </a:p>
        </p:txBody>
      </p:sp>
      <p:sp>
        <p:nvSpPr>
          <p:cNvPr id="28" name="1 つの角を切り取った四角形 27">
            <a:extLst>
              <a:ext uri="{FF2B5EF4-FFF2-40B4-BE49-F238E27FC236}">
                <a16:creationId xmlns:a16="http://schemas.microsoft.com/office/drawing/2014/main" id="{6B939FB8-33D3-121D-2D85-C4C7C1D20FF5}"/>
              </a:ext>
            </a:extLst>
          </p:cNvPr>
          <p:cNvSpPr/>
          <p:nvPr/>
        </p:nvSpPr>
        <p:spPr>
          <a:xfrm>
            <a:off x="507198" y="4474723"/>
            <a:ext cx="2818946" cy="1926274"/>
          </a:xfrm>
          <a:prstGeom prst="snip1Rect">
            <a:avLst/>
          </a:prstGeom>
          <a:solidFill>
            <a:srgbClr val="F8E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Hiragino Sans W5" panose="020B0400000000000000" pitchFamily="34" charset="-128"/>
                <a:ea typeface="Hiragino Sans W5" panose="020B0400000000000000" pitchFamily="34" charset="-128"/>
              </a:rPr>
              <a:t>《</a:t>
            </a:r>
            <a:r>
              <a:rPr kumimoji="1" lang="ja-JP" altLang="en-US">
                <a:solidFill>
                  <a:schemeClr val="tx1"/>
                </a:solidFill>
                <a:latin typeface="Hiragino Sans W5" panose="020B0400000000000000" pitchFamily="34" charset="-128"/>
                <a:ea typeface="Hiragino Sans W5" panose="020B0400000000000000" pitchFamily="34" charset="-128"/>
              </a:rPr>
              <a:t>選考方法</a:t>
            </a:r>
            <a:r>
              <a:rPr kumimoji="1" lang="en-US" altLang="ja-JP" dirty="0">
                <a:solidFill>
                  <a:schemeClr val="tx1"/>
                </a:solidFill>
                <a:latin typeface="Hiragino Sans W5" panose="020B0400000000000000" pitchFamily="34" charset="-128"/>
                <a:ea typeface="Hiragino Sans W5" panose="020B0400000000000000" pitchFamily="34" charset="-128"/>
              </a:rPr>
              <a:t>》</a:t>
            </a:r>
          </a:p>
          <a:p>
            <a:pPr algn="ct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marL="285750" indent="-285750">
              <a:buFont typeface="Arial" panose="020B0604020202020204" pitchFamily="34" charset="0"/>
              <a:buChar char="•"/>
            </a:pPr>
            <a:r>
              <a:rPr kumimoji="1" lang="ja-JP" altLang="en-US" sz="1400">
                <a:solidFill>
                  <a:schemeClr val="tx1"/>
                </a:solidFill>
                <a:latin typeface="Hiragino Sans W5" panose="020B0400000000000000" pitchFamily="34" charset="-128"/>
                <a:ea typeface="Hiragino Sans W5" panose="020B0400000000000000" pitchFamily="34" charset="-128"/>
              </a:rPr>
              <a:t>座学から出題されるテスト</a:t>
            </a:r>
            <a:endParaRPr kumimoji="1" lang="en-US" altLang="ja-JP" sz="1400" dirty="0">
              <a:solidFill>
                <a:schemeClr val="tx1"/>
              </a:solidFill>
              <a:latin typeface="Hiragino Sans W5" panose="020B0400000000000000" pitchFamily="34" charset="-128"/>
              <a:ea typeface="Hiragino Sans W5" panose="020B0400000000000000" pitchFamily="34" charset="-128"/>
            </a:endParaRPr>
          </a:p>
          <a:p>
            <a:pPr marL="285750" indent="-285750">
              <a:buFont typeface="Arial" panose="020B0604020202020204" pitchFamily="34" charset="0"/>
              <a:buChar char="•"/>
            </a:pPr>
            <a:r>
              <a:rPr kumimoji="1" lang="ja-JP" altLang="en-US" sz="1400">
                <a:solidFill>
                  <a:schemeClr val="tx1"/>
                </a:solidFill>
                <a:latin typeface="Hiragino Sans W5" panose="020B0400000000000000" pitchFamily="34" charset="-128"/>
                <a:ea typeface="Hiragino Sans W5" panose="020B0400000000000000" pitchFamily="34" charset="-128"/>
              </a:rPr>
              <a:t>面談</a:t>
            </a:r>
            <a:endParaRPr kumimoji="1" lang="en-US" altLang="ja-JP" sz="1400" dirty="0">
              <a:solidFill>
                <a:schemeClr val="tx1"/>
              </a:solidFill>
              <a:latin typeface="Hiragino Sans W5" panose="020B0400000000000000" pitchFamily="34" charset="-128"/>
              <a:ea typeface="Hiragino Sans W5" panose="020B0400000000000000" pitchFamily="34" charset="-128"/>
            </a:endParaRPr>
          </a:p>
        </p:txBody>
      </p:sp>
      <p:cxnSp>
        <p:nvCxnSpPr>
          <p:cNvPr id="30" name="直線矢印コネクタ 29">
            <a:extLst>
              <a:ext uri="{FF2B5EF4-FFF2-40B4-BE49-F238E27FC236}">
                <a16:creationId xmlns:a16="http://schemas.microsoft.com/office/drawing/2014/main" id="{682AADF6-A9B6-ED92-3C1B-71C10F88CB44}"/>
              </a:ext>
            </a:extLst>
          </p:cNvPr>
          <p:cNvCxnSpPr>
            <a:cxnSpLocks/>
          </p:cNvCxnSpPr>
          <p:nvPr/>
        </p:nvCxnSpPr>
        <p:spPr>
          <a:xfrm flipH="1">
            <a:off x="2124320" y="3598126"/>
            <a:ext cx="1002819" cy="1175143"/>
          </a:xfrm>
          <a:prstGeom prst="straightConnector1">
            <a:avLst/>
          </a:prstGeom>
          <a:ln w="38100">
            <a:solidFill>
              <a:schemeClr val="bg1">
                <a:lumMod val="50000"/>
              </a:schemeClr>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32" name="右中かっこ 31">
            <a:extLst>
              <a:ext uri="{FF2B5EF4-FFF2-40B4-BE49-F238E27FC236}">
                <a16:creationId xmlns:a16="http://schemas.microsoft.com/office/drawing/2014/main" id="{87F76E14-5CE4-FDA7-9722-0066BC1ED6DE}"/>
              </a:ext>
            </a:extLst>
          </p:cNvPr>
          <p:cNvSpPr/>
          <p:nvPr/>
        </p:nvSpPr>
        <p:spPr>
          <a:xfrm>
            <a:off x="6579857" y="1507788"/>
            <a:ext cx="258688" cy="4941651"/>
          </a:xfrm>
          <a:prstGeom prst="rightBrac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54" name="角丸四角形 53">
            <a:extLst>
              <a:ext uri="{FF2B5EF4-FFF2-40B4-BE49-F238E27FC236}">
                <a16:creationId xmlns:a16="http://schemas.microsoft.com/office/drawing/2014/main" id="{FF661B6F-5970-6897-8828-AB9268A62EFF}"/>
              </a:ext>
            </a:extLst>
          </p:cNvPr>
          <p:cNvSpPr/>
          <p:nvPr/>
        </p:nvSpPr>
        <p:spPr>
          <a:xfrm>
            <a:off x="7085782" y="1550453"/>
            <a:ext cx="2295755" cy="4898979"/>
          </a:xfrm>
          <a:prstGeom prst="roundRect">
            <a:avLst>
              <a:gd name="adj" fmla="val 16667"/>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600" b="1" dirty="0">
              <a:latin typeface="Hiragino Sans W6" panose="020B0400000000000000" pitchFamily="34" charset="-128"/>
              <a:ea typeface="Hiragino Sans W6" panose="020B0400000000000000" pitchFamily="34" charset="-128"/>
            </a:endParaRPr>
          </a:p>
        </p:txBody>
      </p:sp>
      <p:sp>
        <p:nvSpPr>
          <p:cNvPr id="59" name="円/楕円 58">
            <a:extLst>
              <a:ext uri="{FF2B5EF4-FFF2-40B4-BE49-F238E27FC236}">
                <a16:creationId xmlns:a16="http://schemas.microsoft.com/office/drawing/2014/main" id="{12E1A45B-3E77-380B-C285-E7E751DB688E}"/>
              </a:ext>
            </a:extLst>
          </p:cNvPr>
          <p:cNvSpPr/>
          <p:nvPr/>
        </p:nvSpPr>
        <p:spPr>
          <a:xfrm>
            <a:off x="7148283" y="1321660"/>
            <a:ext cx="661481" cy="66148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1" name="図 60">
            <a:extLst>
              <a:ext uri="{FF2B5EF4-FFF2-40B4-BE49-F238E27FC236}">
                <a16:creationId xmlns:a16="http://schemas.microsoft.com/office/drawing/2014/main" id="{B816A74A-2E30-B873-0D16-3BBC1F55FB90}"/>
              </a:ext>
            </a:extLst>
          </p:cNvPr>
          <p:cNvPicPr>
            <a:picLocks noChangeAspect="1"/>
          </p:cNvPicPr>
          <p:nvPr/>
        </p:nvPicPr>
        <p:blipFill>
          <a:blip r:embed="rId2"/>
          <a:stretch>
            <a:fillRect/>
          </a:stretch>
        </p:blipFill>
        <p:spPr>
          <a:xfrm>
            <a:off x="7256420" y="1241533"/>
            <a:ext cx="436717" cy="598386"/>
          </a:xfrm>
          <a:prstGeom prst="rect">
            <a:avLst/>
          </a:prstGeom>
        </p:spPr>
      </p:pic>
      <p:sp>
        <p:nvSpPr>
          <p:cNvPr id="63" name="テキスト ボックス 62">
            <a:extLst>
              <a:ext uri="{FF2B5EF4-FFF2-40B4-BE49-F238E27FC236}">
                <a16:creationId xmlns:a16="http://schemas.microsoft.com/office/drawing/2014/main" id="{24809A29-06A0-34C1-0AF7-D960ECB6E421}"/>
              </a:ext>
            </a:extLst>
          </p:cNvPr>
          <p:cNvSpPr txBox="1"/>
          <p:nvPr/>
        </p:nvSpPr>
        <p:spPr>
          <a:xfrm>
            <a:off x="7800048" y="1396565"/>
            <a:ext cx="723275" cy="307777"/>
          </a:xfrm>
          <a:prstGeom prst="rect">
            <a:avLst/>
          </a:prstGeom>
          <a:solidFill>
            <a:schemeClr val="bg1"/>
          </a:solidFill>
        </p:spPr>
        <p:txBody>
          <a:bodyPr wrap="none" rtlCol="0">
            <a:spAutoFit/>
          </a:bodyPr>
          <a:lstStyle/>
          <a:p>
            <a:r>
              <a:rPr kumimoji="1" lang="ja-JP" altLang="en-US" sz="1400" b="1">
                <a:latin typeface="Hiragino Sans W6" panose="020B0400000000000000" pitchFamily="34" charset="-128"/>
                <a:ea typeface="Hiragino Sans W6" panose="020B0400000000000000" pitchFamily="34" charset="-128"/>
              </a:rPr>
              <a:t>受講生</a:t>
            </a:r>
          </a:p>
        </p:txBody>
      </p:sp>
      <p:sp>
        <p:nvSpPr>
          <p:cNvPr id="65" name="テキスト ボックス 64">
            <a:extLst>
              <a:ext uri="{FF2B5EF4-FFF2-40B4-BE49-F238E27FC236}">
                <a16:creationId xmlns:a16="http://schemas.microsoft.com/office/drawing/2014/main" id="{65BB839C-A295-6DCA-FA8B-0BFA9B13B2AA}"/>
              </a:ext>
            </a:extLst>
          </p:cNvPr>
          <p:cNvSpPr txBox="1"/>
          <p:nvPr/>
        </p:nvSpPr>
        <p:spPr>
          <a:xfrm>
            <a:off x="7159794" y="2141092"/>
            <a:ext cx="2153647" cy="224676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400" b="1">
                <a:latin typeface="Hiragino Sans W6" panose="020B0400000000000000" pitchFamily="34" charset="-128"/>
                <a:ea typeface="Hiragino Sans W6" panose="020B0400000000000000" pitchFamily="34" charset="-128"/>
              </a:rPr>
              <a:t>海外展開を実現したいアイディアを企画書ブラッシュアップ</a:t>
            </a:r>
            <a:endParaRPr kumimoji="1" lang="en-US" altLang="ja-JP" sz="1400" b="1" dirty="0">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endParaRPr kumimoji="1" lang="en-US" altLang="ja-JP" sz="1400" b="1" dirty="0">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400" b="1">
                <a:latin typeface="Hiragino Sans W6" panose="020B0400000000000000" pitchFamily="34" charset="-128"/>
                <a:ea typeface="Hiragino Sans W6" panose="020B0400000000000000" pitchFamily="34" charset="-128"/>
              </a:rPr>
              <a:t>キャストスタッフの具体案の入込み</a:t>
            </a:r>
            <a:endParaRPr kumimoji="1" lang="en-US" altLang="ja-JP" sz="1400" b="1" dirty="0">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endParaRPr kumimoji="1" lang="en-US" altLang="ja-JP" sz="1400" b="1" dirty="0">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400" b="1">
                <a:latin typeface="Hiragino Sans W6" panose="020B0400000000000000" pitchFamily="34" charset="-128"/>
                <a:ea typeface="Hiragino Sans W6" panose="020B0400000000000000" pitchFamily="34" charset="-128"/>
              </a:rPr>
              <a:t>予算書</a:t>
            </a:r>
            <a:endParaRPr kumimoji="1" lang="en-US" altLang="ja-JP" sz="1400" b="1" dirty="0">
              <a:latin typeface="Hiragino Sans W6" panose="020B0400000000000000" pitchFamily="34" charset="-128"/>
              <a:ea typeface="Hiragino Sans W6" panose="020B0400000000000000" pitchFamily="34" charset="-128"/>
            </a:endParaRPr>
          </a:p>
          <a:p>
            <a:endParaRPr kumimoji="1" lang="en-US" altLang="ja-JP" sz="1400" b="1" dirty="0">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400" b="1">
                <a:latin typeface="Hiragino Sans W6" panose="020B0400000000000000" pitchFamily="34" charset="-128"/>
                <a:ea typeface="Hiragino Sans W6" panose="020B0400000000000000" pitchFamily="34" charset="-128"/>
              </a:rPr>
              <a:t>テクニカルライダー</a:t>
            </a:r>
          </a:p>
        </p:txBody>
      </p:sp>
      <p:sp>
        <p:nvSpPr>
          <p:cNvPr id="67" name="テキスト ボックス 66">
            <a:extLst>
              <a:ext uri="{FF2B5EF4-FFF2-40B4-BE49-F238E27FC236}">
                <a16:creationId xmlns:a16="http://schemas.microsoft.com/office/drawing/2014/main" id="{E2C15466-BA17-2668-D9F6-9F7B3A84CDCE}"/>
              </a:ext>
            </a:extLst>
          </p:cNvPr>
          <p:cNvSpPr txBox="1"/>
          <p:nvPr/>
        </p:nvSpPr>
        <p:spPr>
          <a:xfrm>
            <a:off x="7256420" y="5068528"/>
            <a:ext cx="1994945" cy="738664"/>
          </a:xfrm>
          <a:prstGeom prst="rect">
            <a:avLst/>
          </a:prstGeom>
          <a:noFill/>
        </p:spPr>
        <p:txBody>
          <a:bodyPr wrap="square" rtlCol="0">
            <a:spAutoFit/>
          </a:bodyPr>
          <a:lstStyle/>
          <a:p>
            <a:r>
              <a:rPr kumimoji="1" lang="ja-JP" altLang="en-US" sz="1400" b="1">
                <a:solidFill>
                  <a:srgbClr val="C00000"/>
                </a:solidFill>
                <a:latin typeface="Hiragino Sans W6" panose="020B0400000000000000" pitchFamily="34" charset="-128"/>
                <a:ea typeface="Hiragino Sans W6" panose="020B0400000000000000" pitchFamily="34" charset="-128"/>
              </a:rPr>
              <a:t>プロデューサーが</a:t>
            </a:r>
            <a:r>
              <a:rPr kumimoji="1" lang="en-US" altLang="ja-JP" sz="1400" b="1" dirty="0">
                <a:solidFill>
                  <a:srgbClr val="C00000"/>
                </a:solidFill>
                <a:latin typeface="Hiragino Sans W6" panose="020B0400000000000000" pitchFamily="34" charset="-128"/>
                <a:ea typeface="Hiragino Sans W6" panose="020B0400000000000000" pitchFamily="34" charset="-128"/>
              </a:rPr>
              <a:t>IP</a:t>
            </a:r>
            <a:r>
              <a:rPr kumimoji="1" lang="ja-JP" altLang="en-US" sz="1400" b="1">
                <a:solidFill>
                  <a:srgbClr val="C00000"/>
                </a:solidFill>
                <a:latin typeface="Hiragino Sans W6" panose="020B0400000000000000" pitchFamily="34" charset="-128"/>
                <a:ea typeface="Hiragino Sans W6" panose="020B0400000000000000" pitchFamily="34" charset="-128"/>
              </a:rPr>
              <a:t>の種を生み出し、キャンプに向けての準備を。</a:t>
            </a:r>
            <a:endParaRPr kumimoji="1" lang="en-US" altLang="ja-JP" sz="1400" b="1" dirty="0">
              <a:solidFill>
                <a:srgbClr val="C00000"/>
              </a:solidFill>
              <a:latin typeface="Hiragino Sans W6" panose="020B0400000000000000" pitchFamily="34" charset="-128"/>
              <a:ea typeface="Hiragino Sans W6" panose="020B0400000000000000" pitchFamily="34" charset="-128"/>
            </a:endParaRPr>
          </a:p>
        </p:txBody>
      </p:sp>
      <p:sp>
        <p:nvSpPr>
          <p:cNvPr id="71" name="三角形 70">
            <a:extLst>
              <a:ext uri="{FF2B5EF4-FFF2-40B4-BE49-F238E27FC236}">
                <a16:creationId xmlns:a16="http://schemas.microsoft.com/office/drawing/2014/main" id="{D352D661-4AE3-4963-F50D-85E627FD22F2}"/>
              </a:ext>
            </a:extLst>
          </p:cNvPr>
          <p:cNvSpPr/>
          <p:nvPr/>
        </p:nvSpPr>
        <p:spPr>
          <a:xfrm rot="10800000">
            <a:off x="7770451" y="4606307"/>
            <a:ext cx="875489" cy="275555"/>
          </a:xfrm>
          <a:prstGeom prst="triangl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26295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234EC2-68D4-6676-DC04-071D8797A20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882DFC6-88F3-DA5E-B0DA-A5C1386044C7}"/>
              </a:ext>
            </a:extLst>
          </p:cNvPr>
          <p:cNvSpPr txBox="1"/>
          <p:nvPr/>
        </p:nvSpPr>
        <p:spPr>
          <a:xfrm>
            <a:off x="367900" y="334240"/>
            <a:ext cx="5428089" cy="369332"/>
          </a:xfrm>
          <a:prstGeom prst="rect">
            <a:avLst/>
          </a:prstGeom>
          <a:noFill/>
        </p:spPr>
        <p:txBody>
          <a:bodyPr wrap="none" rtlCol="0">
            <a:spAutoFit/>
          </a:bodyPr>
          <a:lstStyle/>
          <a:p>
            <a:r>
              <a:rPr kumimoji="1" lang="ja-JP" altLang="en-US" b="1">
                <a:latin typeface="Hiragino Sans W6" panose="020B0400000000000000" pitchFamily="34" charset="-128"/>
                <a:ea typeface="Hiragino Sans W6" panose="020B0400000000000000" pitchFamily="34" charset="-128"/>
              </a:rPr>
              <a:t>プログラム案　実践編　インターン（</a:t>
            </a:r>
            <a:r>
              <a:rPr kumimoji="1" lang="en-US" altLang="ja-JP" b="1" dirty="0">
                <a:latin typeface="Hiragino Sans W6" panose="020B0400000000000000" pitchFamily="34" charset="-128"/>
                <a:ea typeface="Hiragino Sans W6" panose="020B0400000000000000" pitchFamily="34" charset="-128"/>
              </a:rPr>
              <a:t>1</a:t>
            </a:r>
            <a:r>
              <a:rPr kumimoji="1" lang="ja-JP" altLang="en-US" b="1">
                <a:latin typeface="Hiragino Sans W6" panose="020B0400000000000000" pitchFamily="34" charset="-128"/>
                <a:ea typeface="Hiragino Sans W6" panose="020B0400000000000000" pitchFamily="34" charset="-128"/>
              </a:rPr>
              <a:t>月</a:t>
            </a:r>
            <a:r>
              <a:rPr kumimoji="1" lang="en-US" altLang="ja-JP" b="1" dirty="0">
                <a:latin typeface="Hiragino Sans W6" panose="020B0400000000000000" pitchFamily="34" charset="-128"/>
                <a:ea typeface="Hiragino Sans W6" panose="020B0400000000000000" pitchFamily="34" charset="-128"/>
              </a:rPr>
              <a:t>〜</a:t>
            </a:r>
            <a:r>
              <a:rPr kumimoji="1" lang="ja-JP" altLang="en-US" b="1">
                <a:latin typeface="Hiragino Sans W6" panose="020B0400000000000000" pitchFamily="34" charset="-128"/>
                <a:ea typeface="Hiragino Sans W6" panose="020B0400000000000000" pitchFamily="34" charset="-128"/>
              </a:rPr>
              <a:t>３月）</a:t>
            </a:r>
          </a:p>
        </p:txBody>
      </p:sp>
      <p:cxnSp>
        <p:nvCxnSpPr>
          <p:cNvPr id="37" name="直線コネクタ 36">
            <a:extLst>
              <a:ext uri="{FF2B5EF4-FFF2-40B4-BE49-F238E27FC236}">
                <a16:creationId xmlns:a16="http://schemas.microsoft.com/office/drawing/2014/main" id="{6224F151-6983-25AE-BF59-E46E2D520731}"/>
              </a:ext>
            </a:extLst>
          </p:cNvPr>
          <p:cNvCxnSpPr>
            <a:cxnSpLocks/>
          </p:cNvCxnSpPr>
          <p:nvPr/>
        </p:nvCxnSpPr>
        <p:spPr>
          <a:xfrm>
            <a:off x="456887" y="703572"/>
            <a:ext cx="8971318"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Shape 9">
            <a:extLst>
              <a:ext uri="{FF2B5EF4-FFF2-40B4-BE49-F238E27FC236}">
                <a16:creationId xmlns:a16="http://schemas.microsoft.com/office/drawing/2014/main" id="{E7FEC178-3DBA-73FA-E292-E26989EF1DAD}"/>
              </a:ext>
            </a:extLst>
          </p:cNvPr>
          <p:cNvSpPr/>
          <p:nvPr/>
        </p:nvSpPr>
        <p:spPr>
          <a:xfrm>
            <a:off x="10132110" y="4657782"/>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32" name="Shape 10">
            <a:extLst>
              <a:ext uri="{FF2B5EF4-FFF2-40B4-BE49-F238E27FC236}">
                <a16:creationId xmlns:a16="http://schemas.microsoft.com/office/drawing/2014/main" id="{FAB2D13C-B09B-3680-ACA7-6A0DCDB6CC45}"/>
              </a:ext>
            </a:extLst>
          </p:cNvPr>
          <p:cNvSpPr/>
          <p:nvPr/>
        </p:nvSpPr>
        <p:spPr>
          <a:xfrm>
            <a:off x="10132109" y="4657782"/>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33" name="Text 11">
            <a:extLst>
              <a:ext uri="{FF2B5EF4-FFF2-40B4-BE49-F238E27FC236}">
                <a16:creationId xmlns:a16="http://schemas.microsoft.com/office/drawing/2014/main" id="{AA90E155-7199-734D-3CD9-074D74D2F15D}"/>
              </a:ext>
            </a:extLst>
          </p:cNvPr>
          <p:cNvSpPr/>
          <p:nvPr/>
        </p:nvSpPr>
        <p:spPr>
          <a:xfrm>
            <a:off x="10314990" y="4730934"/>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02 制作進行とカンパニーマネジメント</a:t>
            </a:r>
            <a:endParaRPr lang="en-US" sz="1200" dirty="0">
              <a:latin typeface="Hiragino Sans W5" panose="020B0400000000000000" pitchFamily="34" charset="-128"/>
              <a:ea typeface="Hiragino Sans W5" panose="020B0400000000000000" pitchFamily="34" charset="-128"/>
            </a:endParaRPr>
          </a:p>
        </p:txBody>
      </p:sp>
      <p:sp>
        <p:nvSpPr>
          <p:cNvPr id="47" name="Shape 18">
            <a:extLst>
              <a:ext uri="{FF2B5EF4-FFF2-40B4-BE49-F238E27FC236}">
                <a16:creationId xmlns:a16="http://schemas.microsoft.com/office/drawing/2014/main" id="{C081591C-CD8B-1992-E54F-3209C969C103}"/>
              </a:ext>
            </a:extLst>
          </p:cNvPr>
          <p:cNvSpPr/>
          <p:nvPr/>
        </p:nvSpPr>
        <p:spPr>
          <a:xfrm>
            <a:off x="10132110" y="5304393"/>
            <a:ext cx="4536478" cy="566928"/>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48" name="Shape 19">
            <a:extLst>
              <a:ext uri="{FF2B5EF4-FFF2-40B4-BE49-F238E27FC236}">
                <a16:creationId xmlns:a16="http://schemas.microsoft.com/office/drawing/2014/main" id="{5F8DBB4D-02CA-01A4-ED55-501FE6F976C9}"/>
              </a:ext>
            </a:extLst>
          </p:cNvPr>
          <p:cNvSpPr/>
          <p:nvPr/>
        </p:nvSpPr>
        <p:spPr>
          <a:xfrm>
            <a:off x="10132109" y="5304393"/>
            <a:ext cx="97559" cy="566928"/>
          </a:xfrm>
          <a:prstGeom prst="rect">
            <a:avLst/>
          </a:prstGeom>
          <a:solidFill>
            <a:srgbClr val="4A5CB8"/>
          </a:solidFill>
          <a:ln w="12700">
            <a:solidFill>
              <a:srgbClr val="4A5CB8"/>
            </a:solidFill>
            <a:prstDash val="solid"/>
          </a:ln>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ja-JP" altLang="en-US" sz="1200">
              <a:latin typeface="Hiragino Sans W5" panose="020B0400000000000000" pitchFamily="34" charset="-128"/>
              <a:ea typeface="Hiragino Sans W5" panose="020B0400000000000000" pitchFamily="34" charset="-128"/>
            </a:endParaRPr>
          </a:p>
        </p:txBody>
      </p:sp>
      <p:sp>
        <p:nvSpPr>
          <p:cNvPr id="49" name="Text 20">
            <a:extLst>
              <a:ext uri="{FF2B5EF4-FFF2-40B4-BE49-F238E27FC236}">
                <a16:creationId xmlns:a16="http://schemas.microsoft.com/office/drawing/2014/main" id="{F0A65F1A-BAEE-D5DA-0404-2AC0B1BD2B5D}"/>
              </a:ext>
            </a:extLst>
          </p:cNvPr>
          <p:cNvSpPr/>
          <p:nvPr/>
        </p:nvSpPr>
        <p:spPr>
          <a:xfrm>
            <a:off x="10314990" y="5377545"/>
            <a:ext cx="4243802" cy="420624"/>
          </a:xfrm>
          <a:prstGeom prst="rect">
            <a:avLst/>
          </a:prstGeom>
          <a:noFill/>
          <a:ln/>
        </p:spPr>
        <p:style>
          <a:lnRef idx="0">
            <a:scrgbClr r="0" g="0" b="0"/>
          </a:lnRef>
          <a:fillRef idx="0">
            <a:scrgbClr r="0" g="0" b="0"/>
          </a:fillRef>
          <a:effectRef idx="0">
            <a:scrgbClr r="0" g="0" b="0"/>
          </a:effectRef>
          <a:fontRef idx="major"/>
        </p:style>
        <p:txBody>
          <a:bodyPr wrap="square" lIns="0" tIns="0" rIns="0" bIns="0" rtlCol="0"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buNone/>
            </a:pPr>
            <a:r>
              <a:rPr lang="en-US" sz="1200" dirty="0">
                <a:solidFill>
                  <a:srgbClr val="111827"/>
                </a:solidFill>
                <a:latin typeface="Hiragino Sans W5" panose="020B0400000000000000" pitchFamily="34" charset="-128"/>
                <a:ea typeface="Hiragino Sans W5" panose="020B0400000000000000" pitchFamily="34" charset="-128"/>
              </a:rPr>
              <a:t>06 国際共同制作の実務</a:t>
            </a:r>
            <a:endParaRPr lang="en-US" sz="1200" dirty="0">
              <a:latin typeface="Hiragino Sans W5" panose="020B0400000000000000" pitchFamily="34" charset="-128"/>
              <a:ea typeface="Hiragino Sans W5" panose="020B0400000000000000" pitchFamily="34" charset="-128"/>
            </a:endParaRPr>
          </a:p>
        </p:txBody>
      </p:sp>
      <p:sp>
        <p:nvSpPr>
          <p:cNvPr id="2" name="角丸四角形 1">
            <a:extLst>
              <a:ext uri="{FF2B5EF4-FFF2-40B4-BE49-F238E27FC236}">
                <a16:creationId xmlns:a16="http://schemas.microsoft.com/office/drawing/2014/main" id="{8ED1D839-8C81-3640-2D35-D96897005266}"/>
              </a:ext>
            </a:extLst>
          </p:cNvPr>
          <p:cNvSpPr/>
          <p:nvPr/>
        </p:nvSpPr>
        <p:spPr>
          <a:xfrm>
            <a:off x="367900" y="915582"/>
            <a:ext cx="9012389" cy="460931"/>
          </a:xfrm>
          <a:prstGeom prst="roundRect">
            <a:avLst>
              <a:gd name="adj" fmla="val 5000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bg1"/>
                </a:solidFill>
                <a:latin typeface="Hiragino Sans W6" panose="020B0400000000000000" pitchFamily="34" charset="-128"/>
                <a:ea typeface="Hiragino Sans W6" panose="020B0400000000000000" pitchFamily="34" charset="-128"/>
              </a:rPr>
              <a:t>海外演出家のプレプロダクション制作型インターン（３</a:t>
            </a:r>
            <a:r>
              <a:rPr kumimoji="1" lang="en-US" altLang="ja-JP" sz="1600" b="1" dirty="0">
                <a:solidFill>
                  <a:schemeClr val="bg1"/>
                </a:solidFill>
                <a:latin typeface="Hiragino Sans W6" panose="020B0400000000000000" pitchFamily="34" charset="-128"/>
                <a:ea typeface="Hiragino Sans W6" panose="020B0400000000000000" pitchFamily="34" charset="-128"/>
              </a:rPr>
              <a:t>〜</a:t>
            </a:r>
            <a:r>
              <a:rPr kumimoji="1" lang="ja-JP" altLang="en-US" sz="1600" b="1">
                <a:solidFill>
                  <a:schemeClr val="bg1"/>
                </a:solidFill>
                <a:latin typeface="Hiragino Sans W6" panose="020B0400000000000000" pitchFamily="34" charset="-128"/>
                <a:ea typeface="Hiragino Sans W6" panose="020B0400000000000000" pitchFamily="34" charset="-128"/>
              </a:rPr>
              <a:t>５本）</a:t>
            </a:r>
          </a:p>
        </p:txBody>
      </p:sp>
      <p:sp>
        <p:nvSpPr>
          <p:cNvPr id="7" name="角丸四角形 6">
            <a:extLst>
              <a:ext uri="{FF2B5EF4-FFF2-40B4-BE49-F238E27FC236}">
                <a16:creationId xmlns:a16="http://schemas.microsoft.com/office/drawing/2014/main" id="{B81EAAC9-ED25-AC8F-29EF-F5E8DF74AC4F}"/>
              </a:ext>
            </a:extLst>
          </p:cNvPr>
          <p:cNvSpPr/>
          <p:nvPr/>
        </p:nvSpPr>
        <p:spPr>
          <a:xfrm>
            <a:off x="388063" y="2487605"/>
            <a:ext cx="2895914" cy="2904251"/>
          </a:xfrm>
          <a:prstGeom prst="roundRect">
            <a:avLst>
              <a:gd name="adj" fmla="val 17745"/>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Hiragino Sans W8" panose="020B0400000000000000" pitchFamily="34" charset="-128"/>
                <a:ea typeface="Hiragino Sans W8" panose="020B0400000000000000" pitchFamily="34" charset="-128"/>
              </a:rPr>
              <a:t>＜協力企業＞</a:t>
            </a:r>
            <a:endParaRPr kumimoji="1" lang="en-US" altLang="ja-JP" b="1" dirty="0">
              <a:solidFill>
                <a:schemeClr val="tx1"/>
              </a:solidFill>
              <a:latin typeface="Hiragino Sans W8" panose="020B0400000000000000" pitchFamily="34" charset="-128"/>
              <a:ea typeface="Hiragino Sans W8" panose="020B0400000000000000" pitchFamily="34" charset="-128"/>
            </a:endParaRPr>
          </a:p>
          <a:p>
            <a:pPr algn="ct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今後控えている海外演出家の紹介</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想定スタッフ、キャストとの接続</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p:txBody>
      </p:sp>
      <p:sp>
        <p:nvSpPr>
          <p:cNvPr id="8" name="角丸四角形 7">
            <a:extLst>
              <a:ext uri="{FF2B5EF4-FFF2-40B4-BE49-F238E27FC236}">
                <a16:creationId xmlns:a16="http://schemas.microsoft.com/office/drawing/2014/main" id="{D793FE86-CF9B-3BA9-C87C-88AFA193F6E1}"/>
              </a:ext>
            </a:extLst>
          </p:cNvPr>
          <p:cNvSpPr/>
          <p:nvPr/>
        </p:nvSpPr>
        <p:spPr>
          <a:xfrm>
            <a:off x="6484375" y="2487603"/>
            <a:ext cx="2895914" cy="2904251"/>
          </a:xfrm>
          <a:prstGeom prst="roundRect">
            <a:avLst>
              <a:gd name="adj" fmla="val 17745"/>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Hiragino Sans W8" panose="020B0400000000000000" pitchFamily="34" charset="-128"/>
                <a:ea typeface="Hiragino Sans W8" panose="020B0400000000000000" pitchFamily="34" charset="-128"/>
              </a:rPr>
              <a:t>＜インターン参加者＞</a:t>
            </a:r>
            <a:endParaRPr kumimoji="1" lang="en-US" altLang="ja-JP" b="1" dirty="0">
              <a:solidFill>
                <a:schemeClr val="tx1"/>
              </a:solidFill>
              <a:latin typeface="Hiragino Sans W8" panose="020B0400000000000000" pitchFamily="34" charset="-128"/>
              <a:ea typeface="Hiragino Sans W8" panose="020B0400000000000000" pitchFamily="34" charset="-128"/>
            </a:endParaRPr>
          </a:p>
          <a:p>
            <a:pPr algn="ct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プレプロダクションの制作進行</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742950" lvl="1"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参加キャスト調整</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742950" lvl="1"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打ち合わせ同席</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p:txBody>
      </p:sp>
      <p:sp>
        <p:nvSpPr>
          <p:cNvPr id="9" name="角丸四角形 8">
            <a:extLst>
              <a:ext uri="{FF2B5EF4-FFF2-40B4-BE49-F238E27FC236}">
                <a16:creationId xmlns:a16="http://schemas.microsoft.com/office/drawing/2014/main" id="{BEE093C9-6DAC-FC42-06D8-719AB9A3ABFA}"/>
              </a:ext>
            </a:extLst>
          </p:cNvPr>
          <p:cNvSpPr/>
          <p:nvPr/>
        </p:nvSpPr>
        <p:spPr>
          <a:xfrm>
            <a:off x="3436219" y="2487604"/>
            <a:ext cx="2895914" cy="2904251"/>
          </a:xfrm>
          <a:prstGeom prst="roundRect">
            <a:avLst>
              <a:gd name="adj" fmla="val 17745"/>
            </a:avLst>
          </a:prstGeom>
          <a:noFill/>
          <a:ln w="635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Hiragino Sans W8" panose="020B0400000000000000" pitchFamily="34" charset="-128"/>
                <a:ea typeface="Hiragino Sans W8" panose="020B0400000000000000" pitchFamily="34" charset="-128"/>
              </a:rPr>
              <a:t>＜</a:t>
            </a:r>
            <a:r>
              <a:rPr kumimoji="1" lang="en-US" altLang="ja-JP" b="1" dirty="0">
                <a:solidFill>
                  <a:schemeClr val="tx1"/>
                </a:solidFill>
                <a:latin typeface="Hiragino Sans W8" panose="020B0400000000000000" pitchFamily="34" charset="-128"/>
                <a:ea typeface="Hiragino Sans W8" panose="020B0400000000000000" pitchFamily="34" charset="-128"/>
              </a:rPr>
              <a:t>SEED</a:t>
            </a:r>
            <a:r>
              <a:rPr kumimoji="1" lang="ja-JP" altLang="en-US" b="1">
                <a:solidFill>
                  <a:schemeClr val="tx1"/>
                </a:solidFill>
                <a:latin typeface="Hiragino Sans W8" panose="020B0400000000000000" pitchFamily="34" charset="-128"/>
                <a:ea typeface="Hiragino Sans W8" panose="020B0400000000000000" pitchFamily="34" charset="-128"/>
              </a:rPr>
              <a:t>＞</a:t>
            </a:r>
            <a:endParaRPr kumimoji="1" lang="en-US" altLang="ja-JP" b="1" dirty="0">
              <a:solidFill>
                <a:schemeClr val="tx1"/>
              </a:solidFill>
              <a:latin typeface="Hiragino Sans W8" panose="020B0400000000000000" pitchFamily="34" charset="-128"/>
              <a:ea typeface="Hiragino Sans W8" panose="020B0400000000000000" pitchFamily="34" charset="-128"/>
            </a:endParaRPr>
          </a:p>
          <a:p>
            <a:pPr algn="ct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演出家の来日にかかる費用負担</a:t>
            </a:r>
            <a:endParaRPr kumimoji="1" lang="en-US" altLang="ja-JP" sz="1600" b="1" dirty="0">
              <a:solidFill>
                <a:schemeClr val="tx1"/>
              </a:solidFill>
              <a:latin typeface="Hiragino Sans W6" panose="020B0400000000000000" pitchFamily="34" charset="-128"/>
              <a:ea typeface="Hiragino Sans W6" panose="020B0400000000000000" pitchFamily="34" charset="-128"/>
            </a:endParaRPr>
          </a:p>
          <a:p>
            <a:pPr marL="285750" indent="-285750">
              <a:buFont typeface="Arial" panose="020B0604020202020204" pitchFamily="34" charset="0"/>
              <a:buChar char="•"/>
            </a:pPr>
            <a:r>
              <a:rPr kumimoji="1" lang="ja-JP" altLang="en-US" sz="1600" b="1">
                <a:solidFill>
                  <a:schemeClr val="tx1"/>
                </a:solidFill>
                <a:latin typeface="Hiragino Sans W6" panose="020B0400000000000000" pitchFamily="34" charset="-128"/>
                <a:ea typeface="Hiragino Sans W6" panose="020B0400000000000000" pitchFamily="34" charset="-128"/>
              </a:rPr>
              <a:t>インターン参加者のフォローアップ</a:t>
            </a:r>
          </a:p>
        </p:txBody>
      </p:sp>
      <p:sp>
        <p:nvSpPr>
          <p:cNvPr id="10" name="テキスト ボックス 9">
            <a:extLst>
              <a:ext uri="{FF2B5EF4-FFF2-40B4-BE49-F238E27FC236}">
                <a16:creationId xmlns:a16="http://schemas.microsoft.com/office/drawing/2014/main" id="{5CB90A27-ECDD-AEA1-A0BB-9C61BF92CEC1}"/>
              </a:ext>
            </a:extLst>
          </p:cNvPr>
          <p:cNvSpPr txBox="1"/>
          <p:nvPr/>
        </p:nvSpPr>
        <p:spPr>
          <a:xfrm>
            <a:off x="734974" y="5544689"/>
            <a:ext cx="7887096" cy="1107996"/>
          </a:xfrm>
          <a:prstGeom prst="rect">
            <a:avLst/>
          </a:prstGeom>
          <a:noFill/>
        </p:spPr>
        <p:txBody>
          <a:bodyPr wrap="none" rtlCol="0">
            <a:spAutoFit/>
          </a:bodyPr>
          <a:lstStyle/>
          <a:p>
            <a:r>
              <a:rPr kumimoji="1" lang="ja-JP" altLang="en-US" b="1">
                <a:solidFill>
                  <a:srgbClr val="C00000"/>
                </a:solidFill>
                <a:latin typeface="Hiragino Sans W8" panose="020B0400000000000000" pitchFamily="34" charset="-128"/>
                <a:ea typeface="Hiragino Sans W8" panose="020B0400000000000000" pitchFamily="34" charset="-128"/>
              </a:rPr>
              <a:t>✔︎メモ</a:t>
            </a:r>
            <a:endParaRPr kumimoji="1" lang="en-US" altLang="ja-JP" b="1" dirty="0">
              <a:solidFill>
                <a:srgbClr val="C00000"/>
              </a:solidFill>
              <a:latin typeface="Hiragino Sans W8" panose="020B0400000000000000" pitchFamily="34" charset="-128"/>
              <a:ea typeface="Hiragino Sans W8" panose="020B0400000000000000" pitchFamily="34" charset="-128"/>
            </a:endParaRPr>
          </a:p>
          <a:p>
            <a:pPr marL="285750" indent="-285750">
              <a:buFont typeface="Wingdings" pitchFamily="2" charset="2"/>
              <a:buChar char="p"/>
            </a:pPr>
            <a:r>
              <a:rPr kumimoji="1" lang="ja-JP" altLang="en-US" sz="1600">
                <a:latin typeface="Hiragino Sans W4" panose="020B0400000000000000" pitchFamily="34" charset="-128"/>
                <a:ea typeface="Hiragino Sans W4" panose="020B0400000000000000" pitchFamily="34" charset="-128"/>
              </a:rPr>
              <a:t>参加者２</a:t>
            </a:r>
            <a:r>
              <a:rPr kumimoji="1" lang="en-US" altLang="ja-JP" sz="1600" dirty="0">
                <a:latin typeface="Hiragino Sans W4" panose="020B0400000000000000" pitchFamily="34" charset="-128"/>
                <a:ea typeface="Hiragino Sans W4" panose="020B0400000000000000" pitchFamily="34" charset="-128"/>
              </a:rPr>
              <a:t>〜3</a:t>
            </a:r>
            <a:r>
              <a:rPr kumimoji="1" lang="ja-JP" altLang="en-US" sz="1600">
                <a:latin typeface="Hiragino Sans W4" panose="020B0400000000000000" pitchFamily="34" charset="-128"/>
                <a:ea typeface="Hiragino Sans W4" panose="020B0400000000000000" pitchFamily="34" charset="-128"/>
              </a:rPr>
              <a:t>名程度に対して</a:t>
            </a:r>
            <a:r>
              <a:rPr kumimoji="1" lang="en-US" altLang="ja-JP" sz="1600" dirty="0">
                <a:latin typeface="Hiragino Sans W4" panose="020B0400000000000000" pitchFamily="34" charset="-128"/>
                <a:ea typeface="Hiragino Sans W4" panose="020B0400000000000000" pitchFamily="34" charset="-128"/>
              </a:rPr>
              <a:t>1</a:t>
            </a:r>
            <a:r>
              <a:rPr kumimoji="1" lang="ja-JP" altLang="en-US" sz="1600">
                <a:latin typeface="Hiragino Sans W4" panose="020B0400000000000000" pitchFamily="34" charset="-128"/>
                <a:ea typeface="Hiragino Sans W4" panose="020B0400000000000000" pitchFamily="34" charset="-128"/>
              </a:rPr>
              <a:t>名の</a:t>
            </a:r>
            <a:r>
              <a:rPr kumimoji="1" lang="en-US" altLang="ja-JP" sz="1600" dirty="0">
                <a:latin typeface="Hiragino Sans W4" panose="020B0400000000000000" pitchFamily="34" charset="-128"/>
                <a:ea typeface="Hiragino Sans W4" panose="020B0400000000000000" pitchFamily="34" charset="-128"/>
              </a:rPr>
              <a:t>SEED</a:t>
            </a:r>
            <a:r>
              <a:rPr kumimoji="1" lang="ja-JP" altLang="en-US" sz="1600">
                <a:latin typeface="Hiragino Sans W4" panose="020B0400000000000000" pitchFamily="34" charset="-128"/>
                <a:ea typeface="Hiragino Sans W4" panose="020B0400000000000000" pitchFamily="34" charset="-128"/>
              </a:rPr>
              <a:t>選出の伴走者←将来の育成の担い手候補</a:t>
            </a:r>
            <a:endParaRPr kumimoji="1" lang="en-US" altLang="ja-JP" sz="1600" dirty="0">
              <a:latin typeface="Hiragino Sans W4" panose="020B0400000000000000" pitchFamily="34" charset="-128"/>
              <a:ea typeface="Hiragino Sans W4" panose="020B0400000000000000" pitchFamily="34" charset="-128"/>
            </a:endParaRPr>
          </a:p>
          <a:p>
            <a:pPr marL="285750" indent="-285750">
              <a:buFont typeface="Wingdings" pitchFamily="2" charset="2"/>
              <a:buChar char="p"/>
            </a:pPr>
            <a:r>
              <a:rPr kumimoji="1" lang="ja-JP" altLang="en-US" sz="1600">
                <a:latin typeface="Hiragino Sans W4" panose="020B0400000000000000" pitchFamily="34" charset="-128"/>
                <a:ea typeface="Hiragino Sans W4" panose="020B0400000000000000" pitchFamily="34" charset="-128"/>
              </a:rPr>
              <a:t>企業側に明確なメリットを持たせることで、企業にも責任とイノベーションを</a:t>
            </a:r>
            <a:endParaRPr kumimoji="1" lang="en-US" altLang="ja-JP" sz="1600" dirty="0">
              <a:latin typeface="Hiragino Sans W4" panose="020B0400000000000000" pitchFamily="34" charset="-128"/>
              <a:ea typeface="Hiragino Sans W4" panose="020B0400000000000000" pitchFamily="34" charset="-128"/>
            </a:endParaRPr>
          </a:p>
          <a:p>
            <a:pPr marL="285750" indent="-285750">
              <a:buFont typeface="Wingdings" pitchFamily="2" charset="2"/>
              <a:buChar char="p"/>
            </a:pPr>
            <a:r>
              <a:rPr kumimoji="1" lang="ja-JP" altLang="en-US" sz="1600">
                <a:latin typeface="Hiragino Sans W4" panose="020B0400000000000000" pitchFamily="34" charset="-128"/>
                <a:ea typeface="Hiragino Sans W4" panose="020B0400000000000000" pitchFamily="34" charset="-128"/>
              </a:rPr>
              <a:t>参加者が考えたアイディアなどを演出家と話せる機会もあるとなおよし</a:t>
            </a:r>
          </a:p>
        </p:txBody>
      </p:sp>
      <p:sp>
        <p:nvSpPr>
          <p:cNvPr id="11" name="テキスト ボックス 10">
            <a:extLst>
              <a:ext uri="{FF2B5EF4-FFF2-40B4-BE49-F238E27FC236}">
                <a16:creationId xmlns:a16="http://schemas.microsoft.com/office/drawing/2014/main" id="{962408C3-D850-9176-5746-6CA505FCC73A}"/>
              </a:ext>
            </a:extLst>
          </p:cNvPr>
          <p:cNvSpPr txBox="1"/>
          <p:nvPr/>
        </p:nvSpPr>
        <p:spPr>
          <a:xfrm>
            <a:off x="388063" y="1552618"/>
            <a:ext cx="3929281" cy="769441"/>
          </a:xfrm>
          <a:prstGeom prst="rect">
            <a:avLst/>
          </a:prstGeom>
          <a:noFill/>
        </p:spPr>
        <p:txBody>
          <a:bodyPr wrap="none" rtlCol="0">
            <a:spAutoFit/>
          </a:bodyPr>
          <a:lstStyle/>
          <a:p>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実施方法</a:t>
            </a:r>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５日間程度のプレプロダクション</a:t>
            </a:r>
            <a:endParaRPr kumimoji="1" lang="en-US" altLang="ja-JP" sz="1400" b="1" dirty="0">
              <a:latin typeface="Hiragino Sans W7" panose="020B0400000000000000" pitchFamily="34" charset="-128"/>
              <a:ea typeface="Hiragino Sans W7" panose="020B0400000000000000" pitchFamily="34" charset="-128"/>
            </a:endParaRPr>
          </a:p>
          <a:p>
            <a:pPr marL="742950" lvl="1" indent="-285750">
              <a:buFont typeface="Arial" panose="020B0604020202020204" pitchFamily="34" charset="0"/>
              <a:buChar char="•"/>
            </a:pPr>
            <a:r>
              <a:rPr kumimoji="1" lang="ja-JP" altLang="en-US" sz="1000">
                <a:latin typeface="Hiragino Sans W5" panose="020B0400000000000000" pitchFamily="34" charset="-128"/>
                <a:ea typeface="Hiragino Sans W5" panose="020B0400000000000000" pitchFamily="34" charset="-128"/>
              </a:rPr>
              <a:t>プロの俳優による本読み</a:t>
            </a:r>
            <a:endParaRPr kumimoji="1" lang="en-US" altLang="ja-JP" sz="10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000">
                <a:latin typeface="Hiragino Sans W5" panose="020B0400000000000000" pitchFamily="34" charset="-128"/>
                <a:ea typeface="Hiragino Sans W5" panose="020B0400000000000000" pitchFamily="34" charset="-128"/>
              </a:rPr>
              <a:t>スタッフとのプロダクションミーティング</a:t>
            </a:r>
            <a:endParaRPr kumimoji="1" lang="en-US" altLang="ja-JP" sz="10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000">
                <a:latin typeface="Hiragino Sans W5" panose="020B0400000000000000" pitchFamily="34" charset="-128"/>
                <a:ea typeface="Hiragino Sans W5" panose="020B0400000000000000" pitchFamily="34" charset="-128"/>
              </a:rPr>
              <a:t>ワークショップの開催</a:t>
            </a:r>
            <a:endParaRPr kumimoji="1" lang="en-US" altLang="ja-JP" sz="1000" dirty="0">
              <a:latin typeface="Hiragino Sans W5" panose="020B0400000000000000" pitchFamily="34" charset="-128"/>
              <a:ea typeface="Hiragino Sans W5" panose="020B0400000000000000" pitchFamily="34" charset="-128"/>
            </a:endParaRPr>
          </a:p>
        </p:txBody>
      </p:sp>
      <p:sp>
        <p:nvSpPr>
          <p:cNvPr id="12" name="テキスト ボックス 11">
            <a:extLst>
              <a:ext uri="{FF2B5EF4-FFF2-40B4-BE49-F238E27FC236}">
                <a16:creationId xmlns:a16="http://schemas.microsoft.com/office/drawing/2014/main" id="{ADC2A776-BB8B-9366-EBFD-BA00223C658F}"/>
              </a:ext>
            </a:extLst>
          </p:cNvPr>
          <p:cNvSpPr txBox="1"/>
          <p:nvPr/>
        </p:nvSpPr>
        <p:spPr>
          <a:xfrm>
            <a:off x="4538096" y="1552617"/>
            <a:ext cx="4615366" cy="615553"/>
          </a:xfrm>
          <a:prstGeom prst="rect">
            <a:avLst/>
          </a:prstGeom>
          <a:noFill/>
        </p:spPr>
        <p:txBody>
          <a:bodyPr wrap="none" rtlCol="0">
            <a:spAutoFit/>
          </a:bodyPr>
          <a:lstStyle/>
          <a:p>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参加人数</a:t>
            </a:r>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１プロダクションあたり</a:t>
            </a:r>
            <a:r>
              <a:rPr kumimoji="1" lang="en-US" altLang="ja-JP" sz="1400" b="1" dirty="0">
                <a:latin typeface="Hiragino Sans W7" panose="020B0400000000000000" pitchFamily="34" charset="-128"/>
                <a:ea typeface="Hiragino Sans W7" panose="020B0400000000000000" pitchFamily="34" charset="-128"/>
              </a:rPr>
              <a:t>2</a:t>
            </a:r>
            <a:r>
              <a:rPr kumimoji="1" lang="ja-JP" altLang="en-US" sz="1400" b="1">
                <a:latin typeface="Hiragino Sans W7" panose="020B0400000000000000" pitchFamily="34" charset="-128"/>
                <a:ea typeface="Hiragino Sans W7" panose="020B0400000000000000" pitchFamily="34" charset="-128"/>
              </a:rPr>
              <a:t>名</a:t>
            </a:r>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３</a:t>
            </a:r>
            <a:r>
              <a:rPr kumimoji="1" lang="en-US" altLang="ja-JP" sz="1400" b="1" dirty="0">
                <a:latin typeface="Hiragino Sans W7" panose="020B0400000000000000" pitchFamily="34" charset="-128"/>
                <a:ea typeface="Hiragino Sans W7" panose="020B0400000000000000" pitchFamily="34" charset="-128"/>
              </a:rPr>
              <a:t>〜</a:t>
            </a:r>
            <a:r>
              <a:rPr kumimoji="1" lang="ja-JP" altLang="en-US" sz="1400" b="1">
                <a:latin typeface="Hiragino Sans W7" panose="020B0400000000000000" pitchFamily="34" charset="-128"/>
                <a:ea typeface="Hiragino Sans W7" panose="020B0400000000000000" pitchFamily="34" charset="-128"/>
              </a:rPr>
              <a:t>５現場</a:t>
            </a:r>
            <a:endParaRPr kumimoji="1" lang="en-US" altLang="ja-JP" sz="1400" b="1" dirty="0">
              <a:latin typeface="Hiragino Sans W7" panose="020B0400000000000000" pitchFamily="34" charset="-128"/>
              <a:ea typeface="Hiragino Sans W7" panose="020B0400000000000000" pitchFamily="34" charset="-128"/>
            </a:endParaRPr>
          </a:p>
          <a:p>
            <a:pPr marL="742950" lvl="1" indent="-285750">
              <a:buFont typeface="Arial" panose="020B0604020202020204" pitchFamily="34" charset="0"/>
              <a:buChar char="•"/>
            </a:pPr>
            <a:r>
              <a:rPr kumimoji="1" lang="ja-JP" altLang="en-US" sz="1000">
                <a:latin typeface="Hiragino Sans W5" panose="020B0400000000000000" pitchFamily="34" charset="-128"/>
                <a:ea typeface="Hiragino Sans W5" panose="020B0400000000000000" pitchFamily="34" charset="-128"/>
              </a:rPr>
              <a:t>１名はプレプロダクション担当</a:t>
            </a:r>
            <a:endParaRPr kumimoji="1" lang="en-US" altLang="ja-JP" sz="1000" dirty="0">
              <a:latin typeface="Hiragino Sans W5" panose="020B0400000000000000" pitchFamily="34" charset="-128"/>
              <a:ea typeface="Hiragino Sans W5" panose="020B0400000000000000" pitchFamily="34" charset="-128"/>
            </a:endParaRPr>
          </a:p>
          <a:p>
            <a:pPr marL="742950" lvl="1" indent="-285750">
              <a:buFont typeface="Arial" panose="020B0604020202020204" pitchFamily="34" charset="0"/>
              <a:buChar char="•"/>
            </a:pPr>
            <a:r>
              <a:rPr kumimoji="1" lang="ja-JP" altLang="en-US" sz="1000">
                <a:latin typeface="Hiragino Sans W5" panose="020B0400000000000000" pitchFamily="34" charset="-128"/>
                <a:ea typeface="Hiragino Sans W5" panose="020B0400000000000000" pitchFamily="34" charset="-128"/>
              </a:rPr>
              <a:t>１名はワークショップ担当</a:t>
            </a:r>
            <a:endParaRPr kumimoji="1" lang="en-US" altLang="ja-JP" sz="1000" dirty="0">
              <a:latin typeface="Hiragino Sans W5" panose="020B0400000000000000" pitchFamily="34" charset="-128"/>
              <a:ea typeface="Hiragino Sans W5" panose="020B0400000000000000" pitchFamily="34" charset="-128"/>
            </a:endParaRPr>
          </a:p>
        </p:txBody>
      </p:sp>
      <p:sp>
        <p:nvSpPr>
          <p:cNvPr id="3" name="正方形/長方形 2">
            <a:extLst>
              <a:ext uri="{FF2B5EF4-FFF2-40B4-BE49-F238E27FC236}">
                <a16:creationId xmlns:a16="http://schemas.microsoft.com/office/drawing/2014/main" id="{C1F87AE4-5B35-DCA3-4DE3-D57939C2186C}"/>
              </a:ext>
            </a:extLst>
          </p:cNvPr>
          <p:cNvSpPr/>
          <p:nvPr/>
        </p:nvSpPr>
        <p:spPr>
          <a:xfrm>
            <a:off x="0" y="0"/>
            <a:ext cx="9906000" cy="6858000"/>
          </a:xfrm>
          <a:prstGeom prst="rect">
            <a:avLst/>
          </a:prstGeom>
          <a:solidFill>
            <a:schemeClr val="bg1">
              <a:lumMod val="50000"/>
              <a:alpha val="64529"/>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0979965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18267</TotalTime>
  <Words>2313</Words>
  <Application>Microsoft Macintosh PowerPoint</Application>
  <PresentationFormat>A4 210 x 297 mm</PresentationFormat>
  <Paragraphs>371</Paragraphs>
  <Slides>11</Slides>
  <Notes>5</Notes>
  <HiddenSlides>7</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11</vt:i4>
      </vt:variant>
    </vt:vector>
  </HeadingPairs>
  <TitlesOfParts>
    <vt:vector size="23" baseType="lpstr">
      <vt:lpstr>Hiragino Sans W3</vt:lpstr>
      <vt:lpstr>Hiragino Sans W4</vt:lpstr>
      <vt:lpstr>Hiragino Sans W5</vt:lpstr>
      <vt:lpstr>Hiragino Sans W6</vt:lpstr>
      <vt:lpstr>Hiragino Sans W7</vt:lpstr>
      <vt:lpstr>Hiragino Sans W8</vt:lpstr>
      <vt:lpstr>游ゴシック</vt:lpstr>
      <vt:lpstr>Aptos</vt:lpstr>
      <vt:lpstr>Aptos Display</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Akahane</dc:creator>
  <cp:lastModifiedBy>Akahane</cp:lastModifiedBy>
  <cp:revision>16</cp:revision>
  <dcterms:created xsi:type="dcterms:W3CDTF">2026-04-11T00:06:30Z</dcterms:created>
  <dcterms:modified xsi:type="dcterms:W3CDTF">2026-07-03T00:23:13Z</dcterms:modified>
</cp:coreProperties>
</file>