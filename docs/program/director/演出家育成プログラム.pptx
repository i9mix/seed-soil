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64" r:id="rId2"/>
    <p:sldId id="265" r:id="rId3"/>
    <p:sldId id="278" r:id="rId4"/>
    <p:sldId id="27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0533"/>
    <p:restoredTop sz="94610"/>
  </p:normalViewPr>
  <p:slideViewPr>
    <p:cSldViewPr snapToGrid="0" snapToObjects="1">
      <p:cViewPr varScale="1">
        <p:scale>
          <a:sx n="85" d="100"/>
          <a:sy n="85" d="100"/>
        </p:scale>
        <p:origin x="192" y="8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704803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88999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995965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6" name="円/楕円 25">
            <a:extLst>
              <a:ext uri="{FF2B5EF4-FFF2-40B4-BE49-F238E27FC236}">
                <a16:creationId xmlns:a16="http://schemas.microsoft.com/office/drawing/2014/main" id="{53A53777-8EBF-591A-B5A9-558C7E78ECD3}"/>
              </a:ext>
            </a:extLst>
          </p:cNvPr>
          <p:cNvSpPr/>
          <p:nvPr/>
        </p:nvSpPr>
        <p:spPr>
          <a:xfrm>
            <a:off x="3324813" y="2386141"/>
            <a:ext cx="3991136" cy="3666743"/>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ext 0"/>
          <p:cNvSpPr/>
          <p:nvPr/>
        </p:nvSpPr>
        <p:spPr>
          <a:xfrm>
            <a:off x="822960" y="457200"/>
            <a:ext cx="10515600" cy="347472"/>
          </a:xfrm>
          <a:prstGeom prst="rect">
            <a:avLst/>
          </a:prstGeom>
          <a:noFill/>
          <a:ln/>
        </p:spPr>
        <p:txBody>
          <a:bodyPr wrap="square" lIns="0" tIns="0" rIns="0" bIns="0" rtlCol="0" anchor="ctr"/>
          <a:lstStyle/>
          <a:p>
            <a:pPr marL="0" indent="0">
              <a:buNone/>
            </a:pPr>
            <a:r>
              <a:rPr lang="en-US" sz="1200" b="1" kern="0" spc="200" dirty="0">
                <a:solidFill>
                  <a:srgbClr val="D62828"/>
                </a:solidFill>
                <a:latin typeface="Meiryo" pitchFamily="34" charset="0"/>
                <a:ea typeface="Meiryo" pitchFamily="34" charset="-122"/>
                <a:cs typeface="Meiryo" pitchFamily="34" charset="-120"/>
              </a:rPr>
              <a:t>PROGRAM 2 — </a:t>
            </a:r>
            <a:r>
              <a:rPr lang="en-US" sz="1200" b="1" kern="0" spc="200" dirty="0" err="1">
                <a:solidFill>
                  <a:srgbClr val="D62828"/>
                </a:solidFill>
                <a:latin typeface="Meiryo" pitchFamily="34" charset="0"/>
                <a:ea typeface="Meiryo" pitchFamily="34" charset="-122"/>
                <a:cs typeface="Meiryo" pitchFamily="34" charset="-120"/>
              </a:rPr>
              <a:t>演出家</a:t>
            </a:r>
            <a:endParaRPr lang="en-US" sz="1200" dirty="0"/>
          </a:p>
        </p:txBody>
      </p:sp>
      <p:sp>
        <p:nvSpPr>
          <p:cNvPr id="3" name="Text 1"/>
          <p:cNvSpPr/>
          <p:nvPr/>
        </p:nvSpPr>
        <p:spPr>
          <a:xfrm>
            <a:off x="822960" y="822960"/>
            <a:ext cx="10607040" cy="868680"/>
          </a:xfrm>
          <a:prstGeom prst="rect">
            <a:avLst/>
          </a:prstGeom>
          <a:noFill/>
          <a:ln/>
        </p:spPr>
        <p:txBody>
          <a:bodyPr wrap="square" lIns="0" tIns="0" rIns="0" bIns="0" rtlCol="0" anchor="ctr"/>
          <a:lstStyle/>
          <a:p>
            <a:pPr marL="0" indent="0">
              <a:buNone/>
            </a:pPr>
            <a:r>
              <a:rPr lang="en-US" sz="3000" b="1" dirty="0" err="1">
                <a:solidFill>
                  <a:srgbClr val="1A1A1A"/>
                </a:solidFill>
                <a:latin typeface="Yu Gothic" pitchFamily="34" charset="0"/>
                <a:ea typeface="Yu Gothic" pitchFamily="34" charset="-122"/>
                <a:cs typeface="Yu Gothic" pitchFamily="34" charset="-120"/>
              </a:rPr>
              <a:t>リサーチから得られた演出家の人材要件</a:t>
            </a:r>
            <a:endParaRPr lang="en-US" sz="3000" dirty="0"/>
          </a:p>
        </p:txBody>
      </p:sp>
      <p:sp>
        <p:nvSpPr>
          <p:cNvPr id="6" name="Shape 3"/>
          <p:cNvSpPr/>
          <p:nvPr/>
        </p:nvSpPr>
        <p:spPr>
          <a:xfrm>
            <a:off x="2652510" y="1986591"/>
            <a:ext cx="3329315" cy="1258824"/>
          </a:xfrm>
          <a:prstGeom prst="roundRect">
            <a:avLst>
              <a:gd name="adj" fmla="val 4615"/>
            </a:avLst>
          </a:prstGeom>
          <a:solidFill>
            <a:srgbClr val="FFFFFF"/>
          </a:solidFill>
          <a:ln w="12700">
            <a:solidFill>
              <a:srgbClr val="BDBDBD"/>
            </a:solidFill>
            <a:prstDash val="dash"/>
          </a:ln>
        </p:spPr>
        <p:txBody>
          <a:bodyPr/>
          <a:lstStyle/>
          <a:p>
            <a:endParaRPr lang="ja-JP" altLang="en-US"/>
          </a:p>
        </p:txBody>
      </p:sp>
      <p:sp>
        <p:nvSpPr>
          <p:cNvPr id="7" name="Text 4"/>
          <p:cNvSpPr/>
          <p:nvPr/>
        </p:nvSpPr>
        <p:spPr>
          <a:xfrm>
            <a:off x="2881110" y="2132895"/>
            <a:ext cx="2980794" cy="384048"/>
          </a:xfrm>
          <a:prstGeom prst="rect">
            <a:avLst/>
          </a:prstGeom>
          <a:noFill/>
          <a:ln/>
        </p:spPr>
        <p:txBody>
          <a:bodyPr wrap="square" lIns="0" tIns="0" rIns="0" bIns="0" rtlCol="0" anchor="ctr"/>
          <a:lstStyle/>
          <a:p>
            <a:pPr marL="0" indent="0">
              <a:buNone/>
            </a:pPr>
            <a:r>
              <a:rPr lang="en-US" sz="1400" b="1" dirty="0" err="1">
                <a:solidFill>
                  <a:srgbClr val="1A1A1A"/>
                </a:solidFill>
                <a:latin typeface="Yu Gothic" pitchFamily="34" charset="0"/>
                <a:ea typeface="Yu Gothic" pitchFamily="34" charset="-122"/>
              </a:rPr>
              <a:t>備えるべき教養</a:t>
            </a:r>
            <a:endParaRPr lang="en-US" sz="1400" dirty="0"/>
          </a:p>
        </p:txBody>
      </p:sp>
      <p:sp>
        <p:nvSpPr>
          <p:cNvPr id="9" name="Text 5"/>
          <p:cNvSpPr/>
          <p:nvPr/>
        </p:nvSpPr>
        <p:spPr>
          <a:xfrm>
            <a:off x="2881110" y="2516943"/>
            <a:ext cx="2860873" cy="728472"/>
          </a:xfrm>
          <a:prstGeom prst="rect">
            <a:avLst/>
          </a:prstGeom>
          <a:noFill/>
          <a:ln/>
        </p:spPr>
        <p:txBody>
          <a:bodyPr wrap="square" lIns="0" tIns="0" rIns="0" bIns="0" rtlCol="0" anchor="t"/>
          <a:lstStyle/>
          <a:p>
            <a:r>
              <a:rPr lang="ja-JP" altLang="en-US" sz="1200">
                <a:latin typeface="MS PGothic" panose="020B0600070205080204" pitchFamily="34" charset="-128"/>
                <a:ea typeface="MS PGothic" panose="020B0600070205080204" pitchFamily="34" charset="-128"/>
              </a:rPr>
              <a:t>・世界文化の一般教養</a:t>
            </a:r>
            <a:endParaRPr lang="en-US" altLang="ja-JP" sz="1200" dirty="0">
              <a:latin typeface="MS PGothic" panose="020B0600070205080204" pitchFamily="34" charset="-128"/>
              <a:ea typeface="MS PGothic" panose="020B0600070205080204" pitchFamily="34" charset="-128"/>
            </a:endParaRPr>
          </a:p>
          <a:p>
            <a:r>
              <a:rPr lang="ja-JP" altLang="en-US" sz="1200">
                <a:latin typeface="MS PGothic" panose="020B0600070205080204" pitchFamily="34" charset="-128"/>
                <a:ea typeface="MS PGothic" panose="020B0600070205080204" pitchFamily="34" charset="-128"/>
              </a:rPr>
              <a:t>・日本文化、自国文化の理解</a:t>
            </a:r>
            <a:endParaRPr lang="en-US" altLang="ja-JP" sz="1200" dirty="0">
              <a:latin typeface="MS PGothic" panose="020B0600070205080204" pitchFamily="34" charset="-128"/>
              <a:ea typeface="MS PGothic" panose="020B0600070205080204" pitchFamily="34" charset="-128"/>
            </a:endParaRPr>
          </a:p>
          <a:p>
            <a:r>
              <a:rPr lang="ja-JP" altLang="en-US" sz="1200">
                <a:latin typeface="MS PGothic" panose="020B0600070205080204" pitchFamily="34" charset="-128"/>
                <a:ea typeface="MS PGothic" panose="020B0600070205080204" pitchFamily="34" charset="-128"/>
              </a:rPr>
              <a:t>・国内外の演劇史や演劇状況の理解</a:t>
            </a:r>
            <a:endParaRPr lang="en-US" altLang="ja-JP" sz="1200" dirty="0">
              <a:latin typeface="MS PGothic" panose="020B0600070205080204" pitchFamily="34" charset="-128"/>
              <a:ea typeface="MS PGothic" panose="020B0600070205080204" pitchFamily="34" charset="-128"/>
            </a:endParaRPr>
          </a:p>
        </p:txBody>
      </p:sp>
      <p:sp>
        <p:nvSpPr>
          <p:cNvPr id="10" name="Shape 6"/>
          <p:cNvSpPr/>
          <p:nvPr/>
        </p:nvSpPr>
        <p:spPr>
          <a:xfrm>
            <a:off x="1576959" y="4997730"/>
            <a:ext cx="3329315" cy="1386840"/>
          </a:xfrm>
          <a:prstGeom prst="roundRect">
            <a:avLst>
              <a:gd name="adj" fmla="val 4615"/>
            </a:avLst>
          </a:prstGeom>
          <a:solidFill>
            <a:srgbClr val="FFFFFF"/>
          </a:solidFill>
          <a:ln w="12700">
            <a:solidFill>
              <a:srgbClr val="BDBDBD"/>
            </a:solidFill>
            <a:prstDash val="dash"/>
          </a:ln>
        </p:spPr>
        <p:txBody>
          <a:bodyPr/>
          <a:lstStyle/>
          <a:p>
            <a:endParaRPr lang="ja-JP" altLang="en-US"/>
          </a:p>
        </p:txBody>
      </p:sp>
      <p:sp>
        <p:nvSpPr>
          <p:cNvPr id="11" name="Text 7"/>
          <p:cNvSpPr/>
          <p:nvPr/>
        </p:nvSpPr>
        <p:spPr>
          <a:xfrm>
            <a:off x="1805559" y="5144034"/>
            <a:ext cx="2980794" cy="365760"/>
          </a:xfrm>
          <a:prstGeom prst="rect">
            <a:avLst/>
          </a:prstGeom>
          <a:noFill/>
          <a:ln/>
        </p:spPr>
        <p:txBody>
          <a:bodyPr wrap="square" lIns="0" tIns="0" rIns="0" bIns="0" rtlCol="0" anchor="ctr"/>
          <a:lstStyle/>
          <a:p>
            <a:pPr marL="0" indent="0">
              <a:buNone/>
            </a:pPr>
            <a:r>
              <a:rPr lang="en-US" sz="1400" b="1" dirty="0" err="1">
                <a:solidFill>
                  <a:srgbClr val="1A1A1A"/>
                </a:solidFill>
                <a:latin typeface="Yu Gothic" pitchFamily="34" charset="0"/>
                <a:ea typeface="Yu Gothic" pitchFamily="34" charset="-122"/>
              </a:rPr>
              <a:t>実践での技術・能力</a:t>
            </a:r>
            <a:endParaRPr lang="en-US" sz="1400" dirty="0"/>
          </a:p>
        </p:txBody>
      </p:sp>
      <p:sp>
        <p:nvSpPr>
          <p:cNvPr id="13" name="Text 8"/>
          <p:cNvSpPr/>
          <p:nvPr/>
        </p:nvSpPr>
        <p:spPr>
          <a:xfrm>
            <a:off x="1805559" y="5528082"/>
            <a:ext cx="2980794" cy="718079"/>
          </a:xfrm>
          <a:prstGeom prst="rect">
            <a:avLst/>
          </a:prstGeom>
          <a:noFill/>
          <a:ln/>
        </p:spPr>
        <p:txBody>
          <a:bodyPr wrap="square" lIns="0" tIns="0" rIns="0" bIns="0" rtlCol="0" anchor="t"/>
          <a:lstStyle/>
          <a:p>
            <a:r>
              <a:rPr lang="en-US" sz="1150" b="1" i="1" dirty="0">
                <a:solidFill>
                  <a:srgbClr val="D62828"/>
                </a:solidFill>
                <a:latin typeface="Meiryo" pitchFamily="34" charset="0"/>
                <a:ea typeface="Meiryo" pitchFamily="34" charset="-122"/>
                <a:cs typeface="Meiryo" pitchFamily="34" charset="-120"/>
              </a:rPr>
              <a:t> </a:t>
            </a:r>
            <a:r>
              <a:rPr lang="ja-JP" altLang="en-US" sz="1200">
                <a:latin typeface="MS PGothic" panose="020B0600070205080204" pitchFamily="34" charset="-128"/>
                <a:ea typeface="MS PGothic" panose="020B0600070205080204" pitchFamily="34" charset="-128"/>
              </a:rPr>
              <a:t>・脚本を読む力</a:t>
            </a:r>
            <a:r>
              <a:rPr lang="en-US" altLang="ja-JP" sz="1200" dirty="0">
                <a:latin typeface="MS PGothic" panose="020B0600070205080204" pitchFamily="34" charset="-128"/>
                <a:ea typeface="MS PGothic" panose="020B0600070205080204" pitchFamily="34" charset="-128"/>
              </a:rPr>
              <a:t>/</a:t>
            </a:r>
            <a:r>
              <a:rPr lang="ja-JP" altLang="en-US" sz="1200">
                <a:latin typeface="MS PGothic" panose="020B0600070205080204" pitchFamily="34" charset="-128"/>
                <a:ea typeface="MS PGothic" panose="020B0600070205080204" pitchFamily="34" charset="-128"/>
              </a:rPr>
              <a:t>戯曲分析</a:t>
            </a:r>
            <a:endParaRPr lang="en-US" altLang="ja-JP" sz="1200" dirty="0">
              <a:latin typeface="MS PGothic" panose="020B0600070205080204" pitchFamily="34" charset="-128"/>
              <a:ea typeface="MS PGothic" panose="020B0600070205080204" pitchFamily="34" charset="-128"/>
            </a:endParaRPr>
          </a:p>
          <a:p>
            <a:r>
              <a:rPr lang="ja-JP" altLang="en-US" sz="1200">
                <a:latin typeface="MS PGothic" panose="020B0600070205080204" pitchFamily="34" charset="-128"/>
                <a:ea typeface="MS PGothic" panose="020B0600070205080204" pitchFamily="34" charset="-128"/>
              </a:rPr>
              <a:t>・演技に関する共通言語の理解</a:t>
            </a:r>
          </a:p>
          <a:p>
            <a:r>
              <a:rPr lang="ja-JP" altLang="en-US" sz="1200">
                <a:latin typeface="MS PGothic" panose="020B0600070205080204" pitchFamily="34" charset="-128"/>
                <a:ea typeface="MS PGothic" panose="020B0600070205080204" pitchFamily="34" charset="-128"/>
              </a:rPr>
              <a:t>・他セクションへの理解</a:t>
            </a:r>
          </a:p>
        </p:txBody>
      </p:sp>
      <p:sp>
        <p:nvSpPr>
          <p:cNvPr id="14" name="Shape 9"/>
          <p:cNvSpPr/>
          <p:nvPr/>
        </p:nvSpPr>
        <p:spPr>
          <a:xfrm>
            <a:off x="5856655" y="4997730"/>
            <a:ext cx="3329315" cy="1386840"/>
          </a:xfrm>
          <a:prstGeom prst="roundRect">
            <a:avLst>
              <a:gd name="adj" fmla="val 4615"/>
            </a:avLst>
          </a:prstGeom>
          <a:solidFill>
            <a:srgbClr val="FFFFFF"/>
          </a:solidFill>
          <a:ln w="12700">
            <a:solidFill>
              <a:srgbClr val="BDBDBD"/>
            </a:solidFill>
            <a:prstDash val="dash"/>
          </a:ln>
        </p:spPr>
        <p:txBody>
          <a:bodyPr/>
          <a:lstStyle/>
          <a:p>
            <a:endParaRPr lang="ja-JP" altLang="en-US"/>
          </a:p>
        </p:txBody>
      </p:sp>
      <p:sp>
        <p:nvSpPr>
          <p:cNvPr id="15" name="Text 10"/>
          <p:cNvSpPr/>
          <p:nvPr/>
        </p:nvSpPr>
        <p:spPr>
          <a:xfrm>
            <a:off x="6085255" y="5144034"/>
            <a:ext cx="2980794" cy="384048"/>
          </a:xfrm>
          <a:prstGeom prst="rect">
            <a:avLst/>
          </a:prstGeom>
          <a:noFill/>
          <a:ln/>
        </p:spPr>
        <p:txBody>
          <a:bodyPr wrap="square" lIns="0" tIns="0" rIns="0" bIns="0" rtlCol="0" anchor="ctr"/>
          <a:lstStyle/>
          <a:p>
            <a:pPr marL="0" indent="0">
              <a:buNone/>
            </a:pPr>
            <a:r>
              <a:rPr lang="en-US" sz="1400" b="1" dirty="0" err="1">
                <a:solidFill>
                  <a:srgbClr val="1A1A1A"/>
                </a:solidFill>
                <a:latin typeface="Yu Gothic" pitchFamily="34" charset="0"/>
                <a:ea typeface="Yu Gothic" pitchFamily="34" charset="-122"/>
              </a:rPr>
              <a:t>プロデュース力</a:t>
            </a:r>
            <a:endParaRPr lang="en-US" sz="1400" dirty="0"/>
          </a:p>
        </p:txBody>
      </p:sp>
      <p:sp>
        <p:nvSpPr>
          <p:cNvPr id="17" name="Text 11"/>
          <p:cNvSpPr/>
          <p:nvPr/>
        </p:nvSpPr>
        <p:spPr>
          <a:xfrm>
            <a:off x="6085255" y="5528082"/>
            <a:ext cx="2980794" cy="856488"/>
          </a:xfrm>
          <a:prstGeom prst="rect">
            <a:avLst/>
          </a:prstGeom>
          <a:noFill/>
          <a:ln/>
        </p:spPr>
        <p:txBody>
          <a:bodyPr wrap="square" lIns="0" tIns="0" rIns="0" bIns="0" rtlCol="0" anchor="t"/>
          <a:lstStyle/>
          <a:p>
            <a:r>
              <a:rPr lang="ja-JP" altLang="en-US" sz="1200">
                <a:latin typeface="MS PGothic" panose="020B0600070205080204" pitchFamily="34" charset="-128"/>
                <a:ea typeface="MS PGothic" panose="020B0600070205080204" pitchFamily="34" charset="-128"/>
              </a:rPr>
              <a:t>・プロデュース能力</a:t>
            </a:r>
            <a:endParaRPr lang="en-US" altLang="ja-JP" sz="1200" dirty="0">
              <a:latin typeface="MS PGothic" panose="020B0600070205080204" pitchFamily="34" charset="-128"/>
              <a:ea typeface="MS PGothic" panose="020B0600070205080204" pitchFamily="34" charset="-128"/>
            </a:endParaRPr>
          </a:p>
          <a:p>
            <a:r>
              <a:rPr lang="ja-JP" altLang="en-US" sz="1200">
                <a:latin typeface="MS PGothic" panose="020B0600070205080204" pitchFamily="34" charset="-128"/>
                <a:ea typeface="MS PGothic" panose="020B0600070205080204" pitchFamily="34" charset="-128"/>
              </a:rPr>
              <a:t>・ピッチングスキル</a:t>
            </a:r>
          </a:p>
          <a:p>
            <a:r>
              <a:rPr lang="ja-JP" altLang="en-US" sz="1200">
                <a:latin typeface="MS PGothic" panose="020B0600070205080204" pitchFamily="34" charset="-128"/>
                <a:ea typeface="MS PGothic" panose="020B0600070205080204" pitchFamily="34" charset="-128"/>
              </a:rPr>
              <a:t>・ビジネススキル</a:t>
            </a:r>
            <a:endParaRPr lang="en-US" altLang="ja-JP" sz="1200" dirty="0">
              <a:latin typeface="MS PGothic" panose="020B0600070205080204" pitchFamily="34" charset="-128"/>
              <a:ea typeface="MS PGothic" panose="020B0600070205080204" pitchFamily="34" charset="-128"/>
            </a:endParaRPr>
          </a:p>
        </p:txBody>
      </p:sp>
      <p:sp>
        <p:nvSpPr>
          <p:cNvPr id="20" name="Shape 3">
            <a:extLst>
              <a:ext uri="{FF2B5EF4-FFF2-40B4-BE49-F238E27FC236}">
                <a16:creationId xmlns:a16="http://schemas.microsoft.com/office/drawing/2014/main" id="{D4196AF8-14FF-270B-89A1-3B5D7C64C57F}"/>
              </a:ext>
            </a:extLst>
          </p:cNvPr>
          <p:cNvSpPr/>
          <p:nvPr/>
        </p:nvSpPr>
        <p:spPr>
          <a:xfrm>
            <a:off x="3686833" y="3401220"/>
            <a:ext cx="3329315" cy="1446551"/>
          </a:xfrm>
          <a:prstGeom prst="roundRect">
            <a:avLst>
              <a:gd name="adj" fmla="val 4615"/>
            </a:avLst>
          </a:prstGeom>
          <a:solidFill>
            <a:srgbClr val="FFFFFF"/>
          </a:solidFill>
          <a:ln w="12700">
            <a:solidFill>
              <a:srgbClr val="BDBDBD"/>
            </a:solidFill>
            <a:prstDash val="dash"/>
          </a:ln>
        </p:spPr>
        <p:txBody>
          <a:bodyPr/>
          <a:lstStyle/>
          <a:p>
            <a:endParaRPr lang="ja-JP" altLang="en-US"/>
          </a:p>
        </p:txBody>
      </p:sp>
      <p:sp>
        <p:nvSpPr>
          <p:cNvPr id="21" name="Text 4">
            <a:extLst>
              <a:ext uri="{FF2B5EF4-FFF2-40B4-BE49-F238E27FC236}">
                <a16:creationId xmlns:a16="http://schemas.microsoft.com/office/drawing/2014/main" id="{A64D62C6-71C4-154B-D7A0-849FC3A7A5B0}"/>
              </a:ext>
            </a:extLst>
          </p:cNvPr>
          <p:cNvSpPr/>
          <p:nvPr/>
        </p:nvSpPr>
        <p:spPr>
          <a:xfrm>
            <a:off x="3915433" y="3547525"/>
            <a:ext cx="2980794" cy="384048"/>
          </a:xfrm>
          <a:prstGeom prst="rect">
            <a:avLst/>
          </a:prstGeom>
          <a:noFill/>
          <a:ln/>
        </p:spPr>
        <p:txBody>
          <a:bodyPr wrap="square" lIns="0" tIns="0" rIns="0" bIns="0" rtlCol="0" anchor="ctr"/>
          <a:lstStyle/>
          <a:p>
            <a:pPr marL="0" indent="0">
              <a:buNone/>
            </a:pPr>
            <a:r>
              <a:rPr lang="en-US" sz="1400" b="1" dirty="0" err="1">
                <a:solidFill>
                  <a:srgbClr val="1A1A1A"/>
                </a:solidFill>
                <a:latin typeface="Yu Gothic" pitchFamily="34" charset="0"/>
                <a:ea typeface="Yu Gothic" pitchFamily="34" charset="-122"/>
              </a:rPr>
              <a:t>総合力</a:t>
            </a:r>
            <a:endParaRPr lang="en-US" sz="1400" dirty="0"/>
          </a:p>
        </p:txBody>
      </p:sp>
      <p:sp>
        <p:nvSpPr>
          <p:cNvPr id="22" name="Text 5">
            <a:extLst>
              <a:ext uri="{FF2B5EF4-FFF2-40B4-BE49-F238E27FC236}">
                <a16:creationId xmlns:a16="http://schemas.microsoft.com/office/drawing/2014/main" id="{091154BC-95EF-769D-E223-0B6A99BA700B}"/>
              </a:ext>
            </a:extLst>
          </p:cNvPr>
          <p:cNvSpPr/>
          <p:nvPr/>
        </p:nvSpPr>
        <p:spPr>
          <a:xfrm>
            <a:off x="3915433" y="3931573"/>
            <a:ext cx="2860873" cy="728472"/>
          </a:xfrm>
          <a:prstGeom prst="rect">
            <a:avLst/>
          </a:prstGeom>
          <a:noFill/>
          <a:ln/>
        </p:spPr>
        <p:txBody>
          <a:bodyPr wrap="square" lIns="0" tIns="0" rIns="0" bIns="0" rtlCol="0" anchor="t"/>
          <a:lstStyle/>
          <a:p>
            <a:r>
              <a:rPr lang="ja-JP" altLang="en-US" sz="1200">
                <a:latin typeface="MS PGothic" panose="020B0600070205080204" pitchFamily="34" charset="-128"/>
                <a:ea typeface="MS PGothic" panose="020B0600070205080204" pitchFamily="34" charset="-128"/>
              </a:rPr>
              <a:t>・コミュニケーションスキル</a:t>
            </a:r>
            <a:endParaRPr lang="en-US" altLang="ja-JP" sz="1200" dirty="0">
              <a:latin typeface="MS PGothic" panose="020B0600070205080204" pitchFamily="34" charset="-128"/>
              <a:ea typeface="MS PGothic" panose="020B0600070205080204" pitchFamily="34" charset="-128"/>
            </a:endParaRPr>
          </a:p>
          <a:p>
            <a:r>
              <a:rPr lang="ja-JP" altLang="en-US" sz="1200">
                <a:latin typeface="MS PGothic" panose="020B0600070205080204" pitchFamily="34" charset="-128"/>
                <a:ea typeface="MS PGothic" panose="020B0600070205080204" pitchFamily="34" charset="-128"/>
              </a:rPr>
              <a:t>・リスペクトとコラボレーション能力</a:t>
            </a:r>
            <a:endParaRPr lang="en-US" altLang="ja-JP" sz="1200" dirty="0">
              <a:latin typeface="MS PGothic" panose="020B0600070205080204" pitchFamily="34" charset="-128"/>
              <a:ea typeface="MS PGothic" panose="020B0600070205080204" pitchFamily="34" charset="-128"/>
            </a:endParaRPr>
          </a:p>
          <a:p>
            <a:r>
              <a:rPr lang="ja-JP" altLang="en-US" sz="1200">
                <a:latin typeface="MS PGothic" panose="020B0600070205080204" pitchFamily="34" charset="-128"/>
                <a:ea typeface="MS PGothic" panose="020B0600070205080204" pitchFamily="34" charset="-128"/>
              </a:rPr>
              <a:t>・独自の感性と価値観</a:t>
            </a:r>
          </a:p>
          <a:p>
            <a:r>
              <a:rPr lang="ja-JP" altLang="en-US" sz="1200">
                <a:latin typeface="MS PGothic" panose="020B0600070205080204" pitchFamily="34" charset="-128"/>
                <a:ea typeface="MS PGothic" panose="020B0600070205080204" pitchFamily="34" charset="-128"/>
              </a:rPr>
              <a:t>・総合的なバランス感覚、客観的な目線</a:t>
            </a:r>
          </a:p>
        </p:txBody>
      </p:sp>
      <p:sp>
        <p:nvSpPr>
          <p:cNvPr id="23" name="Shape 9">
            <a:extLst>
              <a:ext uri="{FF2B5EF4-FFF2-40B4-BE49-F238E27FC236}">
                <a16:creationId xmlns:a16="http://schemas.microsoft.com/office/drawing/2014/main" id="{FE12DD43-A10B-048C-ACE7-84E7B80B74F2}"/>
              </a:ext>
            </a:extLst>
          </p:cNvPr>
          <p:cNvSpPr/>
          <p:nvPr/>
        </p:nvSpPr>
        <p:spPr>
          <a:xfrm>
            <a:off x="8350271" y="2150727"/>
            <a:ext cx="2812155" cy="1636001"/>
          </a:xfrm>
          <a:prstGeom prst="roundRect">
            <a:avLst>
              <a:gd name="adj" fmla="val 4615"/>
            </a:avLst>
          </a:prstGeom>
          <a:solidFill>
            <a:srgbClr val="FFFFFF"/>
          </a:solidFill>
          <a:ln w="12700">
            <a:solidFill>
              <a:srgbClr val="BDBDBD"/>
            </a:solidFill>
            <a:prstDash val="dash"/>
          </a:ln>
        </p:spPr>
        <p:txBody>
          <a:bodyPr/>
          <a:lstStyle/>
          <a:p>
            <a:endParaRPr lang="ja-JP" altLang="en-US"/>
          </a:p>
        </p:txBody>
      </p:sp>
      <p:sp>
        <p:nvSpPr>
          <p:cNvPr id="24" name="Text 10">
            <a:extLst>
              <a:ext uri="{FF2B5EF4-FFF2-40B4-BE49-F238E27FC236}">
                <a16:creationId xmlns:a16="http://schemas.microsoft.com/office/drawing/2014/main" id="{A9533433-4262-E427-631C-319590D139D2}"/>
              </a:ext>
            </a:extLst>
          </p:cNvPr>
          <p:cNvSpPr/>
          <p:nvPr/>
        </p:nvSpPr>
        <p:spPr>
          <a:xfrm>
            <a:off x="8578871" y="2297032"/>
            <a:ext cx="2343712" cy="384048"/>
          </a:xfrm>
          <a:prstGeom prst="rect">
            <a:avLst/>
          </a:prstGeom>
          <a:noFill/>
          <a:ln/>
        </p:spPr>
        <p:txBody>
          <a:bodyPr wrap="square" lIns="0" tIns="0" rIns="0" bIns="0" rtlCol="0" anchor="ctr"/>
          <a:lstStyle/>
          <a:p>
            <a:pPr marL="0" indent="0">
              <a:buNone/>
            </a:pPr>
            <a:r>
              <a:rPr lang="en-US" sz="1400" dirty="0" err="1"/>
              <a:t>育成において必要な要素</a:t>
            </a:r>
            <a:endParaRPr lang="en-US" sz="1400" dirty="0"/>
          </a:p>
        </p:txBody>
      </p:sp>
      <p:sp>
        <p:nvSpPr>
          <p:cNvPr id="25" name="Text 11">
            <a:extLst>
              <a:ext uri="{FF2B5EF4-FFF2-40B4-BE49-F238E27FC236}">
                <a16:creationId xmlns:a16="http://schemas.microsoft.com/office/drawing/2014/main" id="{47A7E238-E16D-6EA7-D5FD-88746AD0456D}"/>
              </a:ext>
            </a:extLst>
          </p:cNvPr>
          <p:cNvSpPr/>
          <p:nvPr/>
        </p:nvSpPr>
        <p:spPr>
          <a:xfrm>
            <a:off x="8578871" y="2681080"/>
            <a:ext cx="2343712" cy="856488"/>
          </a:xfrm>
          <a:prstGeom prst="rect">
            <a:avLst/>
          </a:prstGeom>
          <a:noFill/>
          <a:ln/>
        </p:spPr>
        <p:txBody>
          <a:bodyPr wrap="square" lIns="0" tIns="0" rIns="0" bIns="0" rtlCol="0" anchor="t"/>
          <a:lstStyle/>
          <a:p>
            <a:r>
              <a:rPr lang="ja-JP" altLang="en-US" sz="1200">
                <a:latin typeface="MS PGothic" panose="020B0600070205080204" pitchFamily="34" charset="-128"/>
                <a:ea typeface="MS PGothic" panose="020B0600070205080204" pitchFamily="34" charset="-128"/>
              </a:rPr>
              <a:t>・メンターの必要性</a:t>
            </a:r>
            <a:endParaRPr lang="en-US" altLang="ja-JP" sz="1200" dirty="0">
              <a:latin typeface="MS PGothic" panose="020B0600070205080204" pitchFamily="34" charset="-128"/>
              <a:ea typeface="MS PGothic" panose="020B0600070205080204" pitchFamily="34" charset="-128"/>
            </a:endParaRPr>
          </a:p>
          <a:p>
            <a:r>
              <a:rPr lang="ja-JP" altLang="en-US" sz="1200">
                <a:latin typeface="MS PGothic" panose="020B0600070205080204" pitchFamily="34" charset="-128"/>
                <a:ea typeface="MS PGothic" panose="020B0600070205080204" pitchFamily="34" charset="-128"/>
              </a:rPr>
              <a:t>・アソシエイトやアシスタントで</a:t>
            </a:r>
            <a:endParaRPr lang="en-US" altLang="ja-JP" sz="1200" dirty="0">
              <a:latin typeface="MS PGothic" panose="020B0600070205080204" pitchFamily="34" charset="-128"/>
              <a:ea typeface="MS PGothic" panose="020B0600070205080204" pitchFamily="34" charset="-128"/>
            </a:endParaRPr>
          </a:p>
          <a:p>
            <a:r>
              <a:rPr lang="ja-JP" altLang="en-US" sz="1200">
                <a:latin typeface="MS PGothic" panose="020B0600070205080204" pitchFamily="34" charset="-128"/>
                <a:ea typeface="MS PGothic" panose="020B0600070205080204" pitchFamily="34" charset="-128"/>
              </a:rPr>
              <a:t>　学べる環境</a:t>
            </a:r>
            <a:endParaRPr lang="en-US" altLang="ja-JP" sz="1200" dirty="0">
              <a:latin typeface="MS PGothic" panose="020B0600070205080204" pitchFamily="34" charset="-128"/>
              <a:ea typeface="MS PGothic" panose="020B0600070205080204" pitchFamily="34" charset="-128"/>
            </a:endParaRPr>
          </a:p>
          <a:p>
            <a:r>
              <a:rPr lang="ja-JP" altLang="en-US" sz="1200">
                <a:latin typeface="MS PGothic" panose="020B0600070205080204" pitchFamily="34" charset="-128"/>
                <a:ea typeface="MS PGothic" panose="020B0600070205080204" pitchFamily="34" charset="-128"/>
              </a:rPr>
              <a:t>・創作実践の場の提供</a:t>
            </a:r>
            <a:endParaRPr lang="en-US" altLang="ja-JP" sz="1200" dirty="0">
              <a:latin typeface="MS PGothic" panose="020B0600070205080204" pitchFamily="34" charset="-128"/>
              <a:ea typeface="MS PGothic" panose="020B0600070205080204" pitchFamily="34" charset="-128"/>
            </a:endParaRPr>
          </a:p>
          <a:p>
            <a:r>
              <a:rPr lang="ja-JP" altLang="en-US" sz="1200">
                <a:latin typeface="MS PGothic" panose="020B0600070205080204" pitchFamily="34" charset="-128"/>
                <a:ea typeface="MS PGothic" panose="020B0600070205080204" pitchFamily="34" charset="-128"/>
              </a:rPr>
              <a:t>・出会いの場の提供</a:t>
            </a:r>
            <a:endParaRPr lang="en-US" altLang="ja-JP" sz="1200" dirty="0">
              <a:latin typeface="MS PGothic" panose="020B0600070205080204" pitchFamily="34" charset="-128"/>
              <a:ea typeface="MS PGothic" panose="020B0600070205080204" pitchFamily="34" charset="-128"/>
            </a:endParaRPr>
          </a:p>
        </p:txBody>
      </p:sp>
      <p:sp>
        <p:nvSpPr>
          <p:cNvPr id="27" name="左矢印 26">
            <a:extLst>
              <a:ext uri="{FF2B5EF4-FFF2-40B4-BE49-F238E27FC236}">
                <a16:creationId xmlns:a16="http://schemas.microsoft.com/office/drawing/2014/main" id="{E279A1C6-417C-9582-3BB0-DF41C7FDD63D}"/>
              </a:ext>
            </a:extLst>
          </p:cNvPr>
          <p:cNvSpPr/>
          <p:nvPr/>
        </p:nvSpPr>
        <p:spPr>
          <a:xfrm rot="19974267">
            <a:off x="7188034" y="2782235"/>
            <a:ext cx="1102772" cy="1020479"/>
          </a:xfrm>
          <a:prstGeom prst="lef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15600" cy="347472"/>
          </a:xfrm>
          <a:prstGeom prst="rect">
            <a:avLst/>
          </a:prstGeom>
          <a:noFill/>
          <a:ln/>
        </p:spPr>
        <p:txBody>
          <a:bodyPr wrap="square" lIns="0" tIns="0" rIns="0" bIns="0" rtlCol="0" anchor="ctr"/>
          <a:lstStyle/>
          <a:p>
            <a:pPr marL="0" indent="0">
              <a:buNone/>
            </a:pPr>
            <a:r>
              <a:rPr lang="en-US" sz="1200" b="1" kern="0" spc="200" dirty="0">
                <a:solidFill>
                  <a:srgbClr val="D62828"/>
                </a:solidFill>
                <a:latin typeface="Meiryo" pitchFamily="34" charset="0"/>
                <a:ea typeface="Meiryo" pitchFamily="34" charset="-122"/>
                <a:cs typeface="Meiryo" pitchFamily="34" charset="-120"/>
              </a:rPr>
              <a:t>PROGRAM 2 — </a:t>
            </a:r>
            <a:r>
              <a:rPr lang="en-US" sz="1200" b="1" kern="0" spc="200" dirty="0" err="1">
                <a:solidFill>
                  <a:srgbClr val="D62828"/>
                </a:solidFill>
                <a:latin typeface="Meiryo" pitchFamily="34" charset="0"/>
                <a:ea typeface="Meiryo" pitchFamily="34" charset="-122"/>
                <a:cs typeface="Meiryo" pitchFamily="34" charset="-120"/>
              </a:rPr>
              <a:t>演出家</a:t>
            </a:r>
            <a:endParaRPr lang="en-US" sz="1200" dirty="0"/>
          </a:p>
        </p:txBody>
      </p:sp>
      <p:sp>
        <p:nvSpPr>
          <p:cNvPr id="3" name="Text 1"/>
          <p:cNvSpPr/>
          <p:nvPr/>
        </p:nvSpPr>
        <p:spPr>
          <a:xfrm>
            <a:off x="822960" y="822960"/>
            <a:ext cx="10607040" cy="868680"/>
          </a:xfrm>
          <a:prstGeom prst="rect">
            <a:avLst/>
          </a:prstGeom>
          <a:noFill/>
          <a:ln/>
        </p:spPr>
        <p:txBody>
          <a:bodyPr wrap="square" lIns="0" tIns="0" rIns="0" bIns="0" rtlCol="0" anchor="ctr"/>
          <a:lstStyle/>
          <a:p>
            <a:pPr marL="0" indent="0">
              <a:buNone/>
            </a:pPr>
            <a:r>
              <a:rPr lang="en-US" sz="3000" b="1" dirty="0" err="1">
                <a:solidFill>
                  <a:srgbClr val="1A1A1A"/>
                </a:solidFill>
                <a:latin typeface="Yu Gothic" pitchFamily="34" charset="0"/>
                <a:ea typeface="Yu Gothic" pitchFamily="34" charset="-122"/>
                <a:cs typeface="Yu Gothic" pitchFamily="34" charset="-120"/>
              </a:rPr>
              <a:t>演出家育成プログラムの目的</a:t>
            </a:r>
            <a:endParaRPr lang="en-US" sz="3000" dirty="0"/>
          </a:p>
        </p:txBody>
      </p:sp>
      <p:sp>
        <p:nvSpPr>
          <p:cNvPr id="6" name="Shape 3"/>
          <p:cNvSpPr/>
          <p:nvPr/>
        </p:nvSpPr>
        <p:spPr>
          <a:xfrm>
            <a:off x="795528" y="1862041"/>
            <a:ext cx="10515600" cy="1351026"/>
          </a:xfrm>
          <a:prstGeom prst="roundRect">
            <a:avLst>
              <a:gd name="adj" fmla="val 6437"/>
            </a:avLst>
          </a:prstGeom>
          <a:solidFill>
            <a:srgbClr val="FFFFFF"/>
          </a:solidFill>
          <a:ln w="12700">
            <a:solidFill>
              <a:srgbClr val="BDBDBD"/>
            </a:solidFill>
            <a:prstDash val="dash"/>
          </a:ln>
        </p:spPr>
        <p:txBody>
          <a:bodyPr/>
          <a:lstStyle/>
          <a:p>
            <a:endParaRPr lang="ja-JP" altLang="en-US"/>
          </a:p>
        </p:txBody>
      </p:sp>
      <p:sp>
        <p:nvSpPr>
          <p:cNvPr id="7" name="Text 4"/>
          <p:cNvSpPr/>
          <p:nvPr/>
        </p:nvSpPr>
        <p:spPr>
          <a:xfrm>
            <a:off x="1051560" y="1975103"/>
            <a:ext cx="9692640" cy="666369"/>
          </a:xfrm>
          <a:prstGeom prst="rect">
            <a:avLst/>
          </a:prstGeom>
          <a:noFill/>
          <a:ln/>
        </p:spPr>
        <p:txBody>
          <a:bodyPr wrap="square" lIns="0" tIns="0" rIns="0" bIns="0" rtlCol="0" anchor="ctr"/>
          <a:lstStyle/>
          <a:p>
            <a:r>
              <a:rPr lang="en-US" sz="1400" b="1" dirty="0" err="1">
                <a:solidFill>
                  <a:srgbClr val="1A1A1A"/>
                </a:solidFill>
                <a:latin typeface="Yu Gothic" pitchFamily="34" charset="0"/>
                <a:ea typeface="Yu Gothic" pitchFamily="34" charset="-122"/>
              </a:rPr>
              <a:t>目的</a:t>
            </a:r>
            <a:endParaRPr lang="en-US" sz="1400" b="1" dirty="0">
              <a:solidFill>
                <a:srgbClr val="1A1A1A"/>
              </a:solidFill>
              <a:latin typeface="Yu Gothic" pitchFamily="34" charset="0"/>
              <a:ea typeface="Yu Gothic" pitchFamily="34" charset="-122"/>
            </a:endParaRPr>
          </a:p>
          <a:p>
            <a:r>
              <a:rPr lang="ja-JP" altLang="en-US" sz="1400" b="1">
                <a:solidFill>
                  <a:srgbClr val="1A1A1A"/>
                </a:solidFill>
                <a:latin typeface="Yu Gothic" pitchFamily="34" charset="0"/>
                <a:ea typeface="Yu Gothic" pitchFamily="34" charset="-122"/>
              </a:rPr>
              <a:t>演出家の魅力を伝えることで演出家に興味を持つ人材を増やし、</a:t>
            </a:r>
            <a:endParaRPr lang="en-US" altLang="ja-JP" sz="1400" b="1" dirty="0">
              <a:solidFill>
                <a:srgbClr val="1A1A1A"/>
              </a:solidFill>
              <a:latin typeface="Yu Gothic" pitchFamily="34" charset="0"/>
              <a:ea typeface="Yu Gothic" pitchFamily="34" charset="-122"/>
            </a:endParaRPr>
          </a:p>
          <a:p>
            <a:r>
              <a:rPr lang="ja-JP" altLang="en-US" sz="1400" b="1">
                <a:solidFill>
                  <a:srgbClr val="1A1A1A"/>
                </a:solidFill>
                <a:latin typeface="Yu Gothic" pitchFamily="34" charset="0"/>
                <a:ea typeface="Yu Gothic" pitchFamily="34" charset="-122"/>
              </a:rPr>
              <a:t>さらに、将来的に海外展開できる演出家になれる人材の入り口となれるようなプログラムの創出</a:t>
            </a:r>
            <a:endParaRPr lang="en-US" sz="1400" dirty="0"/>
          </a:p>
        </p:txBody>
      </p:sp>
      <p:sp>
        <p:nvSpPr>
          <p:cNvPr id="9" name="Text 5"/>
          <p:cNvSpPr/>
          <p:nvPr/>
        </p:nvSpPr>
        <p:spPr>
          <a:xfrm>
            <a:off x="1024128" y="2769489"/>
            <a:ext cx="10058400" cy="336042"/>
          </a:xfrm>
          <a:prstGeom prst="rect">
            <a:avLst/>
          </a:prstGeom>
          <a:noFill/>
          <a:ln/>
        </p:spPr>
        <p:txBody>
          <a:bodyPr wrap="square" lIns="0" tIns="0" rIns="0" bIns="0" rtlCol="0" anchor="t"/>
          <a:lstStyle/>
          <a:p>
            <a:pPr>
              <a:lnSpc>
                <a:spcPct val="118000"/>
              </a:lnSpc>
            </a:pPr>
            <a:r>
              <a:rPr lang="en-US" sz="1150" b="1" i="1" dirty="0" err="1">
                <a:solidFill>
                  <a:srgbClr val="D62828"/>
                </a:solidFill>
                <a:latin typeface="Meiryo" pitchFamily="34" charset="0"/>
                <a:ea typeface="Meiryo" pitchFamily="34" charset="-122"/>
                <a:cs typeface="Meiryo" pitchFamily="34" charset="-120"/>
              </a:rPr>
              <a:t>ヒント</a:t>
            </a:r>
            <a:r>
              <a:rPr lang="ja-JP" altLang="en-US" sz="1150" b="1" i="1">
                <a:solidFill>
                  <a:srgbClr val="D62828"/>
                </a:solidFill>
                <a:latin typeface="Meiryo" pitchFamily="34" charset="0"/>
                <a:ea typeface="Meiryo" pitchFamily="34" charset="-122"/>
                <a:cs typeface="Meiryo" pitchFamily="34" charset="-120"/>
              </a:rPr>
              <a:t>　</a:t>
            </a:r>
            <a:r>
              <a:rPr kumimoji="1" lang="ja-JP" altLang="en-US" sz="1200"/>
              <a:t>・演出という素晴らしい仕事に夢を持ってもらう　・海外展開できる演出家の視座を共有する</a:t>
            </a:r>
          </a:p>
          <a:p>
            <a:pPr>
              <a:lnSpc>
                <a:spcPct val="118000"/>
              </a:lnSpc>
            </a:pPr>
            <a:r>
              <a:rPr kumimoji="1" lang="ja-JP" altLang="en-US" sz="1200"/>
              <a:t>　</a:t>
            </a:r>
          </a:p>
          <a:p>
            <a:pPr marL="0" indent="0">
              <a:lnSpc>
                <a:spcPct val="118000"/>
              </a:lnSpc>
              <a:buNone/>
            </a:pPr>
            <a:endParaRPr lang="en-US" sz="1150" dirty="0"/>
          </a:p>
        </p:txBody>
      </p:sp>
      <p:sp>
        <p:nvSpPr>
          <p:cNvPr id="14" name="Shape 9"/>
          <p:cNvSpPr/>
          <p:nvPr/>
        </p:nvSpPr>
        <p:spPr>
          <a:xfrm>
            <a:off x="795528" y="3429000"/>
            <a:ext cx="10515600" cy="1351027"/>
          </a:xfrm>
          <a:prstGeom prst="roundRect">
            <a:avLst>
              <a:gd name="adj" fmla="val 6437"/>
            </a:avLst>
          </a:prstGeom>
          <a:solidFill>
            <a:srgbClr val="FFFFFF"/>
          </a:solidFill>
          <a:ln w="12700">
            <a:solidFill>
              <a:srgbClr val="BDBDBD"/>
            </a:solidFill>
            <a:prstDash val="dash"/>
          </a:ln>
        </p:spPr>
        <p:txBody>
          <a:bodyPr/>
          <a:lstStyle/>
          <a:p>
            <a:endParaRPr lang="ja-JP" altLang="en-US"/>
          </a:p>
        </p:txBody>
      </p:sp>
      <p:sp>
        <p:nvSpPr>
          <p:cNvPr id="15" name="Text 10"/>
          <p:cNvSpPr/>
          <p:nvPr/>
        </p:nvSpPr>
        <p:spPr>
          <a:xfrm>
            <a:off x="1024128" y="3575304"/>
            <a:ext cx="9692640" cy="365760"/>
          </a:xfrm>
          <a:prstGeom prst="rect">
            <a:avLst/>
          </a:prstGeom>
          <a:noFill/>
          <a:ln/>
        </p:spPr>
        <p:txBody>
          <a:bodyPr wrap="square" lIns="0" tIns="0" rIns="0" bIns="0" rtlCol="0" anchor="ctr"/>
          <a:lstStyle/>
          <a:p>
            <a:pPr marL="0" indent="0">
              <a:buNone/>
            </a:pPr>
            <a:r>
              <a:rPr lang="en-US" sz="1400" b="1" dirty="0" err="1">
                <a:solidFill>
                  <a:srgbClr val="1A1A1A"/>
                </a:solidFill>
                <a:latin typeface="Yu Gothic" pitchFamily="34" charset="0"/>
                <a:ea typeface="Yu Gothic" pitchFamily="34" charset="-122"/>
              </a:rPr>
              <a:t>具体的な育成プログラムの指針</a:t>
            </a:r>
            <a:endParaRPr lang="en-US" sz="1400" dirty="0"/>
          </a:p>
        </p:txBody>
      </p:sp>
      <p:sp>
        <p:nvSpPr>
          <p:cNvPr id="17" name="Text 11"/>
          <p:cNvSpPr/>
          <p:nvPr/>
        </p:nvSpPr>
        <p:spPr>
          <a:xfrm>
            <a:off x="1024128" y="3959353"/>
            <a:ext cx="10058400" cy="807520"/>
          </a:xfrm>
          <a:prstGeom prst="rect">
            <a:avLst/>
          </a:prstGeom>
          <a:noFill/>
          <a:ln/>
        </p:spPr>
        <p:txBody>
          <a:bodyPr wrap="square" lIns="0" tIns="0" rIns="0" bIns="0" rtlCol="0" anchor="t"/>
          <a:lstStyle/>
          <a:p>
            <a:pPr>
              <a:lnSpc>
                <a:spcPct val="118000"/>
              </a:lnSpc>
            </a:pPr>
            <a:r>
              <a:rPr kumimoji="1" lang="ja-JP" altLang="en-US" sz="1400" b="1">
                <a:latin typeface="+mj-ea"/>
                <a:ea typeface="+mj-ea"/>
              </a:rPr>
              <a:t>・演出家育成の</a:t>
            </a:r>
            <a:r>
              <a:rPr kumimoji="1" lang="en-US" altLang="ja-JP" sz="1400" b="1" dirty="0">
                <a:latin typeface="+mj-ea"/>
                <a:ea typeface="+mj-ea"/>
              </a:rPr>
              <a:t>5</a:t>
            </a:r>
            <a:r>
              <a:rPr kumimoji="1" lang="ja-JP" altLang="en-US" sz="1400" b="1">
                <a:latin typeface="+mj-ea"/>
                <a:ea typeface="+mj-ea"/>
              </a:rPr>
              <a:t>日間のモデルプログラムを開発する</a:t>
            </a:r>
            <a:endParaRPr kumimoji="1" lang="en-US" altLang="ja-JP" sz="1400" b="1" dirty="0">
              <a:latin typeface="+mj-ea"/>
              <a:ea typeface="+mj-ea"/>
            </a:endParaRPr>
          </a:p>
          <a:p>
            <a:pPr>
              <a:lnSpc>
                <a:spcPct val="118000"/>
              </a:lnSpc>
            </a:pPr>
            <a:r>
              <a:rPr kumimoji="1" lang="ja-JP" altLang="en-US" sz="1400" b="1">
                <a:latin typeface="+mj-ea"/>
                <a:ea typeface="+mj-ea"/>
              </a:rPr>
              <a:t>・モデルプログラムを広く一般に公開することで、演出家という職業の魅力を普及する</a:t>
            </a:r>
          </a:p>
          <a:p>
            <a:r>
              <a:rPr kumimoji="1" lang="ja-JP" altLang="en-US" sz="1400" b="1">
                <a:latin typeface="+mj-ea"/>
                <a:ea typeface="+mj-ea"/>
              </a:rPr>
              <a:t>・これから演出家になるために、生き抜いていくためのモチベーションや、</a:t>
            </a:r>
            <a:r>
              <a:rPr lang="ja-JP" altLang="en-US" sz="1400" b="1">
                <a:latin typeface="+mj-ea"/>
                <a:ea typeface="+mj-ea"/>
              </a:rPr>
              <a:t>学んでいくための視座を植える</a:t>
            </a:r>
            <a:endParaRPr kumimoji="1" lang="ja-JP" altLang="en-US" sz="1400" b="1">
              <a:latin typeface="+mj-ea"/>
              <a:ea typeface="+mj-ea"/>
            </a:endParaRPr>
          </a:p>
          <a:p>
            <a:pPr>
              <a:lnSpc>
                <a:spcPct val="118000"/>
              </a:lnSpc>
            </a:pPr>
            <a:endParaRPr kumimoji="1" lang="ja-JP" altLang="en-US" sz="1200"/>
          </a:p>
        </p:txBody>
      </p:sp>
      <p:sp>
        <p:nvSpPr>
          <p:cNvPr id="23" name="Shape 9">
            <a:extLst>
              <a:ext uri="{FF2B5EF4-FFF2-40B4-BE49-F238E27FC236}">
                <a16:creationId xmlns:a16="http://schemas.microsoft.com/office/drawing/2014/main" id="{FC7A69C9-F98B-8E26-015A-F7A13E4F8BAF}"/>
              </a:ext>
            </a:extLst>
          </p:cNvPr>
          <p:cNvSpPr/>
          <p:nvPr/>
        </p:nvSpPr>
        <p:spPr>
          <a:xfrm>
            <a:off x="795528" y="4995960"/>
            <a:ext cx="10515600" cy="1521427"/>
          </a:xfrm>
          <a:prstGeom prst="roundRect">
            <a:avLst>
              <a:gd name="adj" fmla="val 6437"/>
            </a:avLst>
          </a:prstGeom>
          <a:solidFill>
            <a:srgbClr val="FFFFFF"/>
          </a:solidFill>
          <a:ln w="12700">
            <a:solidFill>
              <a:srgbClr val="BDBDBD"/>
            </a:solidFill>
            <a:prstDash val="dash"/>
          </a:ln>
        </p:spPr>
        <p:txBody>
          <a:bodyPr/>
          <a:lstStyle/>
          <a:p>
            <a:endParaRPr lang="ja-JP" altLang="en-US"/>
          </a:p>
        </p:txBody>
      </p:sp>
      <p:sp>
        <p:nvSpPr>
          <p:cNvPr id="24" name="Text 10">
            <a:extLst>
              <a:ext uri="{FF2B5EF4-FFF2-40B4-BE49-F238E27FC236}">
                <a16:creationId xmlns:a16="http://schemas.microsoft.com/office/drawing/2014/main" id="{ECC2D9C5-4597-710C-CA13-71090A7B4949}"/>
              </a:ext>
            </a:extLst>
          </p:cNvPr>
          <p:cNvSpPr/>
          <p:nvPr/>
        </p:nvSpPr>
        <p:spPr>
          <a:xfrm>
            <a:off x="1024128" y="5142264"/>
            <a:ext cx="9692640" cy="365760"/>
          </a:xfrm>
          <a:prstGeom prst="rect">
            <a:avLst/>
          </a:prstGeom>
          <a:noFill/>
          <a:ln/>
        </p:spPr>
        <p:txBody>
          <a:bodyPr wrap="square" lIns="0" tIns="0" rIns="0" bIns="0" rtlCol="0" anchor="ctr"/>
          <a:lstStyle/>
          <a:p>
            <a:pPr marL="0" indent="0">
              <a:buNone/>
            </a:pPr>
            <a:r>
              <a:rPr lang="en-US" sz="1400" b="1" dirty="0" err="1">
                <a:solidFill>
                  <a:srgbClr val="1A1A1A"/>
                </a:solidFill>
                <a:latin typeface="Yu Gothic" pitchFamily="34" charset="0"/>
                <a:ea typeface="Yu Gothic" pitchFamily="34" charset="-122"/>
              </a:rPr>
              <a:t>本プログラムの到達目標</a:t>
            </a:r>
            <a:endParaRPr lang="en-US" sz="1400" dirty="0"/>
          </a:p>
        </p:txBody>
      </p:sp>
      <p:sp>
        <p:nvSpPr>
          <p:cNvPr id="25" name="Text 11">
            <a:extLst>
              <a:ext uri="{FF2B5EF4-FFF2-40B4-BE49-F238E27FC236}">
                <a16:creationId xmlns:a16="http://schemas.microsoft.com/office/drawing/2014/main" id="{50C049DD-1D53-AA90-B85A-49F404DECDD4}"/>
              </a:ext>
            </a:extLst>
          </p:cNvPr>
          <p:cNvSpPr/>
          <p:nvPr/>
        </p:nvSpPr>
        <p:spPr>
          <a:xfrm>
            <a:off x="1024128" y="5526312"/>
            <a:ext cx="10058400" cy="991075"/>
          </a:xfrm>
          <a:prstGeom prst="rect">
            <a:avLst/>
          </a:prstGeom>
          <a:noFill/>
          <a:ln/>
        </p:spPr>
        <p:txBody>
          <a:bodyPr wrap="square" lIns="0" tIns="0" rIns="0" bIns="0" rtlCol="0" anchor="t"/>
          <a:lstStyle/>
          <a:p>
            <a:r>
              <a:rPr lang="ja-JP" altLang="en-US" sz="1400"/>
              <a:t>将来的に海外展開できるような演出家の育成における、その初動のモデルプログラム創出を目指す。</a:t>
            </a:r>
            <a:endParaRPr lang="en-US" altLang="ja-JP" sz="1400" dirty="0"/>
          </a:p>
          <a:p>
            <a:r>
              <a:rPr lang="ja-JP" altLang="en-US" sz="1400"/>
              <a:t>演出業務の基礎や、演劇的な教養や技術、またリサーチ結果から得られた海外展開する上での視座の共有など。</a:t>
            </a:r>
            <a:endParaRPr lang="en-US" altLang="ja-JP" sz="1400" dirty="0"/>
          </a:p>
          <a:p>
            <a:r>
              <a:rPr lang="ja-JP" altLang="en-US" sz="1400"/>
              <a:t>演出家育成において、育成対象者がその初期段階として得られることで、その後のキャリア形成に役立つような、育成のモデルプログラムを創出し、広く公開することで、舞台演出家における共通言語の共有や、演出家を目指す人材の発掘を目指す。</a:t>
            </a:r>
            <a:endParaRPr lang="en-US" altLang="ja-JP" sz="1400" dirty="0"/>
          </a:p>
          <a:p>
            <a:pPr>
              <a:lnSpc>
                <a:spcPct val="118000"/>
              </a:lnSpc>
            </a:pPr>
            <a:endParaRPr kumimoji="1" lang="ja-JP" alt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15600" cy="347472"/>
          </a:xfrm>
          <a:prstGeom prst="rect">
            <a:avLst/>
          </a:prstGeom>
          <a:noFill/>
          <a:ln/>
        </p:spPr>
        <p:txBody>
          <a:bodyPr wrap="square" lIns="0" tIns="0" rIns="0" bIns="0" rtlCol="0" anchor="ctr"/>
          <a:lstStyle/>
          <a:p>
            <a:pPr marL="0" indent="0">
              <a:buNone/>
            </a:pPr>
            <a:r>
              <a:rPr lang="en-US" sz="1200" b="1" kern="0" spc="200" dirty="0">
                <a:solidFill>
                  <a:srgbClr val="D62828"/>
                </a:solidFill>
                <a:latin typeface="Meiryo" pitchFamily="34" charset="0"/>
                <a:ea typeface="Meiryo" pitchFamily="34" charset="-122"/>
                <a:cs typeface="Meiryo" pitchFamily="34" charset="-120"/>
              </a:rPr>
              <a:t>PROGRAM 2 — </a:t>
            </a:r>
            <a:r>
              <a:rPr lang="en-US" sz="1200" b="1" kern="0" spc="200" dirty="0" err="1">
                <a:solidFill>
                  <a:srgbClr val="D62828"/>
                </a:solidFill>
                <a:latin typeface="Meiryo" pitchFamily="34" charset="0"/>
                <a:ea typeface="Meiryo" pitchFamily="34" charset="-122"/>
                <a:cs typeface="Meiryo" pitchFamily="34" charset="-120"/>
              </a:rPr>
              <a:t>演出家</a:t>
            </a:r>
            <a:endParaRPr lang="en-US" sz="1200" dirty="0"/>
          </a:p>
        </p:txBody>
      </p:sp>
      <p:sp>
        <p:nvSpPr>
          <p:cNvPr id="3" name="Text 1"/>
          <p:cNvSpPr/>
          <p:nvPr/>
        </p:nvSpPr>
        <p:spPr>
          <a:xfrm>
            <a:off x="822960" y="822960"/>
            <a:ext cx="10607040" cy="868680"/>
          </a:xfrm>
          <a:prstGeom prst="rect">
            <a:avLst/>
          </a:prstGeom>
          <a:noFill/>
          <a:ln/>
        </p:spPr>
        <p:txBody>
          <a:bodyPr wrap="square" lIns="0" tIns="0" rIns="0" bIns="0" rtlCol="0" anchor="ctr"/>
          <a:lstStyle/>
          <a:p>
            <a:pPr marL="0" indent="0">
              <a:buNone/>
            </a:pPr>
            <a:r>
              <a:rPr lang="en-US" sz="3000" b="1" dirty="0" err="1">
                <a:solidFill>
                  <a:srgbClr val="1A1A1A"/>
                </a:solidFill>
                <a:latin typeface="Yu Gothic" pitchFamily="34" charset="0"/>
                <a:ea typeface="Yu Gothic" pitchFamily="34" charset="-122"/>
              </a:rPr>
              <a:t>育成プログラムの概要</a:t>
            </a:r>
            <a:endParaRPr lang="en-US" sz="3000" dirty="0"/>
          </a:p>
        </p:txBody>
      </p:sp>
      <p:sp>
        <p:nvSpPr>
          <p:cNvPr id="4" name="Text 2"/>
          <p:cNvSpPr/>
          <p:nvPr/>
        </p:nvSpPr>
        <p:spPr>
          <a:xfrm>
            <a:off x="822960" y="1691640"/>
            <a:ext cx="10515600" cy="457200"/>
          </a:xfrm>
          <a:prstGeom prst="rect">
            <a:avLst/>
          </a:prstGeom>
          <a:noFill/>
          <a:ln/>
        </p:spPr>
        <p:txBody>
          <a:bodyPr wrap="square" lIns="0" tIns="0" rIns="0" bIns="0" rtlCol="0" anchor="ctr"/>
          <a:lstStyle/>
          <a:p>
            <a:r>
              <a:rPr lang="ja-JP" altLang="en-US" sz="1400" b="1"/>
              <a:t>目的：海外展開を視野に入れた演出家の、入り口に立つための</a:t>
            </a:r>
            <a:r>
              <a:rPr lang="en-US" altLang="ja-JP" sz="1400" b="1" dirty="0"/>
              <a:t>5</a:t>
            </a:r>
            <a:r>
              <a:rPr lang="ja-JP" altLang="en-US" sz="1400" b="1"/>
              <a:t>日間の育成モデルプログラム創出</a:t>
            </a:r>
          </a:p>
        </p:txBody>
      </p:sp>
      <p:sp>
        <p:nvSpPr>
          <p:cNvPr id="5" name="Shape 3"/>
          <p:cNvSpPr/>
          <p:nvPr/>
        </p:nvSpPr>
        <p:spPr>
          <a:xfrm>
            <a:off x="1922526" y="2468880"/>
            <a:ext cx="2697480" cy="2377440"/>
          </a:xfrm>
          <a:prstGeom prst="roundRect">
            <a:avLst>
              <a:gd name="adj" fmla="val 2692"/>
            </a:avLst>
          </a:prstGeom>
          <a:solidFill>
            <a:srgbClr val="FFFFFF"/>
          </a:solidFill>
          <a:ln w="12700">
            <a:solidFill>
              <a:srgbClr val="1A1A1A"/>
            </a:solidFill>
            <a:prstDash val="solid"/>
          </a:ln>
          <a:effectLst>
            <a:outerShdw blurRad="76200" dist="25400" dir="5400000" algn="bl" rotWithShape="0">
              <a:srgbClr val="000000">
                <a:alpha val="10000"/>
              </a:srgbClr>
            </a:outerShdw>
          </a:effectLst>
        </p:spPr>
        <p:txBody>
          <a:bodyPr/>
          <a:lstStyle/>
          <a:p>
            <a:endParaRPr lang="ja-JP" altLang="en-US"/>
          </a:p>
        </p:txBody>
      </p:sp>
      <p:sp>
        <p:nvSpPr>
          <p:cNvPr id="6" name="Shape 4"/>
          <p:cNvSpPr/>
          <p:nvPr/>
        </p:nvSpPr>
        <p:spPr>
          <a:xfrm>
            <a:off x="3015234" y="2670048"/>
            <a:ext cx="512064" cy="512064"/>
          </a:xfrm>
          <a:prstGeom prst="ellipse">
            <a:avLst/>
          </a:prstGeom>
          <a:solidFill>
            <a:srgbClr val="1A1A1A"/>
          </a:solidFill>
          <a:ln/>
        </p:spPr>
        <p:txBody>
          <a:bodyPr/>
          <a:lstStyle/>
          <a:p>
            <a:endParaRPr lang="ja-JP" altLang="en-US"/>
          </a:p>
        </p:txBody>
      </p:sp>
      <p:sp>
        <p:nvSpPr>
          <p:cNvPr id="7" name="Text 5"/>
          <p:cNvSpPr/>
          <p:nvPr/>
        </p:nvSpPr>
        <p:spPr>
          <a:xfrm>
            <a:off x="3015234" y="2670048"/>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Yu Gothic" pitchFamily="34" charset="0"/>
                <a:ea typeface="Yu Gothic" pitchFamily="34" charset="-122"/>
                <a:cs typeface="Yu Gothic" pitchFamily="34" charset="-120"/>
              </a:rPr>
              <a:t>P1</a:t>
            </a:r>
            <a:endParaRPr lang="en-US" sz="1500" dirty="0"/>
          </a:p>
        </p:txBody>
      </p:sp>
      <p:sp>
        <p:nvSpPr>
          <p:cNvPr id="8" name="Text 6"/>
          <p:cNvSpPr/>
          <p:nvPr/>
        </p:nvSpPr>
        <p:spPr>
          <a:xfrm>
            <a:off x="2033380" y="3429000"/>
            <a:ext cx="2423160" cy="512064"/>
          </a:xfrm>
          <a:prstGeom prst="rect">
            <a:avLst/>
          </a:prstGeom>
          <a:noFill/>
          <a:ln/>
        </p:spPr>
        <p:txBody>
          <a:bodyPr wrap="square" lIns="0" tIns="0" rIns="0" bIns="0" rtlCol="0" anchor="ctr"/>
          <a:lstStyle/>
          <a:p>
            <a:pPr marL="0" indent="0" algn="ctr">
              <a:buNone/>
            </a:pPr>
            <a:r>
              <a:rPr lang="ja-JP" altLang="en-US" sz="1500" b="1">
                <a:solidFill>
                  <a:srgbClr val="D62828"/>
                </a:solidFill>
                <a:latin typeface="Yu Gothic" pitchFamily="34" charset="0"/>
                <a:ea typeface="Yu Gothic" pitchFamily="34" charset="-122"/>
                <a:cs typeface="Yu Gothic" pitchFamily="34" charset="-120"/>
              </a:rPr>
              <a:t>試験的プログラム</a:t>
            </a:r>
          </a:p>
          <a:p>
            <a:pPr marL="0" indent="0" algn="ctr">
              <a:buNone/>
            </a:pPr>
            <a:r>
              <a:rPr lang="ja-JP" altLang="en-US" sz="1500" b="1">
                <a:solidFill>
                  <a:srgbClr val="D62828"/>
                </a:solidFill>
                <a:latin typeface="Yu Gothic" pitchFamily="34" charset="0"/>
                <a:ea typeface="Yu Gothic" pitchFamily="34" charset="-122"/>
                <a:cs typeface="Yu Gothic" pitchFamily="34" charset="-120"/>
              </a:rPr>
              <a:t>実施</a:t>
            </a:r>
          </a:p>
        </p:txBody>
      </p:sp>
      <p:sp>
        <p:nvSpPr>
          <p:cNvPr id="10" name="Text 8"/>
          <p:cNvSpPr/>
          <p:nvPr/>
        </p:nvSpPr>
        <p:spPr>
          <a:xfrm>
            <a:off x="2059686" y="4160520"/>
            <a:ext cx="2423160" cy="320040"/>
          </a:xfrm>
          <a:prstGeom prst="rect">
            <a:avLst/>
          </a:prstGeom>
          <a:noFill/>
          <a:ln/>
        </p:spPr>
        <p:txBody>
          <a:bodyPr wrap="square" lIns="0" tIns="0" rIns="0" bIns="0" rtlCol="0" anchor="ctr"/>
          <a:lstStyle/>
          <a:p>
            <a:pPr marL="0" indent="0" algn="ctr">
              <a:buNone/>
            </a:pPr>
            <a:r>
              <a:rPr lang="en-US" sz="1100" dirty="0">
                <a:solidFill>
                  <a:srgbClr val="6B6B6B"/>
                </a:solidFill>
                <a:latin typeface="Meiryo" pitchFamily="34" charset="0"/>
                <a:ea typeface="Meiryo" pitchFamily="34" charset="-122"/>
              </a:rPr>
              <a:t>2026年10月〜2027年2月</a:t>
            </a:r>
            <a:endParaRPr lang="en-US" sz="1100" dirty="0"/>
          </a:p>
        </p:txBody>
      </p:sp>
      <p:sp>
        <p:nvSpPr>
          <p:cNvPr id="12" name="Shape 10"/>
          <p:cNvSpPr/>
          <p:nvPr/>
        </p:nvSpPr>
        <p:spPr>
          <a:xfrm>
            <a:off x="707500" y="2935224"/>
            <a:ext cx="1051560" cy="1371600"/>
          </a:xfrm>
          <a:prstGeom prst="roundRect">
            <a:avLst>
              <a:gd name="adj" fmla="val 5217"/>
            </a:avLst>
          </a:prstGeom>
          <a:solidFill>
            <a:srgbClr val="F4F4F4"/>
          </a:solidFill>
          <a:ln w="12700">
            <a:solidFill>
              <a:srgbClr val="D9D9D9"/>
            </a:solidFill>
            <a:prstDash val="solid"/>
          </a:ln>
        </p:spPr>
        <p:txBody>
          <a:bodyPr/>
          <a:lstStyle/>
          <a:p>
            <a:endParaRPr lang="ja-JP" altLang="en-US"/>
          </a:p>
        </p:txBody>
      </p:sp>
      <p:sp>
        <p:nvSpPr>
          <p:cNvPr id="13" name="Text 11"/>
          <p:cNvSpPr/>
          <p:nvPr/>
        </p:nvSpPr>
        <p:spPr>
          <a:xfrm>
            <a:off x="707500" y="3136392"/>
            <a:ext cx="1051560" cy="320040"/>
          </a:xfrm>
          <a:prstGeom prst="rect">
            <a:avLst/>
          </a:prstGeom>
          <a:noFill/>
          <a:ln/>
        </p:spPr>
        <p:txBody>
          <a:bodyPr wrap="square" lIns="0" tIns="0" rIns="0" bIns="0" rtlCol="0" anchor="ctr"/>
          <a:lstStyle/>
          <a:p>
            <a:pPr marL="0" indent="0" algn="ctr">
              <a:buNone/>
            </a:pPr>
            <a:r>
              <a:rPr lang="en-US" sz="1300" b="1" dirty="0" err="1">
                <a:solidFill>
                  <a:srgbClr val="1A1A1A"/>
                </a:solidFill>
                <a:latin typeface="Yu Gothic" pitchFamily="34" charset="0"/>
                <a:ea typeface="Yu Gothic" pitchFamily="34" charset="-122"/>
              </a:rPr>
              <a:t>プログラム</a:t>
            </a:r>
            <a:endParaRPr lang="en-US" sz="1300" b="1" dirty="0">
              <a:solidFill>
                <a:srgbClr val="1A1A1A"/>
              </a:solidFill>
              <a:latin typeface="Yu Gothic" pitchFamily="34" charset="0"/>
              <a:ea typeface="Yu Gothic" pitchFamily="34" charset="-122"/>
            </a:endParaRPr>
          </a:p>
          <a:p>
            <a:pPr marL="0" indent="0" algn="ctr">
              <a:buNone/>
            </a:pPr>
            <a:r>
              <a:rPr lang="en-US" sz="1300" b="1" dirty="0" err="1">
                <a:solidFill>
                  <a:srgbClr val="1A1A1A"/>
                </a:solidFill>
                <a:latin typeface="Yu Gothic" pitchFamily="34" charset="0"/>
                <a:ea typeface="Yu Gothic" pitchFamily="34" charset="-122"/>
              </a:rPr>
              <a:t>構築</a:t>
            </a:r>
            <a:endParaRPr lang="en-US" sz="1300" dirty="0"/>
          </a:p>
        </p:txBody>
      </p:sp>
      <p:sp>
        <p:nvSpPr>
          <p:cNvPr id="14" name="Text 12"/>
          <p:cNvSpPr/>
          <p:nvPr/>
        </p:nvSpPr>
        <p:spPr>
          <a:xfrm>
            <a:off x="726163" y="3639312"/>
            <a:ext cx="1051560" cy="320040"/>
          </a:xfrm>
          <a:prstGeom prst="rect">
            <a:avLst/>
          </a:prstGeom>
          <a:noFill/>
          <a:ln/>
        </p:spPr>
        <p:txBody>
          <a:bodyPr wrap="square" lIns="0" tIns="0" rIns="0" bIns="0" rtlCol="0" anchor="ctr"/>
          <a:lstStyle/>
          <a:p>
            <a:pPr marL="0" indent="0" algn="ctr">
              <a:lnSpc>
                <a:spcPct val="105000"/>
              </a:lnSpc>
              <a:buNone/>
            </a:pPr>
            <a:r>
              <a:rPr lang="en-US" sz="1000" dirty="0">
                <a:solidFill>
                  <a:srgbClr val="6B6B6B"/>
                </a:solidFill>
                <a:latin typeface="Meiryo" pitchFamily="34" charset="0"/>
                <a:ea typeface="Meiryo" pitchFamily="34" charset="-122"/>
                <a:cs typeface="Meiryo" pitchFamily="34" charset="-120"/>
              </a:rPr>
              <a:t>２０２６年</a:t>
            </a:r>
          </a:p>
          <a:p>
            <a:pPr marL="0" indent="0" algn="ctr">
              <a:lnSpc>
                <a:spcPct val="105000"/>
              </a:lnSpc>
              <a:buNone/>
            </a:pPr>
            <a:r>
              <a:rPr lang="en-US" sz="1000" dirty="0">
                <a:solidFill>
                  <a:srgbClr val="6B6B6B"/>
                </a:solidFill>
                <a:latin typeface="Meiryo" pitchFamily="34" charset="0"/>
                <a:ea typeface="Meiryo" pitchFamily="34" charset="-122"/>
              </a:rPr>
              <a:t>7月〜9月</a:t>
            </a:r>
            <a:endParaRPr lang="en-US" sz="1000" dirty="0"/>
          </a:p>
        </p:txBody>
      </p:sp>
      <p:sp>
        <p:nvSpPr>
          <p:cNvPr id="16" name="Shape 14"/>
          <p:cNvSpPr/>
          <p:nvPr/>
        </p:nvSpPr>
        <p:spPr>
          <a:xfrm>
            <a:off x="6390829" y="2458762"/>
            <a:ext cx="2697480" cy="2377440"/>
          </a:xfrm>
          <a:prstGeom prst="roundRect">
            <a:avLst>
              <a:gd name="adj" fmla="val 2692"/>
            </a:avLst>
          </a:prstGeom>
          <a:solidFill>
            <a:srgbClr val="FFFFFF"/>
          </a:solidFill>
          <a:ln w="12700">
            <a:solidFill>
              <a:srgbClr val="1A1A1A"/>
            </a:solidFill>
            <a:prstDash val="solid"/>
          </a:ln>
          <a:effectLst>
            <a:outerShdw blurRad="76200" dist="25400" dir="5400000" algn="bl" rotWithShape="0">
              <a:srgbClr val="000000">
                <a:alpha val="10000"/>
              </a:srgbClr>
            </a:outerShdw>
          </a:effectLst>
        </p:spPr>
        <p:txBody>
          <a:bodyPr/>
          <a:lstStyle/>
          <a:p>
            <a:endParaRPr lang="ja-JP" altLang="en-US"/>
          </a:p>
        </p:txBody>
      </p:sp>
      <p:sp>
        <p:nvSpPr>
          <p:cNvPr id="17" name="Shape 15"/>
          <p:cNvSpPr/>
          <p:nvPr/>
        </p:nvSpPr>
        <p:spPr>
          <a:xfrm>
            <a:off x="7483537" y="2659930"/>
            <a:ext cx="512064" cy="512064"/>
          </a:xfrm>
          <a:prstGeom prst="ellipse">
            <a:avLst/>
          </a:prstGeom>
          <a:solidFill>
            <a:srgbClr val="1A1A1A"/>
          </a:solidFill>
          <a:ln/>
        </p:spPr>
        <p:txBody>
          <a:bodyPr/>
          <a:lstStyle/>
          <a:p>
            <a:endParaRPr lang="ja-JP" altLang="en-US"/>
          </a:p>
        </p:txBody>
      </p:sp>
      <p:sp>
        <p:nvSpPr>
          <p:cNvPr id="18" name="Text 16"/>
          <p:cNvSpPr/>
          <p:nvPr/>
        </p:nvSpPr>
        <p:spPr>
          <a:xfrm>
            <a:off x="7483537" y="265993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Yu Gothic" pitchFamily="34" charset="0"/>
                <a:ea typeface="Yu Gothic" pitchFamily="34" charset="-122"/>
                <a:cs typeface="Yu Gothic" pitchFamily="34" charset="-120"/>
              </a:rPr>
              <a:t>P2</a:t>
            </a:r>
            <a:endParaRPr lang="en-US" sz="1500" dirty="0"/>
          </a:p>
        </p:txBody>
      </p:sp>
      <p:sp>
        <p:nvSpPr>
          <p:cNvPr id="19" name="Text 17"/>
          <p:cNvSpPr/>
          <p:nvPr/>
        </p:nvSpPr>
        <p:spPr>
          <a:xfrm>
            <a:off x="6522297" y="3510322"/>
            <a:ext cx="2423160" cy="365760"/>
          </a:xfrm>
          <a:prstGeom prst="rect">
            <a:avLst/>
          </a:prstGeom>
          <a:noFill/>
          <a:ln/>
        </p:spPr>
        <p:txBody>
          <a:bodyPr wrap="square" lIns="0" tIns="0" rIns="0" bIns="0" rtlCol="0" anchor="ctr"/>
          <a:lstStyle/>
          <a:p>
            <a:pPr marL="0" indent="0" algn="ctr">
              <a:buNone/>
            </a:pPr>
            <a:r>
              <a:rPr lang="en-US" altLang="ja-JP" sz="1500" b="1" dirty="0">
                <a:solidFill>
                  <a:srgbClr val="D62828"/>
                </a:solidFill>
                <a:latin typeface="Yu Gothic" pitchFamily="34" charset="0"/>
                <a:ea typeface="Yu Gothic" pitchFamily="34" charset="-122"/>
                <a:cs typeface="Yu Gothic" pitchFamily="34" charset="-120"/>
              </a:rPr>
              <a:t>5</a:t>
            </a:r>
            <a:r>
              <a:rPr lang="ja-JP" altLang="en-US" sz="1500" b="1">
                <a:solidFill>
                  <a:srgbClr val="D62828"/>
                </a:solidFill>
                <a:latin typeface="Yu Gothic" pitchFamily="34" charset="0"/>
                <a:ea typeface="Yu Gothic" pitchFamily="34" charset="-122"/>
                <a:cs typeface="Yu Gothic" pitchFamily="34" charset="-120"/>
              </a:rPr>
              <a:t>日間の</a:t>
            </a:r>
            <a:endParaRPr lang="en-US" altLang="ja-JP" sz="1500" b="1" dirty="0">
              <a:solidFill>
                <a:srgbClr val="D62828"/>
              </a:solidFill>
              <a:latin typeface="Yu Gothic" pitchFamily="34" charset="0"/>
              <a:ea typeface="Yu Gothic" pitchFamily="34" charset="-122"/>
              <a:cs typeface="Yu Gothic" pitchFamily="34" charset="-120"/>
            </a:endParaRPr>
          </a:p>
          <a:p>
            <a:pPr marL="0" indent="0" algn="ctr">
              <a:buNone/>
            </a:pPr>
            <a:r>
              <a:rPr lang="ja-JP" altLang="en-US" sz="1500" b="1">
                <a:solidFill>
                  <a:srgbClr val="D62828"/>
                </a:solidFill>
                <a:latin typeface="Yu Gothic" pitchFamily="34" charset="0"/>
                <a:ea typeface="Yu Gothic" pitchFamily="34" charset="-122"/>
                <a:cs typeface="Yu Gothic" pitchFamily="34" charset="-120"/>
              </a:rPr>
              <a:t>モデルプログラム</a:t>
            </a:r>
          </a:p>
          <a:p>
            <a:pPr marL="0" indent="0" algn="ctr">
              <a:buNone/>
            </a:pPr>
            <a:r>
              <a:rPr lang="ja-JP" altLang="en-US" sz="1500" b="1">
                <a:solidFill>
                  <a:srgbClr val="D62828"/>
                </a:solidFill>
                <a:latin typeface="Yu Gothic" pitchFamily="34" charset="0"/>
                <a:ea typeface="Yu Gothic" pitchFamily="34" charset="-122"/>
                <a:cs typeface="Yu Gothic" pitchFamily="34" charset="-120"/>
              </a:rPr>
              <a:t>実施</a:t>
            </a:r>
          </a:p>
        </p:txBody>
      </p:sp>
      <p:sp>
        <p:nvSpPr>
          <p:cNvPr id="21" name="Text 19"/>
          <p:cNvSpPr/>
          <p:nvPr/>
        </p:nvSpPr>
        <p:spPr>
          <a:xfrm>
            <a:off x="6527989" y="4150402"/>
            <a:ext cx="2423160" cy="320040"/>
          </a:xfrm>
          <a:prstGeom prst="rect">
            <a:avLst/>
          </a:prstGeom>
          <a:noFill/>
          <a:ln/>
        </p:spPr>
        <p:txBody>
          <a:bodyPr wrap="square" lIns="0" tIns="0" rIns="0" bIns="0" rtlCol="0" anchor="ctr"/>
          <a:lstStyle/>
          <a:p>
            <a:pPr marL="0" indent="0" algn="ctr">
              <a:buNone/>
            </a:pPr>
            <a:r>
              <a:rPr lang="en-US" sz="1100" dirty="0">
                <a:solidFill>
                  <a:srgbClr val="6B6B6B"/>
                </a:solidFill>
                <a:latin typeface="Meiryo" pitchFamily="34" charset="0"/>
                <a:ea typeface="Meiryo" pitchFamily="34" charset="-122"/>
                <a:cs typeface="Meiryo" pitchFamily="34" charset="-120"/>
              </a:rPr>
              <a:t>2027年5月</a:t>
            </a:r>
          </a:p>
        </p:txBody>
      </p:sp>
      <p:sp>
        <p:nvSpPr>
          <p:cNvPr id="23" name="Shape 21"/>
          <p:cNvSpPr/>
          <p:nvPr/>
        </p:nvSpPr>
        <p:spPr>
          <a:xfrm>
            <a:off x="4732310" y="3809450"/>
            <a:ext cx="1480780" cy="1371600"/>
          </a:xfrm>
          <a:prstGeom prst="roundRect">
            <a:avLst>
              <a:gd name="adj" fmla="val 5217"/>
            </a:avLst>
          </a:prstGeom>
          <a:solidFill>
            <a:srgbClr val="F4F4F4"/>
          </a:solidFill>
          <a:ln w="12700">
            <a:solidFill>
              <a:srgbClr val="D9D9D9"/>
            </a:solidFill>
            <a:prstDash val="solid"/>
          </a:ln>
        </p:spPr>
        <p:txBody>
          <a:bodyPr/>
          <a:lstStyle/>
          <a:p>
            <a:endParaRPr lang="ja-JP" altLang="en-US"/>
          </a:p>
        </p:txBody>
      </p:sp>
      <p:sp>
        <p:nvSpPr>
          <p:cNvPr id="24" name="Text 22"/>
          <p:cNvSpPr/>
          <p:nvPr/>
        </p:nvSpPr>
        <p:spPr>
          <a:xfrm>
            <a:off x="4942461" y="4000500"/>
            <a:ext cx="1051560" cy="320040"/>
          </a:xfrm>
          <a:prstGeom prst="rect">
            <a:avLst/>
          </a:prstGeom>
          <a:noFill/>
          <a:ln/>
        </p:spPr>
        <p:txBody>
          <a:bodyPr wrap="square" lIns="0" tIns="0" rIns="0" bIns="0" rtlCol="0" anchor="ctr"/>
          <a:lstStyle/>
          <a:p>
            <a:pPr marL="0" indent="0" algn="ctr">
              <a:buNone/>
            </a:pPr>
            <a:r>
              <a:rPr lang="en-US" sz="1300" b="1" dirty="0" err="1">
                <a:solidFill>
                  <a:srgbClr val="1A1A1A"/>
                </a:solidFill>
                <a:latin typeface="Yu Gothic" pitchFamily="34" charset="0"/>
                <a:ea typeface="Yu Gothic" pitchFamily="34" charset="-122"/>
                <a:cs typeface="Yu Gothic" pitchFamily="34" charset="-120"/>
              </a:rPr>
              <a:t>選考</a:t>
            </a:r>
            <a:endParaRPr lang="en-US" sz="1300" dirty="0"/>
          </a:p>
        </p:txBody>
      </p:sp>
      <p:sp>
        <p:nvSpPr>
          <p:cNvPr id="25" name="Text 23"/>
          <p:cNvSpPr/>
          <p:nvPr/>
        </p:nvSpPr>
        <p:spPr>
          <a:xfrm>
            <a:off x="4951528" y="4389120"/>
            <a:ext cx="1051560" cy="320040"/>
          </a:xfrm>
          <a:prstGeom prst="rect">
            <a:avLst/>
          </a:prstGeom>
          <a:noFill/>
          <a:ln/>
        </p:spPr>
        <p:txBody>
          <a:bodyPr wrap="square" lIns="0" tIns="0" rIns="0" bIns="0" rtlCol="0" anchor="ctr"/>
          <a:lstStyle/>
          <a:p>
            <a:pPr marL="0" indent="0" algn="ctr">
              <a:lnSpc>
                <a:spcPct val="105000"/>
              </a:lnSpc>
              <a:buNone/>
            </a:pPr>
            <a:r>
              <a:rPr lang="en-US" sz="1000" dirty="0">
                <a:solidFill>
                  <a:srgbClr val="6B6B6B"/>
                </a:solidFill>
                <a:latin typeface="Meiryo" pitchFamily="34" charset="0"/>
                <a:ea typeface="Meiryo" pitchFamily="34" charset="-122"/>
                <a:cs typeface="Meiryo" pitchFamily="34" charset="-120"/>
              </a:rPr>
              <a:t>2027年２月〜4月</a:t>
            </a:r>
            <a:endParaRPr lang="en-US" sz="1000" dirty="0"/>
          </a:p>
        </p:txBody>
      </p:sp>
      <p:sp>
        <p:nvSpPr>
          <p:cNvPr id="26" name="Text 24"/>
          <p:cNvSpPr/>
          <p:nvPr/>
        </p:nvSpPr>
        <p:spPr>
          <a:xfrm>
            <a:off x="4881191" y="4694470"/>
            <a:ext cx="1143000" cy="411480"/>
          </a:xfrm>
          <a:prstGeom prst="rect">
            <a:avLst/>
          </a:prstGeom>
          <a:noFill/>
          <a:ln/>
        </p:spPr>
        <p:txBody>
          <a:bodyPr wrap="square" lIns="0" tIns="0" rIns="0" bIns="0" rtlCol="0" anchor="ctr"/>
          <a:lstStyle/>
          <a:p>
            <a:pPr marL="0" indent="0" algn="ctr">
              <a:lnSpc>
                <a:spcPct val="110000"/>
              </a:lnSpc>
              <a:buNone/>
            </a:pPr>
            <a:r>
              <a:rPr lang="en-US" sz="950" dirty="0">
                <a:solidFill>
                  <a:srgbClr val="D62828"/>
                </a:solidFill>
                <a:latin typeface="Meiryo" pitchFamily="34" charset="0"/>
                <a:ea typeface="Meiryo" pitchFamily="34" charset="-122"/>
              </a:rPr>
              <a:t>約10名</a:t>
            </a:r>
            <a:endParaRPr lang="en-US" sz="950" dirty="0"/>
          </a:p>
        </p:txBody>
      </p:sp>
      <p:sp>
        <p:nvSpPr>
          <p:cNvPr id="27" name="Shape 25"/>
          <p:cNvSpPr/>
          <p:nvPr/>
        </p:nvSpPr>
        <p:spPr>
          <a:xfrm>
            <a:off x="9235440" y="2468880"/>
            <a:ext cx="2697480" cy="2377440"/>
          </a:xfrm>
          <a:prstGeom prst="roundRect">
            <a:avLst>
              <a:gd name="adj" fmla="val 2692"/>
            </a:avLst>
          </a:prstGeom>
          <a:solidFill>
            <a:srgbClr val="FFFFFF"/>
          </a:solidFill>
          <a:ln w="12700">
            <a:solidFill>
              <a:srgbClr val="1A1A1A"/>
            </a:solidFill>
            <a:prstDash val="solid"/>
          </a:ln>
          <a:effectLst>
            <a:outerShdw blurRad="76200" dist="25400" dir="5400000" algn="bl" rotWithShape="0">
              <a:srgbClr val="000000">
                <a:alpha val="10000"/>
              </a:srgbClr>
            </a:outerShdw>
          </a:effectLst>
        </p:spPr>
        <p:txBody>
          <a:bodyPr/>
          <a:lstStyle/>
          <a:p>
            <a:endParaRPr lang="ja-JP" altLang="en-US"/>
          </a:p>
        </p:txBody>
      </p:sp>
      <p:sp>
        <p:nvSpPr>
          <p:cNvPr id="28" name="Shape 26"/>
          <p:cNvSpPr/>
          <p:nvPr/>
        </p:nvSpPr>
        <p:spPr>
          <a:xfrm>
            <a:off x="10328148" y="2670048"/>
            <a:ext cx="512064" cy="512064"/>
          </a:xfrm>
          <a:prstGeom prst="ellipse">
            <a:avLst/>
          </a:prstGeom>
          <a:solidFill>
            <a:srgbClr val="1A1A1A"/>
          </a:solidFill>
          <a:ln/>
        </p:spPr>
        <p:txBody>
          <a:bodyPr/>
          <a:lstStyle/>
          <a:p>
            <a:endParaRPr lang="ja-JP" altLang="en-US"/>
          </a:p>
        </p:txBody>
      </p:sp>
      <p:sp>
        <p:nvSpPr>
          <p:cNvPr id="29" name="Text 27"/>
          <p:cNvSpPr/>
          <p:nvPr/>
        </p:nvSpPr>
        <p:spPr>
          <a:xfrm>
            <a:off x="10328148" y="2670048"/>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Yu Gothic" pitchFamily="34" charset="0"/>
                <a:ea typeface="Yu Gothic" pitchFamily="34" charset="-122"/>
                <a:cs typeface="Yu Gothic" pitchFamily="34" charset="-120"/>
              </a:rPr>
              <a:t>P3</a:t>
            </a:r>
            <a:endParaRPr lang="en-US" sz="1500" dirty="0"/>
          </a:p>
        </p:txBody>
      </p:sp>
      <p:sp>
        <p:nvSpPr>
          <p:cNvPr id="30" name="Text 28"/>
          <p:cNvSpPr/>
          <p:nvPr/>
        </p:nvSpPr>
        <p:spPr>
          <a:xfrm>
            <a:off x="9372600" y="3429000"/>
            <a:ext cx="2423160" cy="365760"/>
          </a:xfrm>
          <a:prstGeom prst="rect">
            <a:avLst/>
          </a:prstGeom>
          <a:noFill/>
          <a:ln/>
        </p:spPr>
        <p:txBody>
          <a:bodyPr wrap="square" lIns="0" tIns="0" rIns="0" bIns="0" rtlCol="0" anchor="ctr"/>
          <a:lstStyle/>
          <a:p>
            <a:pPr marL="0" indent="0" algn="ctr">
              <a:buNone/>
            </a:pPr>
            <a:r>
              <a:rPr lang="en-US" sz="1500" b="1" dirty="0" err="1">
                <a:solidFill>
                  <a:srgbClr val="D62828"/>
                </a:solidFill>
                <a:latin typeface="Yu Gothic" pitchFamily="34" charset="0"/>
                <a:ea typeface="Yu Gothic" pitchFamily="34" charset="-122"/>
                <a:cs typeface="Yu Gothic" pitchFamily="34" charset="-120"/>
              </a:rPr>
              <a:t>プログラム</a:t>
            </a:r>
            <a:endParaRPr lang="en-US" sz="1500" b="1" dirty="0">
              <a:solidFill>
                <a:srgbClr val="D62828"/>
              </a:solidFill>
              <a:latin typeface="Yu Gothic" pitchFamily="34" charset="0"/>
              <a:ea typeface="Yu Gothic" pitchFamily="34" charset="-122"/>
              <a:cs typeface="Yu Gothic" pitchFamily="34" charset="-120"/>
            </a:endParaRPr>
          </a:p>
          <a:p>
            <a:pPr marL="0" indent="0" algn="ctr">
              <a:buNone/>
            </a:pPr>
            <a:r>
              <a:rPr lang="en-US" sz="1500" b="1" dirty="0" err="1">
                <a:solidFill>
                  <a:srgbClr val="D62828"/>
                </a:solidFill>
                <a:latin typeface="Yu Gothic" pitchFamily="34" charset="0"/>
                <a:ea typeface="Yu Gothic" pitchFamily="34" charset="-122"/>
                <a:cs typeface="Yu Gothic" pitchFamily="34" charset="-120"/>
              </a:rPr>
              <a:t>公開</a:t>
            </a:r>
            <a:endParaRPr lang="en-US" sz="1500" dirty="0"/>
          </a:p>
        </p:txBody>
      </p:sp>
      <p:sp>
        <p:nvSpPr>
          <p:cNvPr id="32" name="Text 30"/>
          <p:cNvSpPr/>
          <p:nvPr/>
        </p:nvSpPr>
        <p:spPr>
          <a:xfrm>
            <a:off x="9372600" y="4160520"/>
            <a:ext cx="2423160" cy="320040"/>
          </a:xfrm>
          <a:prstGeom prst="rect">
            <a:avLst/>
          </a:prstGeom>
          <a:noFill/>
          <a:ln/>
        </p:spPr>
        <p:txBody>
          <a:bodyPr wrap="square" lIns="0" tIns="0" rIns="0" bIns="0" rtlCol="0" anchor="ctr"/>
          <a:lstStyle/>
          <a:p>
            <a:pPr marL="0" indent="0" algn="ctr">
              <a:buNone/>
            </a:pPr>
            <a:r>
              <a:rPr lang="en-US" sz="1100" dirty="0">
                <a:solidFill>
                  <a:srgbClr val="6B6B6B"/>
                </a:solidFill>
                <a:latin typeface="Meiryo" pitchFamily="34" charset="0"/>
                <a:ea typeface="Meiryo" pitchFamily="34" charset="-122"/>
                <a:cs typeface="Meiryo" pitchFamily="34" charset="-120"/>
              </a:rPr>
              <a:t>2027年7月〜8月</a:t>
            </a:r>
            <a:endParaRPr lang="en-US" sz="1100" dirty="0"/>
          </a:p>
        </p:txBody>
      </p:sp>
      <p:sp>
        <p:nvSpPr>
          <p:cNvPr id="34" name="Text 32"/>
          <p:cNvSpPr/>
          <p:nvPr/>
        </p:nvSpPr>
        <p:spPr>
          <a:xfrm>
            <a:off x="822960" y="5359358"/>
            <a:ext cx="10515600" cy="411480"/>
          </a:xfrm>
          <a:prstGeom prst="rect">
            <a:avLst/>
          </a:prstGeom>
          <a:noFill/>
          <a:ln/>
        </p:spPr>
        <p:txBody>
          <a:bodyPr wrap="square" lIns="0" tIns="0" rIns="0" bIns="0" rtlCol="0" anchor="ctr"/>
          <a:lstStyle/>
          <a:p>
            <a:pPr marL="0" indent="0">
              <a:buNone/>
            </a:pPr>
            <a:r>
              <a:rPr lang="en-US" sz="1300" b="1" dirty="0">
                <a:solidFill>
                  <a:srgbClr val="1A1A1A"/>
                </a:solidFill>
                <a:latin typeface="Meiryo" pitchFamily="34" charset="0"/>
                <a:ea typeface="Meiryo" pitchFamily="34" charset="-122"/>
                <a:cs typeface="Meiryo" pitchFamily="34" charset="-120"/>
              </a:rPr>
              <a:t>出口：5日間のモデルプログラムを映像として収め、一般に公開し、未来の演出家の裾野を広げる。</a:t>
            </a:r>
            <a:endParaRPr lang="en-US" sz="1300" dirty="0"/>
          </a:p>
        </p:txBody>
      </p:sp>
      <p:sp>
        <p:nvSpPr>
          <p:cNvPr id="35" name="Text 33"/>
          <p:cNvSpPr/>
          <p:nvPr/>
        </p:nvSpPr>
        <p:spPr>
          <a:xfrm>
            <a:off x="822960" y="5669280"/>
            <a:ext cx="10515600" cy="457200"/>
          </a:xfrm>
          <a:prstGeom prst="rect">
            <a:avLst/>
          </a:prstGeom>
          <a:noFill/>
          <a:ln/>
        </p:spPr>
        <p:txBody>
          <a:bodyPr wrap="square" lIns="0" tIns="0" rIns="0" bIns="0" rtlCol="0" anchor="ctr"/>
          <a:lstStyle/>
          <a:p>
            <a:pPr marL="0" indent="0">
              <a:buNone/>
            </a:pPr>
            <a:r>
              <a:rPr lang="en-US" sz="1150" i="1" dirty="0" err="1">
                <a:solidFill>
                  <a:srgbClr val="9E9E9E"/>
                </a:solidFill>
                <a:latin typeface="Meiryo" pitchFamily="34" charset="0"/>
                <a:ea typeface="Meiryo" pitchFamily="34" charset="-122"/>
                <a:cs typeface="Meiryo" pitchFamily="34" charset="-120"/>
              </a:rPr>
              <a:t>プログラム構築・メンタ</a:t>
            </a:r>
            <a:r>
              <a:rPr lang="en-US" sz="1150" i="1" dirty="0">
                <a:solidFill>
                  <a:srgbClr val="9E9E9E"/>
                </a:solidFill>
                <a:latin typeface="Meiryo" pitchFamily="34" charset="0"/>
                <a:ea typeface="Meiryo" pitchFamily="34" charset="-122"/>
                <a:cs typeface="Meiryo" pitchFamily="34" charset="-120"/>
              </a:rPr>
              <a:t>ー：</a:t>
            </a:r>
            <a:r>
              <a:rPr lang="en-US" sz="1150" i="1" dirty="0" err="1">
                <a:solidFill>
                  <a:srgbClr val="9E9E9E"/>
                </a:solidFill>
                <a:latin typeface="Meiryo" pitchFamily="34" charset="0"/>
                <a:ea typeface="Meiryo" pitchFamily="34" charset="-122"/>
                <a:cs typeface="Meiryo" pitchFamily="34" charset="-120"/>
              </a:rPr>
              <a:t>田中麻衣子（演出家</a:t>
            </a:r>
            <a:r>
              <a:rPr lang="en-US" sz="1150" i="1" dirty="0">
                <a:solidFill>
                  <a:srgbClr val="9E9E9E"/>
                </a:solidFill>
                <a:latin typeface="Meiryo" pitchFamily="34" charset="0"/>
                <a:ea typeface="Meiryo" pitchFamily="34" charset="-122"/>
                <a:cs typeface="Meiryo" pitchFamily="34" charset="-120"/>
              </a:rPr>
              <a:t>）</a:t>
            </a:r>
            <a:r>
              <a:rPr lang="ja-JP" altLang="en-US" sz="1150" i="1">
                <a:solidFill>
                  <a:srgbClr val="9E9E9E"/>
                </a:solidFill>
                <a:latin typeface="Meiryo" pitchFamily="34" charset="0"/>
                <a:ea typeface="Meiryo" pitchFamily="34" charset="-122"/>
                <a:cs typeface="Meiryo" pitchFamily="34" charset="-120"/>
              </a:rPr>
              <a:t>　</a:t>
            </a:r>
            <a:r>
              <a:rPr lang="en-US" sz="1150" i="1" dirty="0" err="1">
                <a:solidFill>
                  <a:srgbClr val="9E9E9E"/>
                </a:solidFill>
                <a:latin typeface="Meiryo" pitchFamily="34" charset="0"/>
                <a:ea typeface="Meiryo" pitchFamily="34" charset="-122"/>
                <a:cs typeface="Meiryo" pitchFamily="34" charset="-120"/>
              </a:rPr>
              <a:t>ゲスト講師：松山立（演技講師</a:t>
            </a:r>
            <a:r>
              <a:rPr lang="en-US" sz="1150" i="1" dirty="0">
                <a:solidFill>
                  <a:srgbClr val="9E9E9E"/>
                </a:solidFill>
                <a:latin typeface="Meiryo" pitchFamily="34" charset="0"/>
                <a:ea typeface="Meiryo" pitchFamily="34" charset="-122"/>
                <a:cs typeface="Meiryo" pitchFamily="34" charset="-120"/>
              </a:rPr>
              <a:t>）</a:t>
            </a:r>
            <a:r>
              <a:rPr lang="ja-JP" altLang="en-US" sz="1150" i="1">
                <a:solidFill>
                  <a:srgbClr val="9E9E9E"/>
                </a:solidFill>
                <a:latin typeface="Meiryo" pitchFamily="34" charset="0"/>
                <a:ea typeface="Meiryo" pitchFamily="34" charset="-122"/>
                <a:cs typeface="Meiryo" pitchFamily="34" charset="-120"/>
              </a:rPr>
              <a:t>井上優（演劇史）　そのほか、プロデューサー、テクニカルスタッフ等</a:t>
            </a:r>
            <a:endParaRPr lang="en-US" sz="1150" dirty="0"/>
          </a:p>
        </p:txBody>
      </p:sp>
      <p:sp>
        <p:nvSpPr>
          <p:cNvPr id="11" name="Shape 21">
            <a:extLst>
              <a:ext uri="{FF2B5EF4-FFF2-40B4-BE49-F238E27FC236}">
                <a16:creationId xmlns:a16="http://schemas.microsoft.com/office/drawing/2014/main" id="{91C2ED13-6A94-44F8-8978-D39D03E8A74A}"/>
              </a:ext>
            </a:extLst>
          </p:cNvPr>
          <p:cNvSpPr/>
          <p:nvPr/>
        </p:nvSpPr>
        <p:spPr>
          <a:xfrm>
            <a:off x="4732751" y="2327148"/>
            <a:ext cx="1480780" cy="1371600"/>
          </a:xfrm>
          <a:prstGeom prst="roundRect">
            <a:avLst>
              <a:gd name="adj" fmla="val 5217"/>
            </a:avLst>
          </a:prstGeom>
          <a:solidFill>
            <a:srgbClr val="F4F4F4"/>
          </a:solidFill>
          <a:ln w="12700">
            <a:solidFill>
              <a:srgbClr val="D9D9D9"/>
            </a:solidFill>
            <a:prstDash val="solid"/>
          </a:ln>
        </p:spPr>
        <p:txBody>
          <a:bodyPr/>
          <a:lstStyle/>
          <a:p>
            <a:endParaRPr lang="ja-JP" altLang="en-US"/>
          </a:p>
        </p:txBody>
      </p:sp>
      <p:sp>
        <p:nvSpPr>
          <p:cNvPr id="22" name="Text 22">
            <a:extLst>
              <a:ext uri="{FF2B5EF4-FFF2-40B4-BE49-F238E27FC236}">
                <a16:creationId xmlns:a16="http://schemas.microsoft.com/office/drawing/2014/main" id="{9F365F6B-B9D3-DFD1-8A19-1AC18E8A60AE}"/>
              </a:ext>
            </a:extLst>
          </p:cNvPr>
          <p:cNvSpPr/>
          <p:nvPr/>
        </p:nvSpPr>
        <p:spPr>
          <a:xfrm>
            <a:off x="4803690" y="2647188"/>
            <a:ext cx="1332339" cy="288036"/>
          </a:xfrm>
          <a:prstGeom prst="rect">
            <a:avLst/>
          </a:prstGeom>
          <a:noFill/>
          <a:ln/>
        </p:spPr>
        <p:txBody>
          <a:bodyPr wrap="square" lIns="0" tIns="0" rIns="0" bIns="0" rtlCol="0" anchor="ctr"/>
          <a:lstStyle/>
          <a:p>
            <a:pPr marL="0" indent="0" algn="ctr">
              <a:buNone/>
            </a:pPr>
            <a:r>
              <a:rPr lang="en-US" sz="1300" b="1" dirty="0" err="1">
                <a:solidFill>
                  <a:srgbClr val="1A1A1A"/>
                </a:solidFill>
                <a:latin typeface="Yu Gothic" pitchFamily="34" charset="0"/>
                <a:ea typeface="Yu Gothic" pitchFamily="34" charset="-122"/>
              </a:rPr>
              <a:t>プログラム</a:t>
            </a:r>
            <a:endParaRPr lang="en-US" sz="1300" b="1" dirty="0">
              <a:solidFill>
                <a:srgbClr val="1A1A1A"/>
              </a:solidFill>
              <a:latin typeface="Yu Gothic" pitchFamily="34" charset="0"/>
              <a:ea typeface="Yu Gothic" pitchFamily="34" charset="-122"/>
            </a:endParaRPr>
          </a:p>
          <a:p>
            <a:pPr marL="0" indent="0" algn="ctr">
              <a:buNone/>
            </a:pPr>
            <a:r>
              <a:rPr lang="en-US" sz="1300" b="1" dirty="0" err="1">
                <a:solidFill>
                  <a:srgbClr val="1A1A1A"/>
                </a:solidFill>
                <a:latin typeface="Yu Gothic" pitchFamily="34" charset="0"/>
                <a:ea typeface="Yu Gothic" pitchFamily="34" charset="-122"/>
              </a:rPr>
              <a:t>ブラッシュアップ</a:t>
            </a:r>
            <a:endParaRPr lang="en-US" sz="1300" dirty="0"/>
          </a:p>
        </p:txBody>
      </p:sp>
      <p:sp>
        <p:nvSpPr>
          <p:cNvPr id="33" name="Text 23">
            <a:extLst>
              <a:ext uri="{FF2B5EF4-FFF2-40B4-BE49-F238E27FC236}">
                <a16:creationId xmlns:a16="http://schemas.microsoft.com/office/drawing/2014/main" id="{D0C61B75-B1BB-63B2-9B21-4CD9841CDC69}"/>
              </a:ext>
            </a:extLst>
          </p:cNvPr>
          <p:cNvSpPr/>
          <p:nvPr/>
        </p:nvSpPr>
        <p:spPr>
          <a:xfrm>
            <a:off x="4951326" y="3155355"/>
            <a:ext cx="1051560" cy="320040"/>
          </a:xfrm>
          <a:prstGeom prst="rect">
            <a:avLst/>
          </a:prstGeom>
          <a:noFill/>
          <a:ln/>
        </p:spPr>
        <p:txBody>
          <a:bodyPr wrap="square" lIns="0" tIns="0" rIns="0" bIns="0" rtlCol="0" anchor="ctr"/>
          <a:lstStyle/>
          <a:p>
            <a:pPr marL="0" indent="0" algn="ctr">
              <a:lnSpc>
                <a:spcPct val="105000"/>
              </a:lnSpc>
              <a:buNone/>
            </a:pPr>
            <a:r>
              <a:rPr lang="en-US" sz="1000" dirty="0">
                <a:solidFill>
                  <a:srgbClr val="6B6B6B"/>
                </a:solidFill>
                <a:latin typeface="Meiryo" pitchFamily="34" charset="0"/>
                <a:ea typeface="Meiryo" pitchFamily="34" charset="-122"/>
              </a:rPr>
              <a:t>2026年10月</a:t>
            </a:r>
          </a:p>
          <a:p>
            <a:pPr marL="0" indent="0" algn="ctr">
              <a:lnSpc>
                <a:spcPct val="105000"/>
              </a:lnSpc>
              <a:buNone/>
            </a:pPr>
            <a:r>
              <a:rPr lang="en-US" sz="1000" dirty="0">
                <a:solidFill>
                  <a:srgbClr val="6B6B6B"/>
                </a:solidFill>
                <a:latin typeface="Meiryo" pitchFamily="34" charset="0"/>
                <a:ea typeface="Meiryo" pitchFamily="34" charset="-122"/>
              </a:rPr>
              <a:t>〜2027年3月</a:t>
            </a:r>
            <a:endParaRPr lang="en-US" sz="1000" dirty="0"/>
          </a:p>
        </p:txBody>
      </p:sp>
    </p:spTree>
    <p:extLst>
      <p:ext uri="{BB962C8B-B14F-4D97-AF65-F5344CB8AC3E}">
        <p14:creationId xmlns:p14="http://schemas.microsoft.com/office/powerpoint/2010/main" val="1039139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15600" cy="347472"/>
          </a:xfrm>
          <a:prstGeom prst="rect">
            <a:avLst/>
          </a:prstGeom>
          <a:noFill/>
          <a:ln/>
        </p:spPr>
        <p:txBody>
          <a:bodyPr wrap="square" lIns="0" tIns="0" rIns="0" bIns="0" rtlCol="0" anchor="ctr"/>
          <a:lstStyle/>
          <a:p>
            <a:pPr marL="0" indent="0">
              <a:buNone/>
            </a:pPr>
            <a:r>
              <a:rPr lang="en-US" sz="1200" b="1" kern="0" spc="200" dirty="0">
                <a:solidFill>
                  <a:srgbClr val="D62828"/>
                </a:solidFill>
                <a:latin typeface="Meiryo" pitchFamily="34" charset="0"/>
                <a:ea typeface="Meiryo" pitchFamily="34" charset="-122"/>
                <a:cs typeface="Meiryo" pitchFamily="34" charset="-120"/>
              </a:rPr>
              <a:t>PROGRAM 2 — </a:t>
            </a:r>
            <a:r>
              <a:rPr lang="en-US" sz="1200" b="1" kern="0" spc="200" dirty="0" err="1">
                <a:solidFill>
                  <a:srgbClr val="D62828"/>
                </a:solidFill>
                <a:latin typeface="Meiryo" pitchFamily="34" charset="0"/>
                <a:ea typeface="Meiryo" pitchFamily="34" charset="-122"/>
                <a:cs typeface="Meiryo" pitchFamily="34" charset="-120"/>
              </a:rPr>
              <a:t>演出家</a:t>
            </a:r>
            <a:endParaRPr lang="en-US" sz="1200" dirty="0"/>
          </a:p>
        </p:txBody>
      </p:sp>
      <p:sp>
        <p:nvSpPr>
          <p:cNvPr id="3" name="Text 1"/>
          <p:cNvSpPr/>
          <p:nvPr/>
        </p:nvSpPr>
        <p:spPr>
          <a:xfrm>
            <a:off x="822960" y="822960"/>
            <a:ext cx="10607040" cy="868680"/>
          </a:xfrm>
          <a:prstGeom prst="rect">
            <a:avLst/>
          </a:prstGeom>
          <a:noFill/>
          <a:ln/>
        </p:spPr>
        <p:txBody>
          <a:bodyPr wrap="square" lIns="0" tIns="0" rIns="0" bIns="0" rtlCol="0" anchor="ctr"/>
          <a:lstStyle/>
          <a:p>
            <a:pPr marL="0" indent="0">
              <a:buNone/>
            </a:pPr>
            <a:r>
              <a:rPr lang="en-US" sz="3000" b="1" dirty="0" err="1">
                <a:solidFill>
                  <a:srgbClr val="1A1A1A"/>
                </a:solidFill>
                <a:latin typeface="Yu Gothic" pitchFamily="34" charset="0"/>
                <a:ea typeface="Yu Gothic" pitchFamily="34" charset="-122"/>
                <a:cs typeface="Yu Gothic" pitchFamily="34" charset="-120"/>
              </a:rPr>
              <a:t>育成プログラム案</a:t>
            </a:r>
            <a:endParaRPr lang="en-US" sz="3000" dirty="0"/>
          </a:p>
        </p:txBody>
      </p:sp>
      <p:sp>
        <p:nvSpPr>
          <p:cNvPr id="5" name="Shape 3"/>
          <p:cNvSpPr/>
          <p:nvPr/>
        </p:nvSpPr>
        <p:spPr>
          <a:xfrm>
            <a:off x="822960" y="1941976"/>
            <a:ext cx="3383280" cy="749808"/>
          </a:xfrm>
          <a:prstGeom prst="roundRect">
            <a:avLst>
              <a:gd name="adj" fmla="val 8537"/>
            </a:avLst>
          </a:prstGeom>
          <a:solidFill>
            <a:srgbClr val="F4F4F4"/>
          </a:solidFill>
          <a:ln w="12700">
            <a:solidFill>
              <a:srgbClr val="D9D9D9"/>
            </a:solidFill>
            <a:prstDash val="solid"/>
          </a:ln>
          <a:effectLst>
            <a:outerShdw blurRad="76200" dist="25400" dir="5400000" algn="bl" rotWithShape="0">
              <a:srgbClr val="000000">
                <a:alpha val="10000"/>
              </a:srgbClr>
            </a:outerShdw>
          </a:effectLst>
        </p:spPr>
        <p:txBody>
          <a:bodyPr/>
          <a:lstStyle/>
          <a:p>
            <a:endParaRPr lang="ja-JP" altLang="en-US"/>
          </a:p>
        </p:txBody>
      </p:sp>
      <p:sp>
        <p:nvSpPr>
          <p:cNvPr id="6" name="Text 4"/>
          <p:cNvSpPr/>
          <p:nvPr/>
        </p:nvSpPr>
        <p:spPr>
          <a:xfrm>
            <a:off x="1051560" y="2033416"/>
            <a:ext cx="2926080" cy="237744"/>
          </a:xfrm>
          <a:prstGeom prst="rect">
            <a:avLst/>
          </a:prstGeom>
          <a:noFill/>
          <a:ln/>
        </p:spPr>
        <p:txBody>
          <a:bodyPr wrap="square" lIns="0" tIns="0" rIns="0" bIns="0" rtlCol="0" anchor="ctr"/>
          <a:lstStyle/>
          <a:p>
            <a:pPr marL="0" indent="0">
              <a:buNone/>
            </a:pPr>
            <a:r>
              <a:rPr lang="en-US" sz="1100" b="1" dirty="0">
                <a:solidFill>
                  <a:srgbClr val="D62828"/>
                </a:solidFill>
                <a:latin typeface="Meiryo" pitchFamily="34" charset="0"/>
                <a:ea typeface="Meiryo" pitchFamily="34" charset="-122"/>
                <a:cs typeface="Meiryo" pitchFamily="34" charset="-120"/>
              </a:rPr>
              <a:t>会場・形態</a:t>
            </a:r>
            <a:endParaRPr lang="en-US" sz="1100" dirty="0"/>
          </a:p>
        </p:txBody>
      </p:sp>
      <p:sp>
        <p:nvSpPr>
          <p:cNvPr id="7" name="Text 5"/>
          <p:cNvSpPr/>
          <p:nvPr/>
        </p:nvSpPr>
        <p:spPr>
          <a:xfrm>
            <a:off x="1051560" y="2262016"/>
            <a:ext cx="2926080" cy="384048"/>
          </a:xfrm>
          <a:prstGeom prst="rect">
            <a:avLst/>
          </a:prstGeom>
          <a:noFill/>
          <a:ln/>
        </p:spPr>
        <p:txBody>
          <a:bodyPr wrap="square" lIns="0" tIns="0" rIns="0" bIns="0" rtlCol="0" anchor="ctr"/>
          <a:lstStyle/>
          <a:p>
            <a:pPr marL="0" indent="0">
              <a:lnSpc>
                <a:spcPct val="100000"/>
              </a:lnSpc>
              <a:buNone/>
            </a:pPr>
            <a:r>
              <a:rPr lang="en-US" sz="1250" b="1" dirty="0">
                <a:solidFill>
                  <a:srgbClr val="1A1A1A"/>
                </a:solidFill>
                <a:latin typeface="Yu Gothic" pitchFamily="34" charset="0"/>
                <a:ea typeface="Yu Gothic" pitchFamily="34" charset="-122"/>
                <a:cs typeface="Yu Gothic" pitchFamily="34" charset="-120"/>
              </a:rPr>
              <a:t>都内稽古場での5日間の</a:t>
            </a:r>
          </a:p>
          <a:p>
            <a:pPr marL="0" indent="0">
              <a:lnSpc>
                <a:spcPct val="100000"/>
              </a:lnSpc>
              <a:buNone/>
            </a:pPr>
            <a:r>
              <a:rPr lang="en-US" sz="1250" b="1" dirty="0" err="1">
                <a:solidFill>
                  <a:srgbClr val="1A1A1A"/>
                </a:solidFill>
                <a:latin typeface="Yu Gothic" pitchFamily="34" charset="0"/>
                <a:ea typeface="Yu Gothic" pitchFamily="34" charset="-122"/>
              </a:rPr>
              <a:t>演出家育成プログラム</a:t>
            </a:r>
            <a:endParaRPr lang="en-US" sz="1250" dirty="0"/>
          </a:p>
        </p:txBody>
      </p:sp>
      <p:sp>
        <p:nvSpPr>
          <p:cNvPr id="8" name="Shape 6"/>
          <p:cNvSpPr/>
          <p:nvPr/>
        </p:nvSpPr>
        <p:spPr>
          <a:xfrm>
            <a:off x="822960" y="2783224"/>
            <a:ext cx="3383280" cy="749808"/>
          </a:xfrm>
          <a:prstGeom prst="roundRect">
            <a:avLst>
              <a:gd name="adj" fmla="val 8537"/>
            </a:avLst>
          </a:prstGeom>
          <a:solidFill>
            <a:srgbClr val="F4F4F4"/>
          </a:solidFill>
          <a:ln w="12700">
            <a:solidFill>
              <a:srgbClr val="D9D9D9"/>
            </a:solidFill>
            <a:prstDash val="solid"/>
          </a:ln>
          <a:effectLst>
            <a:outerShdw blurRad="76200" dist="25400" dir="5400000" algn="bl" rotWithShape="0">
              <a:srgbClr val="000000">
                <a:alpha val="10000"/>
              </a:srgbClr>
            </a:outerShdw>
          </a:effectLst>
        </p:spPr>
        <p:txBody>
          <a:bodyPr/>
          <a:lstStyle/>
          <a:p>
            <a:endParaRPr lang="ja-JP" altLang="en-US"/>
          </a:p>
        </p:txBody>
      </p:sp>
      <p:sp>
        <p:nvSpPr>
          <p:cNvPr id="9" name="Text 7"/>
          <p:cNvSpPr/>
          <p:nvPr/>
        </p:nvSpPr>
        <p:spPr>
          <a:xfrm>
            <a:off x="1051560" y="2874664"/>
            <a:ext cx="2926080" cy="237744"/>
          </a:xfrm>
          <a:prstGeom prst="rect">
            <a:avLst/>
          </a:prstGeom>
          <a:noFill/>
          <a:ln/>
        </p:spPr>
        <p:txBody>
          <a:bodyPr wrap="square" lIns="0" tIns="0" rIns="0" bIns="0" rtlCol="0" anchor="ctr"/>
          <a:lstStyle/>
          <a:p>
            <a:pPr marL="0" indent="0">
              <a:buNone/>
            </a:pPr>
            <a:r>
              <a:rPr lang="en-US" sz="1100" b="1" dirty="0">
                <a:solidFill>
                  <a:srgbClr val="D62828"/>
                </a:solidFill>
                <a:latin typeface="Meiryo" pitchFamily="34" charset="0"/>
                <a:ea typeface="Meiryo" pitchFamily="34" charset="-122"/>
                <a:cs typeface="Meiryo" pitchFamily="34" charset="-120"/>
              </a:rPr>
              <a:t>時期</a:t>
            </a:r>
            <a:endParaRPr lang="en-US" sz="1100" dirty="0"/>
          </a:p>
        </p:txBody>
      </p:sp>
      <p:sp>
        <p:nvSpPr>
          <p:cNvPr id="10" name="Text 8"/>
          <p:cNvSpPr/>
          <p:nvPr/>
        </p:nvSpPr>
        <p:spPr>
          <a:xfrm>
            <a:off x="1051560" y="3103264"/>
            <a:ext cx="2926080" cy="384048"/>
          </a:xfrm>
          <a:prstGeom prst="rect">
            <a:avLst/>
          </a:prstGeom>
          <a:noFill/>
          <a:ln/>
        </p:spPr>
        <p:txBody>
          <a:bodyPr wrap="square" lIns="0" tIns="0" rIns="0" bIns="0" rtlCol="0" anchor="ctr"/>
          <a:lstStyle/>
          <a:p>
            <a:pPr marL="0" indent="0">
              <a:lnSpc>
                <a:spcPct val="100000"/>
              </a:lnSpc>
              <a:buNone/>
            </a:pPr>
            <a:r>
              <a:rPr lang="en-US" sz="1250" b="1" dirty="0">
                <a:solidFill>
                  <a:srgbClr val="1A1A1A"/>
                </a:solidFill>
                <a:latin typeface="Yu Gothic" pitchFamily="34" charset="0"/>
                <a:ea typeface="Yu Gothic" pitchFamily="34" charset="-122"/>
                <a:cs typeface="Yu Gothic" pitchFamily="34" charset="-120"/>
              </a:rPr>
              <a:t>2027年５月</a:t>
            </a:r>
            <a:endParaRPr lang="en-US" sz="1250" dirty="0"/>
          </a:p>
        </p:txBody>
      </p:sp>
      <p:sp>
        <p:nvSpPr>
          <p:cNvPr id="11" name="Shape 9"/>
          <p:cNvSpPr/>
          <p:nvPr/>
        </p:nvSpPr>
        <p:spPr>
          <a:xfrm>
            <a:off x="822960" y="3624472"/>
            <a:ext cx="3383280" cy="749808"/>
          </a:xfrm>
          <a:prstGeom prst="roundRect">
            <a:avLst>
              <a:gd name="adj" fmla="val 8537"/>
            </a:avLst>
          </a:prstGeom>
          <a:solidFill>
            <a:srgbClr val="F4F4F4"/>
          </a:solidFill>
          <a:ln w="12700">
            <a:solidFill>
              <a:srgbClr val="D9D9D9"/>
            </a:solidFill>
            <a:prstDash val="solid"/>
          </a:ln>
          <a:effectLst>
            <a:outerShdw blurRad="76200" dist="25400" dir="5400000" algn="bl" rotWithShape="0">
              <a:srgbClr val="000000">
                <a:alpha val="10000"/>
              </a:srgbClr>
            </a:outerShdw>
          </a:effectLst>
        </p:spPr>
        <p:txBody>
          <a:bodyPr/>
          <a:lstStyle/>
          <a:p>
            <a:endParaRPr lang="ja-JP" altLang="en-US"/>
          </a:p>
        </p:txBody>
      </p:sp>
      <p:sp>
        <p:nvSpPr>
          <p:cNvPr id="12" name="Text 10"/>
          <p:cNvSpPr/>
          <p:nvPr/>
        </p:nvSpPr>
        <p:spPr>
          <a:xfrm>
            <a:off x="1051560" y="3715912"/>
            <a:ext cx="2926080" cy="237744"/>
          </a:xfrm>
          <a:prstGeom prst="rect">
            <a:avLst/>
          </a:prstGeom>
          <a:noFill/>
          <a:ln/>
        </p:spPr>
        <p:txBody>
          <a:bodyPr wrap="square" lIns="0" tIns="0" rIns="0" bIns="0" rtlCol="0" anchor="ctr"/>
          <a:lstStyle/>
          <a:p>
            <a:pPr marL="0" indent="0">
              <a:buNone/>
            </a:pPr>
            <a:r>
              <a:rPr lang="en-US" sz="1100" b="1" dirty="0" err="1">
                <a:solidFill>
                  <a:srgbClr val="D62828"/>
                </a:solidFill>
                <a:latin typeface="Meiryo" pitchFamily="34" charset="0"/>
                <a:ea typeface="Meiryo" pitchFamily="34" charset="-122"/>
              </a:rPr>
              <a:t>育成対象者</a:t>
            </a:r>
            <a:endParaRPr lang="en-US" sz="1100" dirty="0"/>
          </a:p>
        </p:txBody>
      </p:sp>
      <p:sp>
        <p:nvSpPr>
          <p:cNvPr id="13" name="Text 11"/>
          <p:cNvSpPr/>
          <p:nvPr/>
        </p:nvSpPr>
        <p:spPr>
          <a:xfrm>
            <a:off x="1051560" y="3944512"/>
            <a:ext cx="2926080" cy="384048"/>
          </a:xfrm>
          <a:prstGeom prst="rect">
            <a:avLst/>
          </a:prstGeom>
          <a:noFill/>
          <a:ln/>
        </p:spPr>
        <p:txBody>
          <a:bodyPr wrap="square" lIns="0" tIns="0" rIns="0" bIns="0" rtlCol="0" anchor="ctr"/>
          <a:lstStyle/>
          <a:p>
            <a:pPr marL="0" indent="0">
              <a:lnSpc>
                <a:spcPct val="100000"/>
              </a:lnSpc>
              <a:buNone/>
            </a:pPr>
            <a:r>
              <a:rPr lang="en-US" sz="1250" b="1" dirty="0">
                <a:solidFill>
                  <a:srgbClr val="1A1A1A"/>
                </a:solidFill>
                <a:latin typeface="Yu Gothic" pitchFamily="34" charset="0"/>
                <a:ea typeface="Yu Gothic" pitchFamily="34" charset="-122"/>
                <a:cs typeface="Yu Gothic" pitchFamily="34" charset="-120"/>
              </a:rPr>
              <a:t>選考を通過した、18歳〜25歳の演出家</a:t>
            </a:r>
          </a:p>
          <a:p>
            <a:pPr marL="0" indent="0">
              <a:lnSpc>
                <a:spcPct val="100000"/>
              </a:lnSpc>
              <a:buNone/>
            </a:pPr>
            <a:r>
              <a:rPr lang="en-US" sz="1250" dirty="0"/>
              <a:t>10名程度</a:t>
            </a:r>
          </a:p>
        </p:txBody>
      </p:sp>
      <p:sp>
        <p:nvSpPr>
          <p:cNvPr id="14" name="Shape 12"/>
          <p:cNvSpPr/>
          <p:nvPr/>
        </p:nvSpPr>
        <p:spPr>
          <a:xfrm>
            <a:off x="822960" y="4465719"/>
            <a:ext cx="3383280" cy="1440405"/>
          </a:xfrm>
          <a:prstGeom prst="roundRect">
            <a:avLst>
              <a:gd name="adj" fmla="val 8537"/>
            </a:avLst>
          </a:prstGeom>
          <a:solidFill>
            <a:srgbClr val="F4F4F4"/>
          </a:solidFill>
          <a:ln w="12700">
            <a:solidFill>
              <a:srgbClr val="D9D9D9"/>
            </a:solidFill>
            <a:prstDash val="solid"/>
          </a:ln>
          <a:effectLst>
            <a:outerShdw blurRad="76200" dist="25400" dir="5400000" algn="bl" rotWithShape="0">
              <a:srgbClr val="000000">
                <a:alpha val="10000"/>
              </a:srgbClr>
            </a:outerShdw>
          </a:effectLst>
        </p:spPr>
        <p:txBody>
          <a:bodyPr/>
          <a:lstStyle/>
          <a:p>
            <a:endParaRPr lang="ja-JP" altLang="en-US"/>
          </a:p>
        </p:txBody>
      </p:sp>
      <p:sp>
        <p:nvSpPr>
          <p:cNvPr id="15" name="Text 13"/>
          <p:cNvSpPr/>
          <p:nvPr/>
        </p:nvSpPr>
        <p:spPr>
          <a:xfrm>
            <a:off x="1051560" y="4557160"/>
            <a:ext cx="2926080" cy="237744"/>
          </a:xfrm>
          <a:prstGeom prst="rect">
            <a:avLst/>
          </a:prstGeom>
          <a:noFill/>
          <a:ln/>
        </p:spPr>
        <p:txBody>
          <a:bodyPr wrap="square" lIns="0" tIns="0" rIns="0" bIns="0" rtlCol="0" anchor="ctr"/>
          <a:lstStyle/>
          <a:p>
            <a:pPr marL="0" indent="0">
              <a:buNone/>
            </a:pPr>
            <a:r>
              <a:rPr lang="en-US" sz="1100" b="1" dirty="0" err="1">
                <a:solidFill>
                  <a:srgbClr val="D62828"/>
                </a:solidFill>
                <a:latin typeface="Meiryo" pitchFamily="34" charset="0"/>
                <a:ea typeface="Meiryo" pitchFamily="34" charset="-122"/>
              </a:rPr>
              <a:t>参加者</a:t>
            </a:r>
            <a:endParaRPr lang="en-US" sz="1100" dirty="0"/>
          </a:p>
        </p:txBody>
      </p:sp>
      <p:sp>
        <p:nvSpPr>
          <p:cNvPr id="16" name="Text 14"/>
          <p:cNvSpPr/>
          <p:nvPr/>
        </p:nvSpPr>
        <p:spPr>
          <a:xfrm>
            <a:off x="1051560" y="4794904"/>
            <a:ext cx="2926080" cy="1046313"/>
          </a:xfrm>
          <a:prstGeom prst="rect">
            <a:avLst/>
          </a:prstGeom>
          <a:noFill/>
          <a:ln/>
        </p:spPr>
        <p:txBody>
          <a:bodyPr wrap="square" lIns="0" tIns="0" rIns="0" bIns="0" rtlCol="0" anchor="ctr"/>
          <a:lstStyle/>
          <a:p>
            <a:pPr marL="0" indent="0">
              <a:lnSpc>
                <a:spcPct val="100000"/>
              </a:lnSpc>
              <a:buNone/>
            </a:pPr>
            <a:r>
              <a:rPr lang="en-US" sz="1250" b="1" dirty="0">
                <a:solidFill>
                  <a:srgbClr val="1A1A1A"/>
                </a:solidFill>
                <a:latin typeface="Yu Gothic" pitchFamily="34" charset="0"/>
                <a:ea typeface="Yu Gothic" pitchFamily="34" charset="-122"/>
                <a:cs typeface="Yu Gothic" pitchFamily="34" charset="-120"/>
              </a:rPr>
              <a:t>・</a:t>
            </a:r>
            <a:r>
              <a:rPr lang="en-US" sz="1250" b="1" dirty="0" err="1">
                <a:solidFill>
                  <a:srgbClr val="1A1A1A"/>
                </a:solidFill>
                <a:latin typeface="Yu Gothic" pitchFamily="34" charset="0"/>
                <a:ea typeface="Yu Gothic" pitchFamily="34" charset="-122"/>
                <a:cs typeface="Yu Gothic" pitchFamily="34" charset="-120"/>
              </a:rPr>
              <a:t>全体統括のメンタ</a:t>
            </a:r>
            <a:r>
              <a:rPr lang="en-US" sz="1250" b="1" dirty="0">
                <a:solidFill>
                  <a:srgbClr val="1A1A1A"/>
                </a:solidFill>
                <a:latin typeface="Yu Gothic" pitchFamily="34" charset="0"/>
                <a:ea typeface="Yu Gothic" pitchFamily="34" charset="-122"/>
                <a:cs typeface="Yu Gothic" pitchFamily="34" charset="-120"/>
              </a:rPr>
              <a:t>ー（</a:t>
            </a:r>
            <a:r>
              <a:rPr lang="en-US" sz="1250" b="1" dirty="0" err="1">
                <a:solidFill>
                  <a:srgbClr val="1A1A1A"/>
                </a:solidFill>
                <a:latin typeface="Yu Gothic" pitchFamily="34" charset="0"/>
                <a:ea typeface="Yu Gothic" pitchFamily="34" charset="-122"/>
                <a:cs typeface="Yu Gothic" pitchFamily="34" charset="-120"/>
              </a:rPr>
              <a:t>演出家</a:t>
            </a:r>
            <a:r>
              <a:rPr lang="en-US" sz="1250" b="1" dirty="0">
                <a:solidFill>
                  <a:srgbClr val="1A1A1A"/>
                </a:solidFill>
                <a:latin typeface="Yu Gothic" pitchFamily="34" charset="0"/>
                <a:ea typeface="Yu Gothic" pitchFamily="34" charset="-122"/>
                <a:cs typeface="Yu Gothic" pitchFamily="34" charset="-120"/>
              </a:rPr>
              <a:t>）</a:t>
            </a:r>
          </a:p>
          <a:p>
            <a:pPr marL="0" indent="0">
              <a:lnSpc>
                <a:spcPct val="100000"/>
              </a:lnSpc>
              <a:buNone/>
            </a:pPr>
            <a:r>
              <a:rPr lang="en-US" sz="1250" b="1" dirty="0">
                <a:solidFill>
                  <a:srgbClr val="1A1A1A"/>
                </a:solidFill>
                <a:latin typeface="Yu Gothic" pitchFamily="34" charset="0"/>
                <a:ea typeface="Yu Gothic" pitchFamily="34" charset="-122"/>
                <a:cs typeface="Yu Gothic" pitchFamily="34" charset="-120"/>
              </a:rPr>
              <a:t>・</a:t>
            </a:r>
            <a:r>
              <a:rPr lang="en-US" sz="1250" b="1" dirty="0" err="1">
                <a:solidFill>
                  <a:srgbClr val="1A1A1A"/>
                </a:solidFill>
                <a:latin typeface="Yu Gothic" pitchFamily="34" charset="0"/>
                <a:ea typeface="Yu Gothic" pitchFamily="34" charset="-122"/>
                <a:cs typeface="Yu Gothic" pitchFamily="34" charset="-120"/>
              </a:rPr>
              <a:t>ゲスト講師</a:t>
            </a:r>
            <a:endParaRPr lang="en-US" sz="1250" b="1" dirty="0">
              <a:solidFill>
                <a:srgbClr val="1A1A1A"/>
              </a:solidFill>
              <a:latin typeface="Yu Gothic" pitchFamily="34" charset="0"/>
              <a:ea typeface="Yu Gothic" pitchFamily="34" charset="-122"/>
              <a:cs typeface="Yu Gothic" pitchFamily="34" charset="-120"/>
            </a:endParaRPr>
          </a:p>
          <a:p>
            <a:pPr marL="0" indent="0">
              <a:lnSpc>
                <a:spcPct val="100000"/>
              </a:lnSpc>
              <a:buNone/>
            </a:pPr>
            <a:r>
              <a:rPr lang="en-US" sz="1250" b="1" dirty="0">
                <a:solidFill>
                  <a:srgbClr val="1A1A1A"/>
                </a:solidFill>
                <a:latin typeface="Yu Gothic" pitchFamily="34" charset="0"/>
                <a:ea typeface="Yu Gothic" pitchFamily="34" charset="-122"/>
                <a:cs typeface="Yu Gothic" pitchFamily="34" charset="-120"/>
              </a:rPr>
              <a:t>・</a:t>
            </a:r>
            <a:r>
              <a:rPr lang="en-US" sz="1250" b="1" dirty="0" err="1">
                <a:solidFill>
                  <a:srgbClr val="1A1A1A"/>
                </a:solidFill>
                <a:latin typeface="Yu Gothic" pitchFamily="34" charset="0"/>
                <a:ea typeface="Yu Gothic" pitchFamily="34" charset="-122"/>
                <a:cs typeface="Yu Gothic" pitchFamily="34" charset="-120"/>
              </a:rPr>
              <a:t>テクニカルスタッフ</a:t>
            </a:r>
            <a:endParaRPr lang="en-US" sz="1250" b="1" dirty="0">
              <a:solidFill>
                <a:srgbClr val="1A1A1A"/>
              </a:solidFill>
              <a:latin typeface="Yu Gothic" pitchFamily="34" charset="0"/>
              <a:ea typeface="Yu Gothic" pitchFamily="34" charset="-122"/>
              <a:cs typeface="Yu Gothic" pitchFamily="34" charset="-120"/>
            </a:endParaRPr>
          </a:p>
          <a:p>
            <a:pPr marL="0" indent="0">
              <a:lnSpc>
                <a:spcPct val="100000"/>
              </a:lnSpc>
              <a:buNone/>
            </a:pPr>
            <a:r>
              <a:rPr lang="en-US" sz="1250" b="1" dirty="0">
                <a:solidFill>
                  <a:srgbClr val="1A1A1A"/>
                </a:solidFill>
                <a:latin typeface="Yu Gothic" pitchFamily="34" charset="0"/>
                <a:ea typeface="Yu Gothic" pitchFamily="34" charset="-122"/>
                <a:cs typeface="Yu Gothic" pitchFamily="34" charset="-120"/>
              </a:rPr>
              <a:t>・俳優10名程度</a:t>
            </a:r>
          </a:p>
          <a:p>
            <a:pPr marL="0" indent="0">
              <a:lnSpc>
                <a:spcPct val="100000"/>
              </a:lnSpc>
              <a:buNone/>
            </a:pPr>
            <a:r>
              <a:rPr lang="en-US" sz="1250" dirty="0"/>
              <a:t>・</a:t>
            </a:r>
            <a:r>
              <a:rPr lang="en-US" sz="1250" dirty="0" err="1"/>
              <a:t>進行スタッフ</a:t>
            </a:r>
            <a:endParaRPr lang="en-US" sz="1250" dirty="0"/>
          </a:p>
        </p:txBody>
      </p:sp>
      <p:sp>
        <p:nvSpPr>
          <p:cNvPr id="17" name="Shape 15"/>
          <p:cNvSpPr/>
          <p:nvPr/>
        </p:nvSpPr>
        <p:spPr>
          <a:xfrm>
            <a:off x="4480560" y="1941976"/>
            <a:ext cx="6858000" cy="3964148"/>
          </a:xfrm>
          <a:prstGeom prst="roundRect">
            <a:avLst>
              <a:gd name="adj" fmla="val 1955"/>
            </a:avLst>
          </a:prstGeom>
          <a:solidFill>
            <a:srgbClr val="FFFFFF"/>
          </a:solidFill>
          <a:ln w="12700">
            <a:solidFill>
              <a:srgbClr val="D9D9D9"/>
            </a:solidFill>
            <a:prstDash val="solid"/>
          </a:ln>
          <a:effectLst>
            <a:outerShdw blurRad="76200" dist="25400" dir="5400000" algn="bl" rotWithShape="0">
              <a:srgbClr val="000000">
                <a:alpha val="10000"/>
              </a:srgbClr>
            </a:outerShdw>
          </a:effectLst>
        </p:spPr>
        <p:txBody>
          <a:bodyPr/>
          <a:lstStyle/>
          <a:p>
            <a:endParaRPr lang="ja-JP" altLang="en-US"/>
          </a:p>
        </p:txBody>
      </p:sp>
      <p:sp>
        <p:nvSpPr>
          <p:cNvPr id="18" name="Text 16"/>
          <p:cNvSpPr/>
          <p:nvPr/>
        </p:nvSpPr>
        <p:spPr>
          <a:xfrm>
            <a:off x="4846320" y="2170576"/>
            <a:ext cx="6126480" cy="215798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ja-JP" altLang="en-US" sz="1250">
                <a:solidFill>
                  <a:srgbClr val="1A1A1A"/>
                </a:solidFill>
                <a:latin typeface="Meiryo" pitchFamily="34" charset="0"/>
                <a:ea typeface="Meiryo" pitchFamily="34" charset="-122"/>
                <a:cs typeface="Meiryo" pitchFamily="34" charset="-120"/>
              </a:rPr>
              <a:t>演出家の仕事の魅力</a:t>
            </a:r>
            <a:r>
              <a:rPr lang="en-US" altLang="ja-JP" sz="1250" dirty="0">
                <a:solidFill>
                  <a:srgbClr val="1A1A1A"/>
                </a:solidFill>
                <a:latin typeface="Meiryo" pitchFamily="34" charset="0"/>
                <a:ea typeface="Meiryo" pitchFamily="34" charset="-122"/>
                <a:cs typeface="Meiryo" pitchFamily="34" charset="-120"/>
              </a:rPr>
              <a:t>/</a:t>
            </a:r>
            <a:r>
              <a:rPr lang="ja-JP" altLang="en-US" sz="1250">
                <a:solidFill>
                  <a:srgbClr val="1A1A1A"/>
                </a:solidFill>
                <a:latin typeface="Meiryo" pitchFamily="34" charset="0"/>
                <a:ea typeface="Meiryo" pitchFamily="34" charset="-122"/>
                <a:cs typeface="Meiryo" pitchFamily="34" charset="-120"/>
              </a:rPr>
              <a:t>演出家という職業についての理解</a:t>
            </a:r>
            <a:endParaRPr lang="en-US" altLang="ja-JP" sz="1250" dirty="0">
              <a:solidFill>
                <a:srgbClr val="1A1A1A"/>
              </a:solidFill>
              <a:latin typeface="Meiryo" pitchFamily="34" charset="0"/>
              <a:ea typeface="Meiryo" pitchFamily="34" charset="-122"/>
              <a:cs typeface="Meiryo" pitchFamily="34" charset="-120"/>
            </a:endParaRPr>
          </a:p>
          <a:p>
            <a:pPr marL="177800" indent="-177800">
              <a:lnSpc>
                <a:spcPct val="120000"/>
              </a:lnSpc>
              <a:spcAft>
                <a:spcPts val="900"/>
              </a:spcAft>
              <a:buSzPct val="100000"/>
              <a:buFontTx/>
              <a:buChar char="•"/>
            </a:pPr>
            <a:r>
              <a:rPr lang="ja-JP" altLang="en-US" sz="1250">
                <a:solidFill>
                  <a:srgbClr val="1A1A1A"/>
                </a:solidFill>
                <a:latin typeface="Meiryo" pitchFamily="34" charset="0"/>
                <a:ea typeface="Meiryo" pitchFamily="34" charset="-122"/>
                <a:cs typeface="Meiryo" pitchFamily="34" charset="-120"/>
              </a:rPr>
              <a:t>演出家に必要な演劇教養</a:t>
            </a:r>
            <a:endParaRPr lang="en-US" altLang="ja-JP" sz="1250" dirty="0">
              <a:solidFill>
                <a:srgbClr val="1A1A1A"/>
              </a:solidFill>
              <a:latin typeface="Meiryo" pitchFamily="34" charset="0"/>
              <a:ea typeface="Meiryo" pitchFamily="34" charset="-122"/>
              <a:cs typeface="Meiryo" pitchFamily="34" charset="-120"/>
            </a:endParaRPr>
          </a:p>
          <a:p>
            <a:pPr marL="177800" indent="-177800">
              <a:lnSpc>
                <a:spcPct val="120000"/>
              </a:lnSpc>
              <a:spcAft>
                <a:spcPts val="900"/>
              </a:spcAft>
              <a:buSzPct val="100000"/>
              <a:buFontTx/>
              <a:buChar char="•"/>
            </a:pPr>
            <a:r>
              <a:rPr lang="ja-JP" altLang="en-US" sz="1250">
                <a:solidFill>
                  <a:srgbClr val="1A1A1A"/>
                </a:solidFill>
                <a:latin typeface="Meiryo" pitchFamily="34" charset="0"/>
                <a:ea typeface="Meiryo" pitchFamily="34" charset="-122"/>
                <a:cs typeface="Meiryo" pitchFamily="34" charset="-120"/>
              </a:rPr>
              <a:t>俳優との対峙と演技メソッド</a:t>
            </a:r>
            <a:endParaRPr lang="en-US" altLang="ja-JP" sz="1250" dirty="0">
              <a:solidFill>
                <a:srgbClr val="1A1A1A"/>
              </a:solidFill>
              <a:latin typeface="Meiryo" pitchFamily="34" charset="0"/>
              <a:ea typeface="Meiryo" pitchFamily="34" charset="-122"/>
              <a:cs typeface="Meiryo" pitchFamily="34" charset="-120"/>
            </a:endParaRPr>
          </a:p>
          <a:p>
            <a:pPr marL="177800" indent="-177800">
              <a:lnSpc>
                <a:spcPct val="120000"/>
              </a:lnSpc>
              <a:spcAft>
                <a:spcPts val="900"/>
              </a:spcAft>
              <a:buSzPct val="100000"/>
              <a:buFontTx/>
              <a:buChar char="•"/>
            </a:pPr>
            <a:r>
              <a:rPr lang="ja-JP" altLang="en-US" sz="1250">
                <a:solidFill>
                  <a:srgbClr val="1A1A1A"/>
                </a:solidFill>
                <a:latin typeface="Meiryo" pitchFamily="34" charset="0"/>
                <a:ea typeface="Meiryo" pitchFamily="34" charset="-122"/>
                <a:cs typeface="Meiryo" pitchFamily="34" charset="-120"/>
              </a:rPr>
              <a:t>戯曲読解と表現</a:t>
            </a:r>
            <a:endParaRPr lang="en-US" altLang="ja-JP" sz="1250" dirty="0">
              <a:solidFill>
                <a:srgbClr val="1A1A1A"/>
              </a:solidFill>
              <a:latin typeface="Meiryo" pitchFamily="34" charset="0"/>
              <a:ea typeface="Meiryo" pitchFamily="34" charset="-122"/>
              <a:cs typeface="Meiryo" pitchFamily="34" charset="-120"/>
            </a:endParaRPr>
          </a:p>
          <a:p>
            <a:pPr marL="177800" indent="-177800">
              <a:lnSpc>
                <a:spcPct val="120000"/>
              </a:lnSpc>
              <a:spcAft>
                <a:spcPts val="900"/>
              </a:spcAft>
              <a:buSzPct val="100000"/>
              <a:buFontTx/>
              <a:buChar char="•"/>
            </a:pPr>
            <a:r>
              <a:rPr lang="ja-JP" altLang="en-US" sz="1250">
                <a:solidFill>
                  <a:srgbClr val="1A1A1A"/>
                </a:solidFill>
                <a:latin typeface="Meiryo" pitchFamily="34" charset="0"/>
                <a:ea typeface="Meiryo" pitchFamily="34" charset="-122"/>
                <a:cs typeface="Meiryo" pitchFamily="34" charset="-120"/>
              </a:rPr>
              <a:t>劇場での作品創作</a:t>
            </a:r>
            <a:endParaRPr lang="en-US" altLang="ja-JP" sz="1250" dirty="0">
              <a:solidFill>
                <a:srgbClr val="1A1A1A"/>
              </a:solidFill>
              <a:latin typeface="Meiryo" pitchFamily="34" charset="0"/>
              <a:ea typeface="Meiryo" pitchFamily="34" charset="-122"/>
              <a:cs typeface="Meiryo" pitchFamily="34" charset="-120"/>
            </a:endParaRPr>
          </a:p>
          <a:p>
            <a:pPr marL="177800" indent="-177800">
              <a:lnSpc>
                <a:spcPct val="120000"/>
              </a:lnSpc>
              <a:spcAft>
                <a:spcPts val="900"/>
              </a:spcAft>
              <a:buSzPct val="100000"/>
              <a:buFontTx/>
              <a:buChar char="•"/>
            </a:pPr>
            <a:r>
              <a:rPr lang="ja-JP" altLang="en-US" sz="1250">
                <a:solidFill>
                  <a:srgbClr val="1A1A1A"/>
                </a:solidFill>
                <a:latin typeface="Meiryo" pitchFamily="34" charset="0"/>
                <a:ea typeface="Meiryo" pitchFamily="34" charset="-122"/>
                <a:cs typeface="Meiryo" pitchFamily="34" charset="-120"/>
              </a:rPr>
              <a:t>プロデュース能力</a:t>
            </a:r>
            <a:endParaRPr lang="en-US" sz="1250" dirty="0">
              <a:solidFill>
                <a:srgbClr val="1A1A1A"/>
              </a:solidFill>
              <a:latin typeface="Meiryo" pitchFamily="34" charset="0"/>
              <a:ea typeface="Meiryo" pitchFamily="34" charset="-122"/>
              <a:cs typeface="Meiryo" pitchFamily="34" charset="-120"/>
            </a:endParaRPr>
          </a:p>
          <a:p>
            <a:pPr>
              <a:lnSpc>
                <a:spcPct val="120000"/>
              </a:lnSpc>
              <a:spcAft>
                <a:spcPts val="900"/>
              </a:spcAft>
              <a:buSzPct val="100000"/>
            </a:pPr>
            <a:endParaRPr lang="en-US" sz="1250" dirty="0">
              <a:solidFill>
                <a:srgbClr val="1A1A1A"/>
              </a:solidFill>
              <a:latin typeface="Meiryo" pitchFamily="34" charset="0"/>
              <a:ea typeface="Meiryo" pitchFamily="34" charset="-122"/>
              <a:cs typeface="Meiryo" pitchFamily="34" charset="-120"/>
            </a:endParaRPr>
          </a:p>
        </p:txBody>
      </p:sp>
      <p:sp>
        <p:nvSpPr>
          <p:cNvPr id="20" name="Shape 3">
            <a:extLst>
              <a:ext uri="{FF2B5EF4-FFF2-40B4-BE49-F238E27FC236}">
                <a16:creationId xmlns:a16="http://schemas.microsoft.com/office/drawing/2014/main" id="{E21CA9DE-8048-47CF-565F-9FD0D1CA4842}"/>
              </a:ext>
            </a:extLst>
          </p:cNvPr>
          <p:cNvSpPr/>
          <p:nvPr/>
        </p:nvSpPr>
        <p:spPr>
          <a:xfrm>
            <a:off x="4846320" y="4337405"/>
            <a:ext cx="6294120" cy="1258824"/>
          </a:xfrm>
          <a:prstGeom prst="roundRect">
            <a:avLst>
              <a:gd name="adj" fmla="val 4615"/>
            </a:avLst>
          </a:prstGeom>
          <a:solidFill>
            <a:srgbClr val="FFFFFF"/>
          </a:solidFill>
          <a:ln w="12700">
            <a:solidFill>
              <a:srgbClr val="BDBDBD"/>
            </a:solidFill>
            <a:prstDash val="dash"/>
          </a:ln>
        </p:spPr>
        <p:txBody>
          <a:bodyPr/>
          <a:lstStyle/>
          <a:p>
            <a:endParaRPr lang="ja-JP" altLang="en-US"/>
          </a:p>
        </p:txBody>
      </p:sp>
      <p:sp>
        <p:nvSpPr>
          <p:cNvPr id="21" name="Text 4">
            <a:extLst>
              <a:ext uri="{FF2B5EF4-FFF2-40B4-BE49-F238E27FC236}">
                <a16:creationId xmlns:a16="http://schemas.microsoft.com/office/drawing/2014/main" id="{5D8825B1-209C-BEDD-BCEE-F3944F493BF7}"/>
              </a:ext>
            </a:extLst>
          </p:cNvPr>
          <p:cNvSpPr/>
          <p:nvPr/>
        </p:nvSpPr>
        <p:spPr>
          <a:xfrm>
            <a:off x="5074920" y="4483709"/>
            <a:ext cx="5635236" cy="384048"/>
          </a:xfrm>
          <a:prstGeom prst="rect">
            <a:avLst/>
          </a:prstGeom>
          <a:noFill/>
          <a:ln/>
        </p:spPr>
        <p:txBody>
          <a:bodyPr wrap="square" lIns="0" tIns="0" rIns="0" bIns="0" rtlCol="0" anchor="ctr"/>
          <a:lstStyle/>
          <a:p>
            <a:pPr marL="0" indent="0">
              <a:buNone/>
            </a:pPr>
            <a:r>
              <a:rPr lang="en-US" sz="1400" dirty="0" err="1"/>
              <a:t>試験的実施</a:t>
            </a:r>
            <a:endParaRPr lang="en-US" sz="1400" dirty="0"/>
          </a:p>
        </p:txBody>
      </p:sp>
      <p:sp>
        <p:nvSpPr>
          <p:cNvPr id="22" name="Text 5">
            <a:extLst>
              <a:ext uri="{FF2B5EF4-FFF2-40B4-BE49-F238E27FC236}">
                <a16:creationId xmlns:a16="http://schemas.microsoft.com/office/drawing/2014/main" id="{96B64AB7-E2AB-9229-71F2-6D76B2B2657D}"/>
              </a:ext>
            </a:extLst>
          </p:cNvPr>
          <p:cNvSpPr/>
          <p:nvPr/>
        </p:nvSpPr>
        <p:spPr>
          <a:xfrm>
            <a:off x="5074920" y="4867757"/>
            <a:ext cx="5897880" cy="728472"/>
          </a:xfrm>
          <a:prstGeom prst="rect">
            <a:avLst/>
          </a:prstGeom>
          <a:noFill/>
          <a:ln/>
        </p:spPr>
        <p:txBody>
          <a:bodyPr wrap="square" lIns="0" tIns="0" rIns="0" bIns="0" rtlCol="0" anchor="t"/>
          <a:lstStyle/>
          <a:p>
            <a:r>
              <a:rPr lang="ja-JP" altLang="en-US" sz="1200">
                <a:latin typeface="MS PGothic" panose="020B0600070205080204" pitchFamily="34" charset="-128"/>
                <a:ea typeface="MS PGothic" panose="020B0600070205080204" pitchFamily="34" charset="-128"/>
              </a:rPr>
              <a:t>モデルプログラムを創出するために、以上の内容のプログラムを、</a:t>
            </a:r>
            <a:endParaRPr lang="en-US" altLang="ja-JP" sz="1200" dirty="0">
              <a:latin typeface="MS PGothic" panose="020B0600070205080204" pitchFamily="34" charset="-128"/>
              <a:ea typeface="MS PGothic" panose="020B0600070205080204" pitchFamily="34" charset="-128"/>
            </a:endParaRPr>
          </a:p>
          <a:p>
            <a:r>
              <a:rPr lang="ja-JP" altLang="en-US" sz="1200">
                <a:latin typeface="MS PGothic" panose="020B0600070205080204" pitchFamily="34" charset="-128"/>
                <a:ea typeface="MS PGothic" panose="020B0600070205080204" pitchFamily="34" charset="-128"/>
              </a:rPr>
              <a:t>事前に試験的に実施し、ブラッシュアップを重ね、育成プログラムの精度を高めていく。</a:t>
            </a:r>
            <a:endParaRPr lang="en-US" altLang="ja-JP" sz="1200" dirty="0">
              <a:latin typeface="MS PGothic" panose="020B0600070205080204" pitchFamily="34" charset="-128"/>
              <a:ea typeface="MS PGothic" panose="020B0600070205080204" pitchFamily="34" charset="-128"/>
            </a:endParaRPr>
          </a:p>
        </p:txBody>
      </p:sp>
    </p:spTree>
    <p:extLst>
      <p:ext uri="{BB962C8B-B14F-4D97-AF65-F5344CB8AC3E}">
        <p14:creationId xmlns:p14="http://schemas.microsoft.com/office/powerpoint/2010/main" val="1589034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TotalTime>
  <Words>590</Words>
  <Application>Microsoft Macintosh PowerPoint</Application>
  <PresentationFormat>ワイド画面</PresentationFormat>
  <Paragraphs>98</Paragraphs>
  <Slides>4</Slides>
  <Notes>4</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vt:i4>
      </vt:variant>
    </vt:vector>
  </HeadingPairs>
  <TitlesOfParts>
    <vt:vector size="12" baseType="lpstr">
      <vt:lpstr>MS PGothic</vt:lpstr>
      <vt:lpstr>Meiryo</vt:lpstr>
      <vt:lpstr>Yu Gothic</vt:lpstr>
      <vt:lpstr>Yu Gothic</vt:lpstr>
      <vt:lpstr>游ゴシック Light</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育成検証企画</dc:title>
  <dc:subject>PptxGenJS Presentation</dc:subject>
  <dc:creator>PortPort Inc.</dc:creator>
  <cp:lastModifiedBy>幸宏 川名</cp:lastModifiedBy>
  <cp:revision>4</cp:revision>
  <dcterms:created xsi:type="dcterms:W3CDTF">2026-06-22T04:42:51Z</dcterms:created>
  <dcterms:modified xsi:type="dcterms:W3CDTF">2026-07-03T16:14:11Z</dcterms:modified>
</cp:coreProperties>
</file>